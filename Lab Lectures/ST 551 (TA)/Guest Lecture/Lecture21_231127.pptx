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7"/>
  </p:notesMasterIdLst>
  <p:handoutMasterIdLst>
    <p:handoutMasterId r:id="rId18"/>
  </p:handoutMasterIdLst>
  <p:sldIdLst>
    <p:sldId id="256" r:id="rId2"/>
    <p:sldId id="790" r:id="rId3"/>
    <p:sldId id="791" r:id="rId4"/>
    <p:sldId id="792" r:id="rId5"/>
    <p:sldId id="793" r:id="rId6"/>
    <p:sldId id="794" r:id="rId7"/>
    <p:sldId id="795" r:id="rId8"/>
    <p:sldId id="796" r:id="rId9"/>
    <p:sldId id="797" r:id="rId10"/>
    <p:sldId id="798" r:id="rId11"/>
    <p:sldId id="799" r:id="rId12"/>
    <p:sldId id="800" r:id="rId13"/>
    <p:sldId id="801" r:id="rId14"/>
    <p:sldId id="802" r:id="rId15"/>
    <p:sldId id="803" r:id="rId16"/>
  </p:sldIdLst>
  <p:sldSz cx="9144000" cy="5715000" type="screen16x10"/>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E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80"/>
    <p:restoredTop sz="93109"/>
  </p:normalViewPr>
  <p:slideViewPr>
    <p:cSldViewPr snapToGrid="0" snapToObjects="1" showGuides="1">
      <p:cViewPr varScale="1">
        <p:scale>
          <a:sx n="108" d="100"/>
          <a:sy n="108" d="100"/>
        </p:scale>
        <p:origin x="1256" y="200"/>
      </p:cViewPr>
      <p:guideLst>
        <p:guide orient="horz" pos="180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53666B49-13E2-094F-BFF7-2EC79D262ABE}" type="datetimeFigureOut">
              <a:rPr lang="en-US" altLang="en-US"/>
              <a:pPr/>
              <a:t>11/20/23</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563FCE3-B01F-374E-944E-356819EEA3A3}" type="slidenum">
              <a:rPr lang="en-US" altLang="en-US"/>
              <a:pPr/>
              <a:t>‹#›</a:t>
            </a:fld>
            <a:endParaRPr lang="en-US" altLang="en-US"/>
          </a:p>
        </p:txBody>
      </p:sp>
    </p:spTree>
    <p:extLst>
      <p:ext uri="{BB962C8B-B14F-4D97-AF65-F5344CB8AC3E}">
        <p14:creationId xmlns:p14="http://schemas.microsoft.com/office/powerpoint/2010/main" val="7202255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9D047F74-DF8A-ED44-AD8A-B19D1D0F4661}" type="datetimeFigureOut">
              <a:rPr lang="en-US" altLang="en-US"/>
              <a:pPr/>
              <a:t>11/20/23</a:t>
            </a:fld>
            <a:endParaRPr lang="en-US" altLang="en-US"/>
          </a:p>
        </p:txBody>
      </p:sp>
      <p:sp>
        <p:nvSpPr>
          <p:cNvPr id="4" name="Slide Image Placehold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EFC1A73-03DD-AE4D-9F9F-784F5F3B6593}" type="slidenum">
              <a:rPr lang="en-US" altLang="en-US"/>
              <a:pPr/>
              <a:t>‹#›</a:t>
            </a:fld>
            <a:endParaRPr lang="en-US" altLang="en-US"/>
          </a:p>
        </p:txBody>
      </p:sp>
    </p:spTree>
    <p:extLst>
      <p:ext uri="{BB962C8B-B14F-4D97-AF65-F5344CB8AC3E}">
        <p14:creationId xmlns:p14="http://schemas.microsoft.com/office/powerpoint/2010/main" val="89611844"/>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FC1A73-03DD-AE4D-9F9F-784F5F3B6593}" type="slidenum">
              <a:rPr lang="en-US" altLang="en-US" smtClean="0"/>
              <a:pPr/>
              <a:t>1</a:t>
            </a:fld>
            <a:endParaRPr lang="en-US" altLang="en-US"/>
          </a:p>
        </p:txBody>
      </p:sp>
    </p:spTree>
    <p:extLst>
      <p:ext uri="{BB962C8B-B14F-4D97-AF65-F5344CB8AC3E}">
        <p14:creationId xmlns:p14="http://schemas.microsoft.com/office/powerpoint/2010/main" val="443134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a:defRPr/>
            </a:lvl1pPr>
          </a:lstStyle>
          <a:p>
            <a:fld id="{5B438CDE-D6CF-0F4C-9D25-3FA842D4B9CA}" type="slidenum">
              <a:rPr lang="en-US" altLang="en-US"/>
              <a:pPr/>
              <a:t>‹#›</a:t>
            </a:fld>
            <a:endParaRPr lang="en-US" altLang="en-US"/>
          </a:p>
        </p:txBody>
      </p:sp>
    </p:spTree>
    <p:extLst>
      <p:ext uri="{BB962C8B-B14F-4D97-AF65-F5344CB8AC3E}">
        <p14:creationId xmlns:p14="http://schemas.microsoft.com/office/powerpoint/2010/main" val="225717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a:defRPr/>
            </a:lvl1pPr>
          </a:lstStyle>
          <a:p>
            <a:fld id="{B522ACB8-DB67-7244-B790-A204734E98A7}" type="slidenum">
              <a:rPr lang="en-US" altLang="en-US"/>
              <a:pPr/>
              <a:t>‹#›</a:t>
            </a:fld>
            <a:endParaRPr lang="en-US" altLang="en-US"/>
          </a:p>
        </p:txBody>
      </p:sp>
    </p:spTree>
    <p:extLst>
      <p:ext uri="{BB962C8B-B14F-4D97-AF65-F5344CB8AC3E}">
        <p14:creationId xmlns:p14="http://schemas.microsoft.com/office/powerpoint/2010/main" val="1180238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a:defRPr/>
            </a:lvl1pPr>
          </a:lstStyle>
          <a:p>
            <a:fld id="{1F376521-6EC1-7341-8E21-7B593FA429AB}" type="slidenum">
              <a:rPr lang="en-US" altLang="en-US"/>
              <a:pPr/>
              <a:t>‹#›</a:t>
            </a:fld>
            <a:endParaRPr lang="en-US" altLang="en-US"/>
          </a:p>
        </p:txBody>
      </p:sp>
    </p:spTree>
    <p:extLst>
      <p:ext uri="{BB962C8B-B14F-4D97-AF65-F5344CB8AC3E}">
        <p14:creationId xmlns:p14="http://schemas.microsoft.com/office/powerpoint/2010/main" val="210229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7" name="Slide Number Placeholder 5"/>
          <p:cNvSpPr>
            <a:spLocks noGrp="1"/>
          </p:cNvSpPr>
          <p:nvPr>
            <p:ph type="sldNum" sz="quarter" idx="12"/>
          </p:nvPr>
        </p:nvSpPr>
        <p:spPr/>
        <p:txBody>
          <a:bodyPr/>
          <a:lstStyle>
            <a:lvl1pPr>
              <a:defRPr/>
            </a:lvl1pPr>
          </a:lstStyle>
          <a:p>
            <a:fld id="{FA047149-C94B-7C40-B722-9D1DE573D09E}" type="slidenum">
              <a:rPr lang="en-US" altLang="en-US"/>
              <a:pPr/>
              <a:t>‹#›</a:t>
            </a:fld>
            <a:endParaRPr lang="en-US" altLang="en-US"/>
          </a:p>
        </p:txBody>
      </p:sp>
    </p:spTree>
    <p:extLst>
      <p:ext uri="{BB962C8B-B14F-4D97-AF65-F5344CB8AC3E}">
        <p14:creationId xmlns:p14="http://schemas.microsoft.com/office/powerpoint/2010/main" val="733789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8"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9" name="Slide Number Placeholder 5"/>
          <p:cNvSpPr>
            <a:spLocks noGrp="1"/>
          </p:cNvSpPr>
          <p:nvPr>
            <p:ph type="sldNum" sz="quarter" idx="12"/>
          </p:nvPr>
        </p:nvSpPr>
        <p:spPr/>
        <p:txBody>
          <a:bodyPr/>
          <a:lstStyle>
            <a:lvl1pPr>
              <a:defRPr/>
            </a:lvl1pPr>
          </a:lstStyle>
          <a:p>
            <a:fld id="{5EA94B3B-8959-D843-B45E-82510625E24A}" type="slidenum">
              <a:rPr lang="en-US" altLang="en-US"/>
              <a:pPr/>
              <a:t>‹#›</a:t>
            </a:fld>
            <a:endParaRPr lang="en-US" altLang="en-US"/>
          </a:p>
        </p:txBody>
      </p:sp>
    </p:spTree>
    <p:extLst>
      <p:ext uri="{BB962C8B-B14F-4D97-AF65-F5344CB8AC3E}">
        <p14:creationId xmlns:p14="http://schemas.microsoft.com/office/powerpoint/2010/main" val="194304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4"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5" name="Slide Number Placeholder 5"/>
          <p:cNvSpPr>
            <a:spLocks noGrp="1"/>
          </p:cNvSpPr>
          <p:nvPr>
            <p:ph type="sldNum" sz="quarter" idx="12"/>
          </p:nvPr>
        </p:nvSpPr>
        <p:spPr/>
        <p:txBody>
          <a:bodyPr/>
          <a:lstStyle>
            <a:lvl1pPr>
              <a:defRPr/>
            </a:lvl1pPr>
          </a:lstStyle>
          <a:p>
            <a:fld id="{6D90EF15-E634-6844-A14C-3EEAC5E44707}" type="slidenum">
              <a:rPr lang="en-US" altLang="en-US"/>
              <a:pPr/>
              <a:t>‹#›</a:t>
            </a:fld>
            <a:endParaRPr lang="en-US" altLang="en-US"/>
          </a:p>
        </p:txBody>
      </p:sp>
    </p:spTree>
    <p:extLst>
      <p:ext uri="{BB962C8B-B14F-4D97-AF65-F5344CB8AC3E}">
        <p14:creationId xmlns:p14="http://schemas.microsoft.com/office/powerpoint/2010/main" val="2072809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3"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4" name="Slide Number Placeholder 5"/>
          <p:cNvSpPr>
            <a:spLocks noGrp="1"/>
          </p:cNvSpPr>
          <p:nvPr>
            <p:ph type="sldNum" sz="quarter" idx="12"/>
          </p:nvPr>
        </p:nvSpPr>
        <p:spPr/>
        <p:txBody>
          <a:bodyPr/>
          <a:lstStyle>
            <a:lvl1pPr>
              <a:defRPr/>
            </a:lvl1pPr>
          </a:lstStyle>
          <a:p>
            <a:fld id="{A806C26F-74B0-D540-A80F-D0384ED66208}" type="slidenum">
              <a:rPr lang="en-US" altLang="en-US"/>
              <a:pPr/>
              <a:t>‹#›</a:t>
            </a:fld>
            <a:endParaRPr lang="en-US" altLang="en-US"/>
          </a:p>
        </p:txBody>
      </p:sp>
    </p:spTree>
    <p:extLst>
      <p:ext uri="{BB962C8B-B14F-4D97-AF65-F5344CB8AC3E}">
        <p14:creationId xmlns:p14="http://schemas.microsoft.com/office/powerpoint/2010/main" val="123552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7" name="Slide Number Placeholder 5"/>
          <p:cNvSpPr>
            <a:spLocks noGrp="1"/>
          </p:cNvSpPr>
          <p:nvPr>
            <p:ph type="sldNum" sz="quarter" idx="12"/>
          </p:nvPr>
        </p:nvSpPr>
        <p:spPr/>
        <p:txBody>
          <a:bodyPr/>
          <a:lstStyle>
            <a:lvl1pPr>
              <a:defRPr/>
            </a:lvl1pPr>
          </a:lstStyle>
          <a:p>
            <a:fld id="{9CE758AF-DE1C-1846-A713-7A34109C5764}" type="slidenum">
              <a:rPr lang="en-US" altLang="en-US"/>
              <a:pPr/>
              <a:t>‹#›</a:t>
            </a:fld>
            <a:endParaRPr lang="en-US" altLang="en-US"/>
          </a:p>
        </p:txBody>
      </p:sp>
    </p:spTree>
    <p:extLst>
      <p:ext uri="{BB962C8B-B14F-4D97-AF65-F5344CB8AC3E}">
        <p14:creationId xmlns:p14="http://schemas.microsoft.com/office/powerpoint/2010/main" val="1502368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rtlCol="0">
            <a:normAutofit/>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6"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7" name="Slide Number Placeholder 5"/>
          <p:cNvSpPr>
            <a:spLocks noGrp="1"/>
          </p:cNvSpPr>
          <p:nvPr>
            <p:ph type="sldNum" sz="quarter" idx="12"/>
          </p:nvPr>
        </p:nvSpPr>
        <p:spPr/>
        <p:txBody>
          <a:bodyPr/>
          <a:lstStyle>
            <a:lvl1pPr>
              <a:defRPr/>
            </a:lvl1pPr>
          </a:lstStyle>
          <a:p>
            <a:fld id="{D4A3CD88-EA8B-4440-BA7D-74ECC994D900}" type="slidenum">
              <a:rPr lang="en-US" altLang="en-US"/>
              <a:pPr/>
              <a:t>‹#›</a:t>
            </a:fld>
            <a:endParaRPr lang="en-US" altLang="en-US"/>
          </a:p>
        </p:txBody>
      </p:sp>
    </p:spTree>
    <p:extLst>
      <p:ext uri="{BB962C8B-B14F-4D97-AF65-F5344CB8AC3E}">
        <p14:creationId xmlns:p14="http://schemas.microsoft.com/office/powerpoint/2010/main" val="19739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a:defRPr/>
            </a:lvl1pPr>
          </a:lstStyle>
          <a:p>
            <a:fld id="{1069DDAF-7BFC-354E-B563-6472FA4A103A}" type="slidenum">
              <a:rPr lang="en-US" altLang="en-US"/>
              <a:pPr/>
              <a:t>‹#›</a:t>
            </a:fld>
            <a:endParaRPr lang="en-US" altLang="en-US"/>
          </a:p>
        </p:txBody>
      </p:sp>
    </p:spTree>
    <p:extLst>
      <p:ext uri="{BB962C8B-B14F-4D97-AF65-F5344CB8AC3E}">
        <p14:creationId xmlns:p14="http://schemas.microsoft.com/office/powerpoint/2010/main" val="1946964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lvl1pPr>
              <a:defRPr/>
            </a:lvl1p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a:defRPr/>
            </a:lvl1pPr>
          </a:lstStyle>
          <a:p>
            <a:fld id="{87949D5F-BCB1-AE4B-B139-24E5EA1C73C3}" type="slidenum">
              <a:rPr lang="en-US" altLang="en-US"/>
              <a:pPr/>
              <a:t>‹#›</a:t>
            </a:fld>
            <a:endParaRPr lang="en-US" altLang="en-US"/>
          </a:p>
        </p:txBody>
      </p:sp>
    </p:spTree>
    <p:extLst>
      <p:ext uri="{BB962C8B-B14F-4D97-AF65-F5344CB8AC3E}">
        <p14:creationId xmlns:p14="http://schemas.microsoft.com/office/powerpoint/2010/main" val="1421282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28865"/>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333500"/>
            <a:ext cx="8229600" cy="377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0" y="0"/>
            <a:ext cx="2133600" cy="304271"/>
          </a:xfrm>
          <a:prstGeom prst="rect">
            <a:avLst/>
          </a:prstGeom>
        </p:spPr>
        <p:txBody>
          <a:bodyPr vert="horz" lIns="91440" tIns="45720" rIns="91440" bIns="45720" rtlCol="0" anchor="ctr"/>
          <a:lstStyle>
            <a:lvl1pPr algn="l" fontAlgn="auto">
              <a:spcBef>
                <a:spcPts val="0"/>
              </a:spcBef>
              <a:spcAft>
                <a:spcPts val="0"/>
              </a:spcAft>
              <a:defRPr sz="1000" smtClean="0">
                <a:solidFill>
                  <a:schemeClr val="tx1">
                    <a:tint val="75000"/>
                  </a:schemeClr>
                </a:solidFill>
                <a:latin typeface="+mn-lt"/>
                <a:ea typeface="+mn-ea"/>
                <a:cs typeface="+mn-cs"/>
              </a:defRPr>
            </a:lvl1pPr>
          </a:lstStyle>
          <a:p>
            <a:pPr>
              <a:defRPr/>
            </a:pPr>
            <a:r>
              <a:rPr lang="en-US"/>
              <a:t>November 27, 2023</a:t>
            </a:r>
            <a:endParaRPr lang="en-US" dirty="0"/>
          </a:p>
        </p:txBody>
      </p:sp>
      <p:sp>
        <p:nvSpPr>
          <p:cNvPr id="5" name="Footer Placeholder 4"/>
          <p:cNvSpPr>
            <a:spLocks noGrp="1"/>
          </p:cNvSpPr>
          <p:nvPr>
            <p:ph type="ftr" sz="quarter" idx="3"/>
          </p:nvPr>
        </p:nvSpPr>
        <p:spPr>
          <a:xfrm>
            <a:off x="3111500" y="0"/>
            <a:ext cx="2895600" cy="304271"/>
          </a:xfrm>
          <a:prstGeom prst="rect">
            <a:avLst/>
          </a:prstGeom>
        </p:spPr>
        <p:txBody>
          <a:bodyPr vert="horz" lIns="91440" tIns="45720" rIns="91440" bIns="45720" rtlCol="0" anchor="ctr"/>
          <a:lstStyle>
            <a:lvl1pPr algn="ctr" fontAlgn="auto">
              <a:spcBef>
                <a:spcPts val="0"/>
              </a:spcBef>
              <a:spcAft>
                <a:spcPts val="0"/>
              </a:spcAft>
              <a:defRPr sz="1000" smtClean="0">
                <a:solidFill>
                  <a:schemeClr val="tx1">
                    <a:tint val="75000"/>
                  </a:schemeClr>
                </a:solidFill>
                <a:latin typeface="+mn-lt"/>
                <a:ea typeface="+mn-ea"/>
                <a:cs typeface="+mn-cs"/>
              </a:defRPr>
            </a:lvl1pPr>
          </a:lstStyle>
          <a:p>
            <a:pPr>
              <a:defRPr/>
            </a:pPr>
            <a:r>
              <a:rPr lang="fr-FR"/>
              <a:t>ST 551: Lecture 21</a:t>
            </a:r>
            <a:endParaRPr lang="en-US" dirty="0"/>
          </a:p>
        </p:txBody>
      </p:sp>
      <p:sp>
        <p:nvSpPr>
          <p:cNvPr id="6" name="Slide Number Placeholder 5"/>
          <p:cNvSpPr>
            <a:spLocks noGrp="1"/>
          </p:cNvSpPr>
          <p:nvPr>
            <p:ph type="sldNum" sz="quarter" idx="4"/>
          </p:nvPr>
        </p:nvSpPr>
        <p:spPr>
          <a:xfrm>
            <a:off x="7010400" y="0"/>
            <a:ext cx="2133600" cy="304271"/>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898989"/>
                </a:solidFill>
              </a:defRPr>
            </a:lvl1pPr>
          </a:lstStyle>
          <a:p>
            <a:fld id="{42539E2D-4142-0B46-A360-639C43E18D5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380985" rtl="0" eaLnBrk="0" fontAlgn="base" hangingPunct="0">
        <a:spcBef>
          <a:spcPct val="0"/>
        </a:spcBef>
        <a:spcAft>
          <a:spcPct val="0"/>
        </a:spcAft>
        <a:defRPr sz="3667" kern="1200">
          <a:solidFill>
            <a:schemeClr val="tx1"/>
          </a:solidFill>
          <a:latin typeface="+mj-lt"/>
          <a:ea typeface="ＭＳ Ｐゴシック" charset="0"/>
          <a:cs typeface="ＭＳ Ｐゴシック" charset="0"/>
        </a:defRPr>
      </a:lvl1pPr>
      <a:lvl2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2pPr>
      <a:lvl3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3pPr>
      <a:lvl4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4pPr>
      <a:lvl5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5pPr>
      <a:lvl6pPr marL="380985"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6pPr>
      <a:lvl7pPr marL="761970"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7pPr>
      <a:lvl8pPr marL="1142954"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8pPr>
      <a:lvl9pPr marL="1523939"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9pPr>
    </p:titleStyle>
    <p:bodyStyle>
      <a:lvl1pPr marL="285739" indent="-285739" algn="l" defTabSz="380985" rtl="0" eaLnBrk="0" fontAlgn="base" hangingPunct="0">
        <a:spcBef>
          <a:spcPct val="20000"/>
        </a:spcBef>
        <a:spcAft>
          <a:spcPct val="0"/>
        </a:spcAft>
        <a:buFont typeface="Arial" charset="0"/>
        <a:buChar char="•"/>
        <a:defRPr sz="2667" kern="1200">
          <a:solidFill>
            <a:schemeClr val="tx1"/>
          </a:solidFill>
          <a:latin typeface="+mn-lt"/>
          <a:ea typeface="ＭＳ Ｐゴシック" charset="0"/>
          <a:cs typeface="ＭＳ Ｐゴシック" charset="0"/>
        </a:defRPr>
      </a:lvl1pPr>
      <a:lvl2pPr marL="619100" indent="-238115" algn="l" defTabSz="380985" rtl="0" eaLnBrk="0" fontAlgn="base" hangingPunct="0">
        <a:spcBef>
          <a:spcPct val="20000"/>
        </a:spcBef>
        <a:spcAft>
          <a:spcPct val="0"/>
        </a:spcAft>
        <a:buFont typeface="Arial" charset="0"/>
        <a:buChar char="–"/>
        <a:defRPr sz="2333" kern="1200">
          <a:solidFill>
            <a:schemeClr val="tx1"/>
          </a:solidFill>
          <a:latin typeface="+mn-lt"/>
          <a:ea typeface="ＭＳ Ｐゴシック" charset="0"/>
          <a:cs typeface="+mn-cs"/>
        </a:defRPr>
      </a:lvl2pPr>
      <a:lvl3pPr marL="952462" indent="-190492" algn="l" defTabSz="380985"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3pPr>
      <a:lvl4pPr marL="1333447" indent="-190492" algn="l" defTabSz="380985" rtl="0" eaLnBrk="0" fontAlgn="base" hangingPunct="0">
        <a:spcBef>
          <a:spcPct val="20000"/>
        </a:spcBef>
        <a:spcAft>
          <a:spcPct val="0"/>
        </a:spcAft>
        <a:buFont typeface="Arial" charset="0"/>
        <a:buChar char="–"/>
        <a:defRPr sz="1667" kern="1200">
          <a:solidFill>
            <a:schemeClr val="tx1"/>
          </a:solidFill>
          <a:latin typeface="+mn-lt"/>
          <a:ea typeface="ＭＳ Ｐゴシック" charset="0"/>
          <a:cs typeface="+mn-cs"/>
        </a:defRPr>
      </a:lvl4pPr>
      <a:lvl5pPr marL="1714431" indent="-190492" algn="l" defTabSz="380985" rtl="0" eaLnBrk="0" fontAlgn="base" hangingPunct="0">
        <a:spcBef>
          <a:spcPct val="20000"/>
        </a:spcBef>
        <a:spcAft>
          <a:spcPct val="0"/>
        </a:spcAft>
        <a:buFont typeface="Arial" charset="0"/>
        <a:buChar char="»"/>
        <a:defRPr sz="1667" kern="1200">
          <a:solidFill>
            <a:schemeClr val="tx1"/>
          </a:solidFill>
          <a:latin typeface="+mn-lt"/>
          <a:ea typeface="ＭＳ Ｐゴシック" charset="0"/>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p:txBody>
          <a:bodyPr/>
          <a:lstStyle/>
          <a:p>
            <a:pPr eaLnBrk="1" hangingPunct="1"/>
            <a:r>
              <a:rPr lang="en-US" altLang="en-US" dirty="0">
                <a:ea typeface="ＭＳ Ｐゴシック" charset="-128"/>
              </a:rPr>
              <a:t>ST 551: Statistical Methods I</a:t>
            </a:r>
            <a:br>
              <a:rPr lang="en-US" altLang="en-US" dirty="0">
                <a:ea typeface="ＭＳ Ｐゴシック" charset="-128"/>
              </a:rPr>
            </a:br>
            <a:r>
              <a:rPr lang="en-US" altLang="en-US" dirty="0">
                <a:ea typeface="ＭＳ Ｐゴシック" charset="-128"/>
              </a:rPr>
              <a:t>Fall 2023</a:t>
            </a:r>
          </a:p>
        </p:txBody>
      </p:sp>
      <p:sp>
        <p:nvSpPr>
          <p:cNvPr id="3" name="Subtitle 2"/>
          <p:cNvSpPr>
            <a:spLocks noGrp="1"/>
          </p:cNvSpPr>
          <p:nvPr>
            <p:ph type="subTitle" idx="1"/>
          </p:nvPr>
        </p:nvSpPr>
        <p:spPr/>
        <p:txBody>
          <a:bodyPr rtlCol="0">
            <a:normAutofit/>
          </a:bodyPr>
          <a:lstStyle/>
          <a:p>
            <a:pPr eaLnBrk="1" fontAlgn="auto" hangingPunct="1">
              <a:spcAft>
                <a:spcPts val="0"/>
              </a:spcAft>
              <a:defRPr/>
            </a:pPr>
            <a:r>
              <a:rPr lang="en-US" dirty="0">
                <a:ea typeface="+mn-ea"/>
                <a:cs typeface="+mn-cs"/>
              </a:rPr>
              <a:t>Lecture 21: November 27,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r>
              <a:rPr lang="en-US" altLang="en-US">
                <a:ea typeface="ＭＳ Ｐゴシック" charset="-128"/>
              </a:rPr>
              <a:t>Transformations</a:t>
            </a:r>
          </a:p>
        </p:txBody>
      </p:sp>
      <p:sp>
        <p:nvSpPr>
          <p:cNvPr id="35842" name="Content Placeholder 2"/>
          <p:cNvSpPr>
            <a:spLocks noGrp="1"/>
          </p:cNvSpPr>
          <p:nvPr>
            <p:ph idx="1"/>
          </p:nvPr>
        </p:nvSpPr>
        <p:spPr/>
        <p:txBody>
          <a:bodyPr/>
          <a:lstStyle/>
          <a:p>
            <a:r>
              <a:rPr lang="en-US" altLang="en-US" sz="2333" dirty="0">
                <a:ea typeface="ＭＳ Ｐゴシック" charset="-128"/>
              </a:rPr>
              <a:t>Many of the methods we have considered (and that you will consider in upcoming courses) are exact only when the underlying population distribution is normal</a:t>
            </a:r>
          </a:p>
          <a:p>
            <a:pPr lvl="1"/>
            <a:r>
              <a:rPr lang="en-US" altLang="en-US" sz="2000" i="1" dirty="0">
                <a:ea typeface="ＭＳ Ｐゴシック" charset="-128"/>
              </a:rPr>
              <a:t>t</a:t>
            </a:r>
            <a:r>
              <a:rPr lang="en-US" altLang="en-US" sz="2000" dirty="0">
                <a:ea typeface="ＭＳ Ｐゴシック" charset="-128"/>
              </a:rPr>
              <a:t>-test, ANOVA, Linear Regression</a:t>
            </a:r>
            <a:endParaRPr lang="en-US" altLang="en-US" sz="2000" i="1" dirty="0">
              <a:ea typeface="ＭＳ Ｐゴシック" charset="-128"/>
            </a:endParaRPr>
          </a:p>
          <a:p>
            <a:pPr lvl="1"/>
            <a:r>
              <a:rPr lang="en-US" altLang="en-US" sz="2000" dirty="0">
                <a:ea typeface="ＭＳ Ｐゴシック" charset="-128"/>
              </a:rPr>
              <a:t>(</a:t>
            </a:r>
            <a:r>
              <a:rPr lang="en-US" altLang="en-US" sz="2000" b="1" i="1" dirty="0">
                <a:ea typeface="ＭＳ Ｐゴシック" charset="-128"/>
              </a:rPr>
              <a:t>Otherwise these methods are asymptotically exact</a:t>
            </a:r>
            <a:r>
              <a:rPr lang="en-US" altLang="en-US" sz="2000" dirty="0">
                <a:ea typeface="ＭＳ Ｐゴシック" charset="-128"/>
              </a:rPr>
              <a:t>, since all of these methods perform inference based on sample means/sums)</a:t>
            </a:r>
          </a:p>
          <a:p>
            <a:pPr lvl="1"/>
            <a:r>
              <a:rPr lang="en-US" altLang="en-US" sz="2000" dirty="0">
                <a:ea typeface="ＭＳ Ｐゴシック" charset="-128"/>
              </a:rPr>
              <a:t>For highly skewed (asymmetric) population distributions, large sample sizes may be required to achieve reasonable calibration</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C0EDFA17-1658-644F-A0DA-759EC5B796E9}" type="slidenum">
              <a:rPr lang="en-US" altLang="en-US" sz="1000">
                <a:solidFill>
                  <a:srgbClr val="898989"/>
                </a:solidFill>
              </a:rPr>
              <a:pPr eaLnBrk="1" hangingPunct="1"/>
              <a:t>2</a:t>
            </a:fld>
            <a:endParaRPr lang="en-US" altLang="en-US" sz="1000">
              <a:solidFill>
                <a:srgbClr val="898989"/>
              </a:solidFill>
            </a:endParaRPr>
          </a:p>
        </p:txBody>
      </p:sp>
    </p:spTree>
    <p:extLst>
      <p:ext uri="{BB962C8B-B14F-4D97-AF65-F5344CB8AC3E}">
        <p14:creationId xmlns:p14="http://schemas.microsoft.com/office/powerpoint/2010/main" val="641115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Content Placeholder 2"/>
          <p:cNvSpPr>
            <a:spLocks noGrp="1"/>
          </p:cNvSpPr>
          <p:nvPr>
            <p:ph idx="1"/>
          </p:nvPr>
        </p:nvSpPr>
        <p:spPr/>
        <p:txBody>
          <a:bodyPr/>
          <a:lstStyle/>
          <a:p>
            <a:r>
              <a:rPr lang="en-US" altLang="en-US" sz="2333" dirty="0">
                <a:ea typeface="ＭＳ Ｐゴシック" charset="-128"/>
              </a:rPr>
              <a:t>Some sources recommend </a:t>
            </a:r>
            <a:r>
              <a:rPr lang="en-US" altLang="en-US" sz="2333" i="1" dirty="0">
                <a:ea typeface="ＭＳ Ｐゴシック" charset="-128"/>
              </a:rPr>
              <a:t>transforming</a:t>
            </a:r>
            <a:r>
              <a:rPr lang="en-US" altLang="en-US" sz="2333" dirty="0">
                <a:ea typeface="ＭＳ Ｐゴシック" charset="-128"/>
              </a:rPr>
              <a:t> data to improve the approximation of normality (reduce asymmetry) and make the Normal-based methods perform more exactly</a:t>
            </a:r>
          </a:p>
          <a:p>
            <a:r>
              <a:rPr lang="en-US" altLang="en-US" sz="2333" dirty="0">
                <a:ea typeface="ＭＳ Ｐゴシック" charset="-128"/>
              </a:rPr>
              <a:t>Commonly used transformations:</a:t>
            </a:r>
          </a:p>
          <a:p>
            <a:endParaRPr lang="en-US" altLang="en-US" sz="2333" dirty="0">
              <a:ea typeface="ＭＳ Ｐゴシック" charset="-128"/>
            </a:endParaRPr>
          </a:p>
          <a:p>
            <a:pPr marL="1435100" lvl="1" indent="-441325"/>
            <a:r>
              <a:rPr lang="en-US" altLang="en-US" i="1" dirty="0">
                <a:ea typeface="ＭＳ Ｐゴシック" charset="-128"/>
              </a:rPr>
              <a:t> </a:t>
            </a:r>
          </a:p>
          <a:p>
            <a:pPr marL="1435100" lvl="1" indent="-441325"/>
            <a:endParaRPr lang="en-US" altLang="en-US" sz="833" i="1" dirty="0">
              <a:ea typeface="ＭＳ Ｐゴシック" charset="-128"/>
            </a:endParaRPr>
          </a:p>
          <a:p>
            <a:pPr marL="1435100" lvl="1" indent="-441325"/>
            <a:r>
              <a:rPr lang="en-US" altLang="en-US" i="1" dirty="0">
                <a:ea typeface="ＭＳ Ｐゴシック" charset="-128"/>
              </a:rPr>
              <a:t> </a:t>
            </a:r>
          </a:p>
          <a:p>
            <a:pPr marL="1435100" lvl="1" indent="-441325"/>
            <a:endParaRPr lang="en-US" altLang="en-US" sz="833" i="1" dirty="0">
              <a:ea typeface="ＭＳ Ｐゴシック" charset="-128"/>
            </a:endParaRPr>
          </a:p>
          <a:p>
            <a:pPr marL="1435100" lvl="1" indent="-441325"/>
            <a:r>
              <a:rPr lang="en-US" altLang="en-US" i="1" dirty="0">
                <a:ea typeface="ＭＳ Ｐゴシック" charset="-128"/>
              </a:rPr>
              <a:t> </a:t>
            </a:r>
          </a:p>
          <a:p>
            <a:endParaRPr lang="en-US" altLang="en-US" dirty="0">
              <a:ea typeface="ＭＳ Ｐゴシック" charset="-128"/>
            </a:endParaRPr>
          </a:p>
        </p:txBody>
      </p:sp>
      <p:sp>
        <p:nvSpPr>
          <p:cNvPr id="11" name="Rounded Rectangle 10"/>
          <p:cNvSpPr/>
          <p:nvPr/>
        </p:nvSpPr>
        <p:spPr>
          <a:xfrm>
            <a:off x="1832241" y="3298032"/>
            <a:ext cx="1743604" cy="1013354"/>
          </a:xfrm>
          <a:prstGeom prst="roundRect">
            <a:avLst/>
          </a:prstGeom>
          <a:solidFill>
            <a:srgbClr val="FFFF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2771" name="Title 1"/>
          <p:cNvSpPr>
            <a:spLocks noGrp="1"/>
          </p:cNvSpPr>
          <p:nvPr>
            <p:ph type="title"/>
          </p:nvPr>
        </p:nvSpPr>
        <p:spPr/>
        <p:txBody>
          <a:bodyPr/>
          <a:lstStyle/>
          <a:p>
            <a:r>
              <a:rPr lang="en-US" altLang="en-US">
                <a:ea typeface="ＭＳ Ｐゴシック" charset="-128"/>
              </a:rPr>
              <a:t>Transformations</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7143D4C2-B40F-914B-9466-EB578A2653B7}" type="slidenum">
              <a:rPr lang="en-US" altLang="en-US" sz="1000">
                <a:solidFill>
                  <a:srgbClr val="898989"/>
                </a:solidFill>
              </a:rPr>
              <a:pPr eaLnBrk="1" hangingPunct="1"/>
              <a:t>3</a:t>
            </a:fld>
            <a:endParaRPr lang="en-US" altLang="en-US" sz="1000">
              <a:solidFill>
                <a:srgbClr val="898989"/>
              </a:solidFill>
            </a:endParaRPr>
          </a:p>
        </p:txBody>
      </p:sp>
      <p:graphicFrame>
        <p:nvGraphicFramePr>
          <p:cNvPr id="32775" name="Object 6"/>
          <p:cNvGraphicFramePr>
            <a:graphicFrameLocks noChangeAspect="1"/>
          </p:cNvGraphicFramePr>
          <p:nvPr/>
        </p:nvGraphicFramePr>
        <p:xfrm>
          <a:off x="1881188" y="3298032"/>
          <a:ext cx="1594115" cy="425979"/>
        </p:xfrm>
        <a:graphic>
          <a:graphicData uri="http://schemas.openxmlformats.org/presentationml/2006/ole">
            <mc:AlternateContent xmlns:mc="http://schemas.openxmlformats.org/markup-compatibility/2006">
              <mc:Choice xmlns:v="urn:schemas-microsoft-com:vml" Requires="v">
                <p:oleObj name="Equation" r:id="rId2" imgW="762000" imgH="203200" progId="Equation.3">
                  <p:embed/>
                </p:oleObj>
              </mc:Choice>
              <mc:Fallback>
                <p:oleObj name="Equation" r:id="rId2" imgW="762000" imgH="203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188" y="3298032"/>
                        <a:ext cx="1594115" cy="42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6" name="Object 7"/>
          <p:cNvGraphicFramePr>
            <a:graphicFrameLocks noChangeAspect="1"/>
          </p:cNvGraphicFramePr>
          <p:nvPr/>
        </p:nvGraphicFramePr>
        <p:xfrm>
          <a:off x="1881188" y="3725334"/>
          <a:ext cx="1301750" cy="586053"/>
        </p:xfrm>
        <a:graphic>
          <a:graphicData uri="http://schemas.openxmlformats.org/presentationml/2006/ole">
            <mc:AlternateContent xmlns:mc="http://schemas.openxmlformats.org/markup-compatibility/2006">
              <mc:Choice xmlns:v="urn:schemas-microsoft-com:vml" Requires="v">
                <p:oleObj name="Equation" r:id="rId4" imgW="622300" imgH="279400" progId="Equation.3">
                  <p:embed/>
                </p:oleObj>
              </mc:Choice>
              <mc:Fallback>
                <p:oleObj name="Equation" r:id="rId4" imgW="622300" imgH="279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1188" y="3725334"/>
                        <a:ext cx="1301750" cy="58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7" name="Object 8"/>
          <p:cNvGraphicFramePr>
            <a:graphicFrameLocks noChangeAspect="1"/>
          </p:cNvGraphicFramePr>
          <p:nvPr/>
        </p:nvGraphicFramePr>
        <p:xfrm>
          <a:off x="1889125" y="4311386"/>
          <a:ext cx="1301750" cy="586052"/>
        </p:xfrm>
        <a:graphic>
          <a:graphicData uri="http://schemas.openxmlformats.org/presentationml/2006/ole">
            <mc:AlternateContent xmlns:mc="http://schemas.openxmlformats.org/markup-compatibility/2006">
              <mc:Choice xmlns:v="urn:schemas-microsoft-com:vml" Requires="v">
                <p:oleObj name="Equation" r:id="rId6" imgW="622300" imgH="279400" progId="Equation.3">
                  <p:embed/>
                </p:oleObj>
              </mc:Choice>
              <mc:Fallback>
                <p:oleObj name="Equation" r:id="rId6" imgW="622300" imgH="279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9125" y="4311386"/>
                        <a:ext cx="1301750" cy="58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Line Callout 1 11"/>
          <p:cNvSpPr/>
          <p:nvPr/>
        </p:nvSpPr>
        <p:spPr>
          <a:xfrm>
            <a:off x="4466167" y="3298032"/>
            <a:ext cx="3371547" cy="1807104"/>
          </a:xfrm>
          <a:prstGeom prst="borderCallout1">
            <a:avLst>
              <a:gd name="adj1" fmla="val 48680"/>
              <a:gd name="adj2" fmla="val 504"/>
              <a:gd name="adj3" fmla="val 35284"/>
              <a:gd name="adj4" fmla="val -25406"/>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solidFill>
                  <a:srgbClr val="000000"/>
                </a:solidFill>
              </a:rPr>
              <a:t>These transformations are only appropriate for </a:t>
            </a:r>
            <a:r>
              <a:rPr lang="en-US" i="1" dirty="0">
                <a:solidFill>
                  <a:srgbClr val="000000"/>
                </a:solidFill>
              </a:rPr>
              <a:t>positive</a:t>
            </a:r>
            <a:r>
              <a:rPr lang="en-US" dirty="0">
                <a:solidFill>
                  <a:srgbClr val="000000"/>
                </a:solidFill>
              </a:rPr>
              <a:t> data. </a:t>
            </a:r>
          </a:p>
          <a:p>
            <a:pPr algn="ctr">
              <a:defRPr/>
            </a:pPr>
            <a:endParaRPr lang="en-US" dirty="0">
              <a:solidFill>
                <a:srgbClr val="000000"/>
              </a:solidFill>
            </a:endParaRPr>
          </a:p>
          <a:p>
            <a:pPr algn="ctr">
              <a:defRPr/>
            </a:pPr>
            <a:r>
              <a:rPr lang="en-US" dirty="0">
                <a:solidFill>
                  <a:srgbClr val="000000"/>
                </a:solidFill>
              </a:rPr>
              <a:t>Data with negative values can be shifted up first to obtain all positive values.</a:t>
            </a:r>
          </a:p>
        </p:txBody>
      </p:sp>
    </p:spTree>
    <p:extLst>
      <p:ext uri="{BB962C8B-B14F-4D97-AF65-F5344CB8AC3E}">
        <p14:creationId xmlns:p14="http://schemas.microsoft.com/office/powerpoint/2010/main" val="1307709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r>
              <a:rPr lang="en-US" altLang="en-US">
                <a:ea typeface="ＭＳ Ｐゴシック" charset="-128"/>
              </a:rPr>
              <a:t>Transformations</a:t>
            </a:r>
          </a:p>
        </p:txBody>
      </p:sp>
      <p:sp>
        <p:nvSpPr>
          <p:cNvPr id="33794" name="Content Placeholder 2"/>
          <p:cNvSpPr>
            <a:spLocks noGrp="1"/>
          </p:cNvSpPr>
          <p:nvPr>
            <p:ph idx="1"/>
          </p:nvPr>
        </p:nvSpPr>
        <p:spPr/>
        <p:txBody>
          <a:bodyPr/>
          <a:lstStyle/>
          <a:p>
            <a:r>
              <a:rPr lang="en-US" altLang="en-US" sz="2333" dirty="0">
                <a:ea typeface="ＭＳ Ｐゴシック" charset="-128"/>
              </a:rPr>
              <a:t>Some sources recommend </a:t>
            </a:r>
            <a:r>
              <a:rPr lang="en-US" altLang="en-US" sz="2333" i="1" dirty="0">
                <a:ea typeface="ＭＳ Ｐゴシック" charset="-128"/>
              </a:rPr>
              <a:t>transforming</a:t>
            </a:r>
            <a:r>
              <a:rPr lang="en-US" altLang="en-US" sz="2333" dirty="0">
                <a:ea typeface="ＭＳ Ｐゴシック" charset="-128"/>
              </a:rPr>
              <a:t> data to improve the approximation of normality (reduce asymmetry) and make the Normal-based methods perform more exactly</a:t>
            </a:r>
          </a:p>
          <a:p>
            <a:r>
              <a:rPr lang="en-US" altLang="en-US" sz="2333" dirty="0">
                <a:ea typeface="ＭＳ Ｐゴシック" charset="-128"/>
              </a:rPr>
              <a:t>Commonly used transformations:</a:t>
            </a:r>
          </a:p>
          <a:p>
            <a:endParaRPr lang="en-US" altLang="en-US" sz="2333" dirty="0">
              <a:ea typeface="ＭＳ Ｐゴシック" charset="-128"/>
            </a:endParaRPr>
          </a:p>
          <a:p>
            <a:pPr marL="1158875" lvl="1" indent="-239713"/>
            <a:r>
              <a:rPr lang="en-US" altLang="en-US" i="1" dirty="0">
                <a:ea typeface="ＭＳ Ｐゴシック" charset="-128"/>
              </a:rPr>
              <a:t> </a:t>
            </a:r>
          </a:p>
          <a:p>
            <a:pPr marL="1158875" lvl="1" indent="-239713"/>
            <a:endParaRPr lang="en-US" altLang="en-US" sz="833" i="1" dirty="0">
              <a:ea typeface="ＭＳ Ｐゴシック" charset="-128"/>
            </a:endParaRPr>
          </a:p>
          <a:p>
            <a:pPr marL="1158875" lvl="1" indent="-239713"/>
            <a:r>
              <a:rPr lang="en-US" altLang="en-US" i="1" dirty="0">
                <a:ea typeface="ＭＳ Ｐゴシック" charset="-128"/>
              </a:rPr>
              <a:t> </a:t>
            </a:r>
          </a:p>
          <a:p>
            <a:pPr marL="1158875" lvl="1" indent="-239713"/>
            <a:endParaRPr lang="en-US" altLang="en-US" sz="833" i="1" dirty="0">
              <a:ea typeface="ＭＳ Ｐゴシック" charset="-128"/>
            </a:endParaRPr>
          </a:p>
          <a:p>
            <a:pPr marL="1158875" lvl="1" indent="-239713"/>
            <a:r>
              <a:rPr lang="en-US" altLang="en-US" i="1" dirty="0">
                <a:ea typeface="ＭＳ Ｐゴシック" charset="-128"/>
              </a:rPr>
              <a:t> </a:t>
            </a:r>
          </a:p>
          <a:p>
            <a:endParaRPr lang="en-US" altLang="en-US" dirty="0">
              <a:ea typeface="ＭＳ Ｐゴシック" charset="-128"/>
            </a:endParaRP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6B402BE6-D212-E84B-871E-0D55A931DD8A}" type="slidenum">
              <a:rPr lang="en-US" altLang="en-US" sz="1000">
                <a:solidFill>
                  <a:srgbClr val="898989"/>
                </a:solidFill>
              </a:rPr>
              <a:pPr eaLnBrk="1" hangingPunct="1"/>
              <a:t>4</a:t>
            </a:fld>
            <a:endParaRPr lang="en-US" altLang="en-US" sz="1000">
              <a:solidFill>
                <a:srgbClr val="898989"/>
              </a:solidFill>
            </a:endParaRPr>
          </a:p>
        </p:txBody>
      </p:sp>
      <p:graphicFrame>
        <p:nvGraphicFramePr>
          <p:cNvPr id="33798" name="Object 6"/>
          <p:cNvGraphicFramePr>
            <a:graphicFrameLocks noChangeAspect="1"/>
          </p:cNvGraphicFramePr>
          <p:nvPr/>
        </p:nvGraphicFramePr>
        <p:xfrm>
          <a:off x="1881188" y="3298032"/>
          <a:ext cx="1594115" cy="425979"/>
        </p:xfrm>
        <a:graphic>
          <a:graphicData uri="http://schemas.openxmlformats.org/presentationml/2006/ole">
            <mc:AlternateContent xmlns:mc="http://schemas.openxmlformats.org/markup-compatibility/2006">
              <mc:Choice xmlns:v="urn:schemas-microsoft-com:vml" Requires="v">
                <p:oleObj name="Equation" r:id="rId2" imgW="762000" imgH="203200" progId="Equation.3">
                  <p:embed/>
                </p:oleObj>
              </mc:Choice>
              <mc:Fallback>
                <p:oleObj name="Equation" r:id="rId2" imgW="762000" imgH="203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188" y="3298032"/>
                        <a:ext cx="1594115" cy="42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9" name="Object 7"/>
          <p:cNvGraphicFramePr>
            <a:graphicFrameLocks noChangeAspect="1"/>
          </p:cNvGraphicFramePr>
          <p:nvPr/>
        </p:nvGraphicFramePr>
        <p:xfrm>
          <a:off x="1881188" y="3725334"/>
          <a:ext cx="1301750" cy="586053"/>
        </p:xfrm>
        <a:graphic>
          <a:graphicData uri="http://schemas.openxmlformats.org/presentationml/2006/ole">
            <mc:AlternateContent xmlns:mc="http://schemas.openxmlformats.org/markup-compatibility/2006">
              <mc:Choice xmlns:v="urn:schemas-microsoft-com:vml" Requires="v">
                <p:oleObj name="Equation" r:id="rId4" imgW="622300" imgH="279400" progId="Equation.3">
                  <p:embed/>
                </p:oleObj>
              </mc:Choice>
              <mc:Fallback>
                <p:oleObj name="Equation" r:id="rId4" imgW="622300" imgH="279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1188" y="3725334"/>
                        <a:ext cx="1301750" cy="58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0" name="Object 8"/>
          <p:cNvGraphicFramePr>
            <a:graphicFrameLocks noChangeAspect="1"/>
          </p:cNvGraphicFramePr>
          <p:nvPr/>
        </p:nvGraphicFramePr>
        <p:xfrm>
          <a:off x="1889125" y="4311386"/>
          <a:ext cx="1301750" cy="586052"/>
        </p:xfrm>
        <a:graphic>
          <a:graphicData uri="http://schemas.openxmlformats.org/presentationml/2006/ole">
            <mc:AlternateContent xmlns:mc="http://schemas.openxmlformats.org/markup-compatibility/2006">
              <mc:Choice xmlns:v="urn:schemas-microsoft-com:vml" Requires="v">
                <p:oleObj name="Equation" r:id="rId6" imgW="622300" imgH="279400" progId="Equation.3">
                  <p:embed/>
                </p:oleObj>
              </mc:Choice>
              <mc:Fallback>
                <p:oleObj name="Equation" r:id="rId6" imgW="622300" imgH="279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9125" y="4311386"/>
                        <a:ext cx="1301750" cy="586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27032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r>
              <a:rPr lang="en-US" altLang="en-US">
                <a:ea typeface="ＭＳ Ｐゴシック" charset="-128"/>
              </a:rPr>
              <a:t>Transformations</a:t>
            </a:r>
          </a:p>
        </p:txBody>
      </p:sp>
      <p:sp>
        <p:nvSpPr>
          <p:cNvPr id="36866" name="Content Placeholder 2"/>
          <p:cNvSpPr>
            <a:spLocks noGrp="1"/>
          </p:cNvSpPr>
          <p:nvPr>
            <p:ph idx="1"/>
          </p:nvPr>
        </p:nvSpPr>
        <p:spPr/>
        <p:txBody>
          <a:bodyPr/>
          <a:lstStyle/>
          <a:p>
            <a:pPr marL="0" indent="0">
              <a:buNone/>
            </a:pPr>
            <a:r>
              <a:rPr lang="en-US" altLang="en-US" sz="2000" i="1">
                <a:ea typeface="ＭＳ Ｐゴシック" charset="-128"/>
              </a:rPr>
              <a:t>“Many biological variables do not meet the assumptions of parametric statistical tests: they are not normally distributed, the variances are not homogeneous, or both. Using a parametric statistical test (such as an anova or linear regression) on such data may give a misleading result. In some cases, transforming the data will make it fit the assumptions better.”</a:t>
            </a:r>
          </a:p>
          <a:p>
            <a:pPr marL="0" indent="0">
              <a:buNone/>
            </a:pPr>
            <a:endParaRPr lang="en-US" altLang="en-US" sz="2333" i="1">
              <a:ea typeface="ＭＳ Ｐゴシック" charset="-128"/>
            </a:endParaRPr>
          </a:p>
          <a:p>
            <a:pPr marL="0" indent="0">
              <a:buNone/>
            </a:pPr>
            <a:r>
              <a:rPr lang="en-US" altLang="en-US" sz="1667">
                <a:solidFill>
                  <a:srgbClr val="3366FF"/>
                </a:solidFill>
                <a:ea typeface="ＭＳ Ｐゴシック" charset="-128"/>
              </a:rPr>
              <a:t>http://www.dmi.units.it/~inverniz/adir/stattransform.html</a:t>
            </a:r>
            <a:endParaRPr lang="en-US" altLang="en-US" sz="2000">
              <a:ea typeface="ＭＳ Ｐゴシック" charset="-128"/>
            </a:endParaRP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94BC7449-16D8-E446-A60F-FC520244FD02}" type="slidenum">
              <a:rPr lang="en-US" altLang="en-US" sz="1000">
                <a:solidFill>
                  <a:srgbClr val="898989"/>
                </a:solidFill>
              </a:rPr>
              <a:pPr eaLnBrk="1" hangingPunct="1"/>
              <a:t>5</a:t>
            </a:fld>
            <a:endParaRPr lang="en-US" altLang="en-US" sz="1000">
              <a:solidFill>
                <a:srgbClr val="898989"/>
              </a:solidFill>
            </a:endParaRPr>
          </a:p>
        </p:txBody>
      </p:sp>
    </p:spTree>
    <p:extLst>
      <p:ext uri="{BB962C8B-B14F-4D97-AF65-F5344CB8AC3E}">
        <p14:creationId xmlns:p14="http://schemas.microsoft.com/office/powerpoint/2010/main" val="1815267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ltLang="en-US">
                <a:ea typeface="ＭＳ Ｐゴシック" charset="-128"/>
              </a:rPr>
              <a:t>Transformations</a:t>
            </a:r>
          </a:p>
        </p:txBody>
      </p:sp>
      <p:sp>
        <p:nvSpPr>
          <p:cNvPr id="37890" name="Content Placeholder 2"/>
          <p:cNvSpPr>
            <a:spLocks noGrp="1"/>
          </p:cNvSpPr>
          <p:nvPr>
            <p:ph idx="1"/>
          </p:nvPr>
        </p:nvSpPr>
        <p:spPr/>
        <p:txBody>
          <a:bodyPr/>
          <a:lstStyle/>
          <a:p>
            <a:pPr marL="0" indent="0">
              <a:buNone/>
            </a:pPr>
            <a:r>
              <a:rPr lang="en-US" altLang="en-US" sz="2000" i="1">
                <a:ea typeface="ＭＳ Ｐゴシック" charset="-128"/>
              </a:rPr>
              <a:t>“…if the population is substantially skewed and the sample size is at most moderate, the approximation provided by the central limit theorem can be poor, and the resulting confidence interval will likely have the wrong coverage probability. Thus, when there is evidence of substantial skew in the data, it is common to transform the data to a symmetric distribution before constructing a confidence interval. If desired, the confidence interval can then be transformed back to the original scale using the inverse of the transformation that was applied to the data.”</a:t>
            </a:r>
          </a:p>
          <a:p>
            <a:pPr marL="0" indent="0">
              <a:buNone/>
            </a:pPr>
            <a:endParaRPr lang="en-US" altLang="en-US" sz="2000" i="1">
              <a:ea typeface="ＭＳ Ｐゴシック" charset="-128"/>
            </a:endParaRPr>
          </a:p>
          <a:p>
            <a:pPr marL="0" indent="0">
              <a:buNone/>
            </a:pPr>
            <a:r>
              <a:rPr lang="en-US" altLang="en-US" sz="1667">
                <a:solidFill>
                  <a:srgbClr val="3366FF"/>
                </a:solidFill>
                <a:ea typeface="ＭＳ Ｐゴシック" charset="-128"/>
              </a:rPr>
              <a:t>https://en.wikipedia.org/wiki/Data_transformation_%28statistics%29</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EFFAFF98-E5F0-9447-9A5D-12396A5C6D78}" type="slidenum">
              <a:rPr lang="en-US" altLang="en-US" sz="1000">
                <a:solidFill>
                  <a:srgbClr val="898989"/>
                </a:solidFill>
              </a:rPr>
              <a:pPr eaLnBrk="1" hangingPunct="1"/>
              <a:t>6</a:t>
            </a:fld>
            <a:endParaRPr lang="en-US" altLang="en-US" sz="1000">
              <a:solidFill>
                <a:srgbClr val="898989"/>
              </a:solidFill>
            </a:endParaRPr>
          </a:p>
        </p:txBody>
      </p:sp>
    </p:spTree>
    <p:extLst>
      <p:ext uri="{BB962C8B-B14F-4D97-AF65-F5344CB8AC3E}">
        <p14:creationId xmlns:p14="http://schemas.microsoft.com/office/powerpoint/2010/main" val="2050754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altLang="en-US">
                <a:ea typeface="ＭＳ Ｐゴシック" charset="-128"/>
              </a:rPr>
              <a:t>Transformations</a:t>
            </a:r>
          </a:p>
        </p:txBody>
      </p:sp>
      <p:sp>
        <p:nvSpPr>
          <p:cNvPr id="3" name="Content Placeholder 2"/>
          <p:cNvSpPr>
            <a:spLocks noGrp="1"/>
          </p:cNvSpPr>
          <p:nvPr>
            <p:ph idx="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indent="0">
              <a:buNone/>
              <a:defRPr/>
            </a:pPr>
            <a:r>
              <a:rPr lang="en-US" sz="2000" i="1" dirty="0"/>
              <a:t>“…if the population is substantially skewed and the sample size is at most moderate, the approximation provided by the central limit theorem can be poor, and the resulting confidence interval will likely have the wrong coverage probability. Thus, when there is evidence of substantial skew in the data, it is common to transform the data to a symmetric distribution before constructing a confidence interval. </a:t>
            </a:r>
            <a:r>
              <a:rPr lang="en-US" sz="2000" i="1" strike="sngStrike" dirty="0">
                <a:solidFill>
                  <a:srgbClr val="FF0000"/>
                </a:solidFill>
              </a:rPr>
              <a:t>If desired, the confidence interval can then be transformed back to the original scale using the inverse of the transformation that was applied to the data.</a:t>
            </a:r>
            <a:r>
              <a:rPr lang="en-US" sz="2000" i="1" dirty="0"/>
              <a:t>”</a:t>
            </a:r>
          </a:p>
          <a:p>
            <a:pPr marL="0" indent="0">
              <a:buNone/>
              <a:defRPr/>
            </a:pPr>
            <a:endParaRPr lang="en-US" sz="2000" i="1" dirty="0"/>
          </a:p>
          <a:p>
            <a:pPr marL="0" indent="0">
              <a:buNone/>
              <a:defRPr/>
            </a:pPr>
            <a:r>
              <a:rPr lang="en-US" sz="1667" dirty="0">
                <a:solidFill>
                  <a:srgbClr val="3366FF"/>
                </a:solidFill>
              </a:rPr>
              <a:t>https://</a:t>
            </a:r>
            <a:r>
              <a:rPr lang="en-US" sz="1667" dirty="0" err="1">
                <a:solidFill>
                  <a:srgbClr val="3366FF"/>
                </a:solidFill>
              </a:rPr>
              <a:t>en.wikipedia.org</a:t>
            </a:r>
            <a:r>
              <a:rPr lang="en-US" sz="1667" dirty="0">
                <a:solidFill>
                  <a:srgbClr val="3366FF"/>
                </a:solidFill>
              </a:rPr>
              <a:t>/wiki/Data_transformation_%28statistics%29</a:t>
            </a:r>
          </a:p>
          <a:p>
            <a:pPr marL="0" indent="0">
              <a:buNone/>
              <a:defRPr/>
            </a:pPr>
            <a:endParaRPr lang="en-US" sz="2000" i="1" dirty="0"/>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97F3F98F-191C-5142-A770-76DBAC79FB2B}" type="slidenum">
              <a:rPr lang="en-US" altLang="en-US" sz="1000">
                <a:solidFill>
                  <a:srgbClr val="898989"/>
                </a:solidFill>
              </a:rPr>
              <a:pPr eaLnBrk="1" hangingPunct="1"/>
              <a:t>7</a:t>
            </a:fld>
            <a:endParaRPr lang="en-US" altLang="en-US" sz="1000">
              <a:solidFill>
                <a:srgbClr val="898989"/>
              </a:solidFill>
            </a:endParaRPr>
          </a:p>
        </p:txBody>
      </p:sp>
    </p:spTree>
    <p:extLst>
      <p:ext uri="{BB962C8B-B14F-4D97-AF65-F5344CB8AC3E}">
        <p14:creationId xmlns:p14="http://schemas.microsoft.com/office/powerpoint/2010/main" val="2069007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ltLang="en-US">
                <a:ea typeface="ＭＳ Ｐゴシック" charset="-128"/>
              </a:rPr>
              <a:t>Transformations</a:t>
            </a:r>
          </a:p>
        </p:txBody>
      </p:sp>
      <p:sp>
        <p:nvSpPr>
          <p:cNvPr id="34818" name="Content Placeholder 2"/>
          <p:cNvSpPr>
            <a:spLocks noGrp="1"/>
          </p:cNvSpPr>
          <p:nvPr>
            <p:ph idx="1"/>
          </p:nvPr>
        </p:nvSpPr>
        <p:spPr/>
        <p:txBody>
          <a:bodyPr/>
          <a:lstStyle/>
          <a:p>
            <a:r>
              <a:rPr lang="en-US" altLang="en-US" sz="2333" dirty="0">
                <a:ea typeface="ＭＳ Ｐゴシック" charset="-128"/>
              </a:rPr>
              <a:t>Testing hypotheses regarding population means on the original data can </a:t>
            </a:r>
            <a:r>
              <a:rPr lang="en-US" altLang="en-US" sz="2333" b="1" dirty="0">
                <a:ea typeface="ＭＳ Ｐゴシック" charset="-128"/>
              </a:rPr>
              <a:t>answer a different question</a:t>
            </a:r>
            <a:r>
              <a:rPr lang="en-US" altLang="en-US" sz="2333" dirty="0">
                <a:ea typeface="ＭＳ Ｐゴシック" charset="-128"/>
              </a:rPr>
              <a:t> than testing hypotheses regarding population means of transformed data: for instance,</a:t>
            </a:r>
          </a:p>
          <a:p>
            <a:endParaRPr lang="en-US" altLang="en-US" sz="2333" dirty="0">
              <a:ea typeface="ＭＳ Ｐゴシック" charset="-128"/>
            </a:endParaRPr>
          </a:p>
          <a:p>
            <a:endParaRPr lang="en-US" altLang="en-US" sz="2333" dirty="0">
              <a:ea typeface="ＭＳ Ｐゴシック" charset="-128"/>
            </a:endParaRPr>
          </a:p>
          <a:p>
            <a:r>
              <a:rPr lang="en-US" altLang="en-US" sz="2333" dirty="0">
                <a:ea typeface="ＭＳ Ｐゴシック" charset="-128"/>
              </a:rPr>
              <a:t>Transforming inference back to the original scale </a:t>
            </a:r>
            <a:r>
              <a:rPr lang="en-US" altLang="en-US" sz="2333" b="1" i="1" dirty="0">
                <a:ea typeface="ＭＳ Ｐゴシック" charset="-128"/>
              </a:rPr>
              <a:t>is very challenging to interpret unless strong assumptions are made</a:t>
            </a:r>
            <a:endParaRPr lang="en-US" altLang="en-US" sz="2333" dirty="0">
              <a:ea typeface="ＭＳ Ｐゴシック" charset="-128"/>
            </a:endParaRPr>
          </a:p>
          <a:p>
            <a:endParaRPr lang="en-US" altLang="en-US" dirty="0">
              <a:ea typeface="ＭＳ Ｐゴシック" charset="-128"/>
            </a:endParaRPr>
          </a:p>
          <a:p>
            <a:endParaRPr lang="en-US" altLang="en-US" dirty="0">
              <a:ea typeface="ＭＳ Ｐゴシック" charset="-128"/>
            </a:endParaRP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C5492D6C-C36F-EF41-A534-8C468A3B13FD}" type="slidenum">
              <a:rPr lang="en-US" altLang="en-US" sz="1000">
                <a:solidFill>
                  <a:srgbClr val="898989"/>
                </a:solidFill>
              </a:rPr>
              <a:pPr eaLnBrk="1" hangingPunct="1"/>
              <a:t>8</a:t>
            </a:fld>
            <a:endParaRPr lang="en-US" altLang="en-US" sz="1000">
              <a:solidFill>
                <a:srgbClr val="898989"/>
              </a:solidFill>
            </a:endParaRPr>
          </a:p>
        </p:txBody>
      </p:sp>
      <p:graphicFrame>
        <p:nvGraphicFramePr>
          <p:cNvPr id="34822" name="Object 6"/>
          <p:cNvGraphicFramePr>
            <a:graphicFrameLocks noChangeAspect="1"/>
          </p:cNvGraphicFramePr>
          <p:nvPr/>
        </p:nvGraphicFramePr>
        <p:xfrm>
          <a:off x="3493970" y="2581672"/>
          <a:ext cx="2205303" cy="637646"/>
        </p:xfrm>
        <a:graphic>
          <a:graphicData uri="http://schemas.openxmlformats.org/presentationml/2006/ole">
            <mc:AlternateContent xmlns:mc="http://schemas.openxmlformats.org/markup-compatibility/2006">
              <mc:Choice xmlns:v="urn:schemas-microsoft-com:vml" Requires="v">
                <p:oleObj name="Equation" r:id="rId2" imgW="1054100" imgH="304800" progId="Equation.3">
                  <p:embed/>
                </p:oleObj>
              </mc:Choice>
              <mc:Fallback>
                <p:oleObj name="Equation" r:id="rId2" imgW="1054100" imgH="304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3970" y="2581672"/>
                        <a:ext cx="2205303" cy="63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5081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altLang="en-US">
                <a:ea typeface="ＭＳ Ｐゴシック" charset="-128"/>
              </a:rPr>
              <a:t>Transformations</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83B53902-1AB1-A34E-9C8B-2A881B1ECDAF}" type="slidenum">
              <a:rPr lang="en-US" altLang="en-US" sz="1000">
                <a:solidFill>
                  <a:srgbClr val="898989"/>
                </a:solidFill>
              </a:rPr>
              <a:pPr eaLnBrk="1" hangingPunct="1"/>
              <a:t>9</a:t>
            </a:fld>
            <a:endParaRPr lang="en-US" altLang="en-US" sz="1000">
              <a:solidFill>
                <a:srgbClr val="898989"/>
              </a:solidFill>
            </a:endParaRPr>
          </a:p>
        </p:txBody>
      </p:sp>
      <p:pic>
        <p:nvPicPr>
          <p:cNvPr id="39942" name="Content Placeholder 6"/>
          <p:cNvPicPr>
            <a:picLocks noChangeAspect="1"/>
          </p:cNvPicPr>
          <p:nvPr/>
        </p:nvPicPr>
        <p:blipFill>
          <a:blip r:embed="rId2">
            <a:extLst>
              <a:ext uri="{28A0092B-C50C-407E-A947-70E740481C1C}">
                <a14:useLocalDpi xmlns:a14="http://schemas.microsoft.com/office/drawing/2010/main" val="0"/>
              </a:ext>
            </a:extLst>
          </a:blip>
          <a:srcRect l="-668" r="2930"/>
          <a:stretch>
            <a:fillRect/>
          </a:stretch>
        </p:blipFill>
        <p:spPr bwMode="auto">
          <a:xfrm>
            <a:off x="514256" y="1181365"/>
            <a:ext cx="8183884" cy="117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39943"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37417" y="2357437"/>
            <a:ext cx="3239823" cy="3307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704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altLang="en-US">
                <a:ea typeface="ＭＳ Ｐゴシック" charset="-128"/>
              </a:rPr>
              <a:t>Transformations</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83B53902-1AB1-A34E-9C8B-2A881B1ECDAF}" type="slidenum">
              <a:rPr lang="en-US" altLang="en-US" sz="1000">
                <a:solidFill>
                  <a:srgbClr val="898989"/>
                </a:solidFill>
              </a:rPr>
              <a:pPr eaLnBrk="1" hangingPunct="1"/>
              <a:t>10</a:t>
            </a:fld>
            <a:endParaRPr lang="en-US" altLang="en-US" sz="1000">
              <a:solidFill>
                <a:srgbClr val="898989"/>
              </a:solidFill>
            </a:endParaRPr>
          </a:p>
        </p:txBody>
      </p:sp>
      <p:pic>
        <p:nvPicPr>
          <p:cNvPr id="39942" name="Content Placeholder 6"/>
          <p:cNvPicPr>
            <a:picLocks noChangeAspect="1"/>
          </p:cNvPicPr>
          <p:nvPr/>
        </p:nvPicPr>
        <p:blipFill>
          <a:blip r:embed="rId2">
            <a:extLst>
              <a:ext uri="{28A0092B-C50C-407E-A947-70E740481C1C}">
                <a14:useLocalDpi xmlns:a14="http://schemas.microsoft.com/office/drawing/2010/main" val="0"/>
              </a:ext>
            </a:extLst>
          </a:blip>
          <a:srcRect l="-668" r="2930"/>
          <a:stretch>
            <a:fillRect/>
          </a:stretch>
        </p:blipFill>
        <p:spPr bwMode="auto">
          <a:xfrm>
            <a:off x="514256" y="1181365"/>
            <a:ext cx="8183884" cy="117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39943"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37417" y="2357437"/>
            <a:ext cx="3239823" cy="3307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ounded Rectangle 1"/>
          <p:cNvSpPr/>
          <p:nvPr/>
        </p:nvSpPr>
        <p:spPr>
          <a:xfrm>
            <a:off x="2351314" y="1772816"/>
            <a:ext cx="578498" cy="223935"/>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1996751" y="1530220"/>
            <a:ext cx="1250302" cy="709126"/>
          </a:xfrm>
          <a:prstGeom prst="rect">
            <a:avLst/>
          </a:prstGeom>
          <a:solidFill>
            <a:schemeClr val="accent6">
              <a:lumMod val="40000"/>
              <a:lumOff val="60000"/>
              <a:alpha val="2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194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altLang="en-US">
                <a:ea typeface="ＭＳ Ｐゴシック" charset="-128"/>
              </a:rPr>
              <a:t>Transformations</a:t>
            </a:r>
          </a:p>
        </p:txBody>
      </p:sp>
      <p:sp>
        <p:nvSpPr>
          <p:cNvPr id="4" name="Date Placeholder 3"/>
          <p:cNvSpPr>
            <a:spLocks noGrp="1"/>
          </p:cNvSpPr>
          <p:nvPr>
            <p:ph type="dt" sz="quarter" idx="10"/>
          </p:nvPr>
        </p:nvSpPr>
        <p:spPr/>
        <p:txBody>
          <a:bodyPr/>
          <a:lstStyle/>
          <a:p>
            <a:pPr>
              <a:defRPr/>
            </a:pPr>
            <a:r>
              <a:rPr lang="en-US"/>
              <a:t>November 27, 2023</a:t>
            </a:r>
            <a:endParaRPr lang="en-US" dirty="0"/>
          </a:p>
        </p:txBody>
      </p:sp>
      <p:sp>
        <p:nvSpPr>
          <p:cNvPr id="5" name="Footer Placeholder 4"/>
          <p:cNvSpPr>
            <a:spLocks noGrp="1"/>
          </p:cNvSpPr>
          <p:nvPr>
            <p:ph type="ftr" sz="quarter" idx="11"/>
          </p:nvPr>
        </p:nvSpPr>
        <p:spPr/>
        <p:txBody>
          <a:bodyPr/>
          <a:lstStyle/>
          <a:p>
            <a:pPr>
              <a:defRPr/>
            </a:pPr>
            <a:r>
              <a:rPr lang="fr-FR"/>
              <a:t>ST 551: Lecture 21</a:t>
            </a:r>
            <a:endParaRPr lang="en-US" dirty="0"/>
          </a:p>
        </p:txBody>
      </p:sp>
      <p:sp>
        <p:nvSpPr>
          <p:cNvPr id="6" name="Slide Number Placeholder 5"/>
          <p:cNvSpPr>
            <a:spLocks noGrp="1"/>
          </p:cNvSpPr>
          <p:nvPr>
            <p:ph type="sldNum" sz="quarter" idx="12"/>
          </p:nvPr>
        </p:nvSpPr>
        <p:spPr/>
        <p:txBody>
          <a:bodyPr/>
          <a:lstStyle>
            <a:lvl1pPr eaLnBrk="0" hangingPunct="0">
              <a:defRPr sz="2000">
                <a:solidFill>
                  <a:schemeClr val="tx1"/>
                </a:solidFill>
                <a:latin typeface="Calibri" charset="0"/>
                <a:ea typeface="ＭＳ Ｐゴシック" charset="-128"/>
              </a:defRPr>
            </a:lvl1pPr>
            <a:lvl2pPr marL="619100" indent="-238115" eaLnBrk="0" hangingPunct="0">
              <a:defRPr sz="2000">
                <a:solidFill>
                  <a:schemeClr val="tx1"/>
                </a:solidFill>
                <a:latin typeface="Calibri" charset="0"/>
                <a:ea typeface="ＭＳ Ｐゴシック" charset="-128"/>
              </a:defRPr>
            </a:lvl2pPr>
            <a:lvl3pPr marL="952462" indent="-190492" eaLnBrk="0" hangingPunct="0">
              <a:defRPr sz="2000">
                <a:solidFill>
                  <a:schemeClr val="tx1"/>
                </a:solidFill>
                <a:latin typeface="Calibri" charset="0"/>
                <a:ea typeface="ＭＳ Ｐゴシック" charset="-128"/>
              </a:defRPr>
            </a:lvl3pPr>
            <a:lvl4pPr marL="1333447" indent="-190492" eaLnBrk="0" hangingPunct="0">
              <a:defRPr sz="2000">
                <a:solidFill>
                  <a:schemeClr val="tx1"/>
                </a:solidFill>
                <a:latin typeface="Calibri" charset="0"/>
                <a:ea typeface="ＭＳ Ｐゴシック" charset="-128"/>
              </a:defRPr>
            </a:lvl4pPr>
            <a:lvl5pPr marL="1714431" indent="-190492" eaLnBrk="0" hangingPunct="0">
              <a:defRPr sz="2000">
                <a:solidFill>
                  <a:schemeClr val="tx1"/>
                </a:solidFill>
                <a:latin typeface="Calibri" charset="0"/>
                <a:ea typeface="ＭＳ Ｐゴシック" charset="-128"/>
              </a:defRPr>
            </a:lvl5pPr>
            <a:lvl6pPr marL="2095416" indent="-190492" defTabSz="380985" eaLnBrk="0" fontAlgn="base" hangingPunct="0">
              <a:spcBef>
                <a:spcPct val="0"/>
              </a:spcBef>
              <a:spcAft>
                <a:spcPct val="0"/>
              </a:spcAft>
              <a:defRPr sz="2000">
                <a:solidFill>
                  <a:schemeClr val="tx1"/>
                </a:solidFill>
                <a:latin typeface="Calibri" charset="0"/>
                <a:ea typeface="ＭＳ Ｐゴシック" charset="-128"/>
              </a:defRPr>
            </a:lvl6pPr>
            <a:lvl7pPr marL="2476401" indent="-190492" defTabSz="380985" eaLnBrk="0" fontAlgn="base" hangingPunct="0">
              <a:spcBef>
                <a:spcPct val="0"/>
              </a:spcBef>
              <a:spcAft>
                <a:spcPct val="0"/>
              </a:spcAft>
              <a:defRPr sz="2000">
                <a:solidFill>
                  <a:schemeClr val="tx1"/>
                </a:solidFill>
                <a:latin typeface="Calibri" charset="0"/>
                <a:ea typeface="ＭＳ Ｐゴシック" charset="-128"/>
              </a:defRPr>
            </a:lvl7pPr>
            <a:lvl8pPr marL="2857386" indent="-190492" defTabSz="380985" eaLnBrk="0" fontAlgn="base" hangingPunct="0">
              <a:spcBef>
                <a:spcPct val="0"/>
              </a:spcBef>
              <a:spcAft>
                <a:spcPct val="0"/>
              </a:spcAft>
              <a:defRPr sz="2000">
                <a:solidFill>
                  <a:schemeClr val="tx1"/>
                </a:solidFill>
                <a:latin typeface="Calibri" charset="0"/>
                <a:ea typeface="ＭＳ Ｐゴシック" charset="-128"/>
              </a:defRPr>
            </a:lvl8pPr>
            <a:lvl9pPr marL="3238370" indent="-190492" defTabSz="380985" eaLnBrk="0" fontAlgn="base" hangingPunct="0">
              <a:spcBef>
                <a:spcPct val="0"/>
              </a:spcBef>
              <a:spcAft>
                <a:spcPct val="0"/>
              </a:spcAft>
              <a:defRPr sz="2000">
                <a:solidFill>
                  <a:schemeClr val="tx1"/>
                </a:solidFill>
                <a:latin typeface="Calibri" charset="0"/>
                <a:ea typeface="ＭＳ Ｐゴシック" charset="-128"/>
              </a:defRPr>
            </a:lvl9pPr>
          </a:lstStyle>
          <a:p>
            <a:pPr eaLnBrk="1" hangingPunct="1"/>
            <a:fld id="{83B53902-1AB1-A34E-9C8B-2A881B1ECDAF}" type="slidenum">
              <a:rPr lang="en-US" altLang="en-US" sz="1000">
                <a:solidFill>
                  <a:srgbClr val="898989"/>
                </a:solidFill>
              </a:rPr>
              <a:pPr eaLnBrk="1" hangingPunct="1"/>
              <a:t>11</a:t>
            </a:fld>
            <a:endParaRPr lang="en-US" altLang="en-US" sz="1000">
              <a:solidFill>
                <a:srgbClr val="898989"/>
              </a:solidFill>
            </a:endParaRPr>
          </a:p>
        </p:txBody>
      </p:sp>
      <p:pic>
        <p:nvPicPr>
          <p:cNvPr id="39942" name="Content Placeholder 6"/>
          <p:cNvPicPr>
            <a:picLocks noChangeAspect="1"/>
          </p:cNvPicPr>
          <p:nvPr/>
        </p:nvPicPr>
        <p:blipFill>
          <a:blip r:embed="rId2">
            <a:extLst>
              <a:ext uri="{28A0092B-C50C-407E-A947-70E740481C1C}">
                <a14:useLocalDpi xmlns:a14="http://schemas.microsoft.com/office/drawing/2010/main" val="0"/>
              </a:ext>
            </a:extLst>
          </a:blip>
          <a:srcRect l="-668" r="2930"/>
          <a:stretch>
            <a:fillRect/>
          </a:stretch>
        </p:blipFill>
        <p:spPr bwMode="auto">
          <a:xfrm>
            <a:off x="514256" y="1181365"/>
            <a:ext cx="8183884" cy="117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39943"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37417" y="2357437"/>
            <a:ext cx="3239823" cy="3307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le 7"/>
          <p:cNvSpPr/>
          <p:nvPr/>
        </p:nvSpPr>
        <p:spPr>
          <a:xfrm>
            <a:off x="5187816" y="1996748"/>
            <a:ext cx="578498" cy="223935"/>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587550" y="1530220"/>
            <a:ext cx="1689689" cy="690463"/>
          </a:xfrm>
          <a:prstGeom prst="rect">
            <a:avLst/>
          </a:prstGeom>
          <a:solidFill>
            <a:schemeClr val="accent6">
              <a:lumMod val="40000"/>
              <a:lumOff val="60000"/>
              <a:alpha val="2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776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DA453-A5EB-0F9A-1766-0D1AB9634957}"/>
              </a:ext>
            </a:extLst>
          </p:cNvPr>
          <p:cNvSpPr>
            <a:spLocks noGrp="1"/>
          </p:cNvSpPr>
          <p:nvPr>
            <p:ph type="title"/>
          </p:nvPr>
        </p:nvSpPr>
        <p:spPr/>
        <p:txBody>
          <a:bodyPr/>
          <a:lstStyle/>
          <a:p>
            <a:r>
              <a:rPr lang="en-US" dirty="0"/>
              <a:t>Interpreting inference on log-transformed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EBA57F-9640-4F89-61BE-D32907CCA314}"/>
                  </a:ext>
                </a:extLst>
              </p:cNvPr>
              <p:cNvSpPr>
                <a:spLocks noGrp="1"/>
              </p:cNvSpPr>
              <p:nvPr>
                <p:ph idx="1"/>
              </p:nvPr>
            </p:nvSpPr>
            <p:spPr/>
            <p:txBody>
              <a:bodyPr/>
              <a:lstStyle/>
              <a:p>
                <a:r>
                  <a:rPr lang="en-US" dirty="0"/>
                  <a:t>Recall the following properties of logarithms:</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𝑎𝑏</m:t>
                              </m:r>
                            </m:e>
                          </m:d>
                        </m:e>
                      </m:func>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𝑥</m:t>
                          </m:r>
                        </m:sup>
                      </m:sSup>
                      <m:r>
                        <a:rPr lang="en-US" b="0" i="1" smtClean="0">
                          <a:latin typeface="Cambria Math" panose="02040503050406030204" pitchFamily="18" charset="0"/>
                        </a:rPr>
                        <m:t>)</m:t>
                      </m:r>
                    </m:oMath>
                  </m:oMathPara>
                </a14:m>
                <a:endParaRPr lang="en-US" b="0" dirty="0"/>
              </a:p>
              <a:p>
                <a:r>
                  <a:rPr lang="en-US" dirty="0"/>
                  <a:t>Letting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func>
                  </m:oMath>
                </a14:m>
                <a:r>
                  <a:rPr lang="en-US" dirty="0"/>
                  <a:t>, we have</a:t>
                </a:r>
              </a:p>
              <a:p>
                <a:pPr marL="0" indent="0">
                  <a:buNone/>
                </a:pPr>
                <a14:m>
                  <m:oMathPara xmlns:m="http://schemas.openxmlformats.org/officeDocument/2006/math">
                    <m:oMathParaPr>
                      <m:jc m:val="centerGroup"/>
                    </m:oMathParaPr>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𝑦</m:t>
                              </m:r>
                            </m:e>
                            <m:sub>
                              <m:r>
                                <a:rPr lang="en-US" sz="2000" b="0" i="1" dirty="0" smtClean="0">
                                  <a:latin typeface="Cambria Math" panose="02040503050406030204" pitchFamily="18" charset="0"/>
                                </a:rPr>
                                <m:t>𝑖</m:t>
                              </m:r>
                            </m:sub>
                          </m:sSub>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r>
                            <m:rPr>
                              <m:sty m:val="p"/>
                            </m:rPr>
                            <a:rPr lang="en-US" sz="2000" b="0" i="0" dirty="0" smtClean="0">
                              <a:latin typeface="Cambria Math" panose="02040503050406030204" pitchFamily="18" charset="0"/>
                            </a:rPr>
                            <m:t>log</m:t>
                          </m:r>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r>
                            <a:rPr lang="en-US" sz="2000" b="0" i="1" dirty="0" smtClean="0">
                              <a:latin typeface="Cambria Math" panose="02040503050406030204" pitchFamily="18" charset="0"/>
                            </a:rPr>
                            <m:t>)</m:t>
                          </m:r>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d>
                        <m:dPr>
                          <m:ctrlPr>
                            <a:rPr lang="en-US" sz="2000" b="0" i="1" dirty="0" smtClean="0">
                              <a:latin typeface="Cambria Math" panose="02040503050406030204" pitchFamily="18" charset="0"/>
                            </a:rPr>
                          </m:ctrlPr>
                        </m:dPr>
                        <m:e>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1</m:t>
                                      </m:r>
                                    </m:sub>
                                  </m:sSub>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2</m:t>
                                      </m:r>
                                    </m:sub>
                                  </m:sSub>
                                </m:e>
                              </m:d>
                            </m:e>
                          </m:func>
                          <m:r>
                            <a:rPr lang="en-US" sz="2000" b="0" i="1" dirty="0" smtClean="0">
                              <a:latin typeface="Cambria Math" panose="02040503050406030204" pitchFamily="18" charset="0"/>
                            </a:rPr>
                            <m:t>+ …+</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𝑛</m:t>
                                      </m:r>
                                    </m:sub>
                                  </m:sSub>
                                </m:e>
                              </m:d>
                            </m:e>
                          </m:func>
                        </m:e>
                      </m:d>
                    </m:oMath>
                  </m:oMathPara>
                </a14:m>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sup>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sup>
                              </m:sSup>
                            </m:e>
                          </m:d>
                        </m:e>
                      </m:func>
                    </m:oMath>
                  </m:oMathPara>
                </a14:m>
                <a:endParaRPr lang="en-US" b="0" dirty="0"/>
              </a:p>
              <a:p>
                <a:pPr marL="0" indent="0">
                  <a:buNone/>
                </a:pPr>
                <a:endParaRPr lang="en-US" dirty="0"/>
              </a:p>
            </p:txBody>
          </p:sp>
        </mc:Choice>
        <mc:Fallback>
          <p:sp>
            <p:nvSpPr>
              <p:cNvPr id="3" name="Content Placeholder 2">
                <a:extLst>
                  <a:ext uri="{FF2B5EF4-FFF2-40B4-BE49-F238E27FC236}">
                    <a16:creationId xmlns:a16="http://schemas.microsoft.com/office/drawing/2014/main" id="{14EBA57F-9640-4F89-61BE-D32907CCA314}"/>
                  </a:ext>
                </a:extLst>
              </p:cNvPr>
              <p:cNvSpPr>
                <a:spLocks noGrp="1" noRot="1" noChangeAspect="1" noMove="1" noResize="1" noEditPoints="1" noAdjustHandles="1" noChangeArrowheads="1" noChangeShapeType="1" noTextEdit="1"/>
              </p:cNvSpPr>
              <p:nvPr>
                <p:ph idx="1"/>
              </p:nvPr>
            </p:nvSpPr>
            <p:spPr>
              <a:blipFill>
                <a:blip r:embed="rId2"/>
                <a:stretch>
                  <a:fillRect l="-1389" t="-1684" b="-3771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6596BFD-FAF0-1114-5CBF-2688F662F3AD}"/>
              </a:ext>
            </a:extLst>
          </p:cNvPr>
          <p:cNvSpPr>
            <a:spLocks noGrp="1"/>
          </p:cNvSpPr>
          <p:nvPr>
            <p:ph type="dt" sz="half" idx="10"/>
          </p:nvPr>
        </p:nvSpPr>
        <p:spPr/>
        <p:txBody>
          <a:bodyPr/>
          <a:lstStyle/>
          <a:p>
            <a:pPr>
              <a:defRPr/>
            </a:pPr>
            <a:r>
              <a:rPr lang="en-US"/>
              <a:t>November 27, 2023</a:t>
            </a:r>
            <a:endParaRPr lang="en-US" dirty="0"/>
          </a:p>
        </p:txBody>
      </p:sp>
      <p:sp>
        <p:nvSpPr>
          <p:cNvPr id="5" name="Footer Placeholder 4">
            <a:extLst>
              <a:ext uri="{FF2B5EF4-FFF2-40B4-BE49-F238E27FC236}">
                <a16:creationId xmlns:a16="http://schemas.microsoft.com/office/drawing/2014/main" id="{8B06DCCA-5D0D-CFF1-C397-DE2C88A56164}"/>
              </a:ext>
            </a:extLst>
          </p:cNvPr>
          <p:cNvSpPr>
            <a:spLocks noGrp="1"/>
          </p:cNvSpPr>
          <p:nvPr>
            <p:ph type="ftr" sz="quarter" idx="11"/>
          </p:nvPr>
        </p:nvSpPr>
        <p:spPr/>
        <p:txBody>
          <a:bodyPr/>
          <a:lstStyle/>
          <a:p>
            <a:pPr>
              <a:defRPr/>
            </a:pPr>
            <a:r>
              <a:rPr lang="fr-FR"/>
              <a:t>ST 551: Lecture 21</a:t>
            </a:r>
            <a:endParaRPr lang="en-US" dirty="0"/>
          </a:p>
        </p:txBody>
      </p:sp>
      <p:sp>
        <p:nvSpPr>
          <p:cNvPr id="6" name="Slide Number Placeholder 5">
            <a:extLst>
              <a:ext uri="{FF2B5EF4-FFF2-40B4-BE49-F238E27FC236}">
                <a16:creationId xmlns:a16="http://schemas.microsoft.com/office/drawing/2014/main" id="{3A93A329-F4BF-610A-6358-88A26391DE59}"/>
              </a:ext>
            </a:extLst>
          </p:cNvPr>
          <p:cNvSpPr>
            <a:spLocks noGrp="1"/>
          </p:cNvSpPr>
          <p:nvPr>
            <p:ph type="sldNum" sz="quarter" idx="12"/>
          </p:nvPr>
        </p:nvSpPr>
        <p:spPr/>
        <p:txBody>
          <a:bodyPr/>
          <a:lstStyle/>
          <a:p>
            <a:fld id="{B522ACB8-DB67-7244-B790-A204734E98A7}" type="slidenum">
              <a:rPr lang="en-US" altLang="en-US" smtClean="0"/>
              <a:pPr/>
              <a:t>12</a:t>
            </a:fld>
            <a:endParaRPr lang="en-US" altLang="en-US"/>
          </a:p>
        </p:txBody>
      </p:sp>
    </p:spTree>
    <p:extLst>
      <p:ext uri="{BB962C8B-B14F-4D97-AF65-F5344CB8AC3E}">
        <p14:creationId xmlns:p14="http://schemas.microsoft.com/office/powerpoint/2010/main" val="3498439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75BA3674-9971-1C78-2D0B-B1CF9041EC96}"/>
              </a:ext>
            </a:extLst>
          </p:cNvPr>
          <p:cNvSpPr/>
          <p:nvPr/>
        </p:nvSpPr>
        <p:spPr>
          <a:xfrm>
            <a:off x="5260769" y="3978234"/>
            <a:ext cx="1116280" cy="1103152"/>
          </a:xfrm>
          <a:prstGeom prst="roundRect">
            <a:avLst>
              <a:gd name="adj" fmla="val 10208"/>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DA453-A5EB-0F9A-1766-0D1AB9634957}"/>
              </a:ext>
            </a:extLst>
          </p:cNvPr>
          <p:cNvSpPr>
            <a:spLocks noGrp="1"/>
          </p:cNvSpPr>
          <p:nvPr>
            <p:ph type="title"/>
          </p:nvPr>
        </p:nvSpPr>
        <p:spPr/>
        <p:txBody>
          <a:bodyPr/>
          <a:lstStyle/>
          <a:p>
            <a:r>
              <a:rPr lang="en-US" dirty="0"/>
              <a:t>Interpreting inference on log-transformed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EBA57F-9640-4F89-61BE-D32907CCA314}"/>
                  </a:ext>
                </a:extLst>
              </p:cNvPr>
              <p:cNvSpPr>
                <a:spLocks noGrp="1"/>
              </p:cNvSpPr>
              <p:nvPr>
                <p:ph idx="1"/>
              </p:nvPr>
            </p:nvSpPr>
            <p:spPr/>
            <p:txBody>
              <a:bodyPr/>
              <a:lstStyle/>
              <a:p>
                <a:r>
                  <a:rPr lang="en-US" dirty="0"/>
                  <a:t>Recall the following properties of logarithms:</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𝑎𝑏</m:t>
                              </m:r>
                            </m:e>
                          </m:d>
                        </m:e>
                      </m:func>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𝑥</m:t>
                          </m:r>
                        </m:sup>
                      </m:sSup>
                      <m:r>
                        <a:rPr lang="en-US" b="0" i="1" smtClean="0">
                          <a:latin typeface="Cambria Math" panose="02040503050406030204" pitchFamily="18" charset="0"/>
                        </a:rPr>
                        <m:t>)</m:t>
                      </m:r>
                    </m:oMath>
                  </m:oMathPara>
                </a14:m>
                <a:endParaRPr lang="en-US" b="0" dirty="0"/>
              </a:p>
              <a:p>
                <a:r>
                  <a:rPr lang="en-US" dirty="0"/>
                  <a:t>Letting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func>
                  </m:oMath>
                </a14:m>
                <a:r>
                  <a:rPr lang="en-US" dirty="0"/>
                  <a:t>, we have</a:t>
                </a:r>
              </a:p>
              <a:p>
                <a:pPr marL="0" indent="0">
                  <a:buNone/>
                </a:pPr>
                <a14:m>
                  <m:oMathPara xmlns:m="http://schemas.openxmlformats.org/officeDocument/2006/math">
                    <m:oMathParaPr>
                      <m:jc m:val="centerGroup"/>
                    </m:oMathParaPr>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𝑦</m:t>
                              </m:r>
                            </m:e>
                            <m:sub>
                              <m:r>
                                <a:rPr lang="en-US" sz="2000" b="0" i="1" dirty="0" smtClean="0">
                                  <a:latin typeface="Cambria Math" panose="02040503050406030204" pitchFamily="18" charset="0"/>
                                </a:rPr>
                                <m:t>𝑖</m:t>
                              </m:r>
                            </m:sub>
                          </m:sSub>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r>
                            <m:rPr>
                              <m:sty m:val="p"/>
                            </m:rPr>
                            <a:rPr lang="en-US" sz="2000" b="0" i="0" dirty="0" smtClean="0">
                              <a:latin typeface="Cambria Math" panose="02040503050406030204" pitchFamily="18" charset="0"/>
                            </a:rPr>
                            <m:t>log</m:t>
                          </m:r>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r>
                            <a:rPr lang="en-US" sz="2000" b="0" i="1" dirty="0" smtClean="0">
                              <a:latin typeface="Cambria Math" panose="02040503050406030204" pitchFamily="18" charset="0"/>
                            </a:rPr>
                            <m:t>)</m:t>
                          </m:r>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d>
                        <m:dPr>
                          <m:ctrlPr>
                            <a:rPr lang="en-US" sz="2000" b="0" i="1" dirty="0" smtClean="0">
                              <a:latin typeface="Cambria Math" panose="02040503050406030204" pitchFamily="18" charset="0"/>
                            </a:rPr>
                          </m:ctrlPr>
                        </m:dPr>
                        <m:e>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1</m:t>
                                      </m:r>
                                    </m:sub>
                                  </m:sSub>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2</m:t>
                                      </m:r>
                                    </m:sub>
                                  </m:sSub>
                                </m:e>
                              </m:d>
                            </m:e>
                          </m:func>
                          <m:r>
                            <a:rPr lang="en-US" sz="2000" b="0" i="1" dirty="0" smtClean="0">
                              <a:latin typeface="Cambria Math" panose="02040503050406030204" pitchFamily="18" charset="0"/>
                            </a:rPr>
                            <m:t>+ …+</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𝑛</m:t>
                                      </m:r>
                                    </m:sub>
                                  </m:sSub>
                                </m:e>
                              </m:d>
                            </m:e>
                          </m:func>
                        </m:e>
                      </m:d>
                    </m:oMath>
                  </m:oMathPara>
                </a14:m>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sup>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sup>
                              </m:sSup>
                            </m:e>
                          </m:d>
                        </m:e>
                      </m:func>
                    </m:oMath>
                  </m:oMathPara>
                </a14:m>
                <a:endParaRPr lang="en-US" b="0" dirty="0"/>
              </a:p>
              <a:p>
                <a:pPr marL="0" indent="0">
                  <a:buNone/>
                </a:pPr>
                <a:endParaRPr lang="en-US" dirty="0"/>
              </a:p>
            </p:txBody>
          </p:sp>
        </mc:Choice>
        <mc:Fallback>
          <p:sp>
            <p:nvSpPr>
              <p:cNvPr id="3" name="Content Placeholder 2">
                <a:extLst>
                  <a:ext uri="{FF2B5EF4-FFF2-40B4-BE49-F238E27FC236}">
                    <a16:creationId xmlns:a16="http://schemas.microsoft.com/office/drawing/2014/main" id="{14EBA57F-9640-4F89-61BE-D32907CCA314}"/>
                  </a:ext>
                </a:extLst>
              </p:cNvPr>
              <p:cNvSpPr>
                <a:spLocks noGrp="1" noRot="1" noChangeAspect="1" noMove="1" noResize="1" noEditPoints="1" noAdjustHandles="1" noChangeArrowheads="1" noChangeShapeType="1" noTextEdit="1"/>
              </p:cNvSpPr>
              <p:nvPr>
                <p:ph idx="1"/>
              </p:nvPr>
            </p:nvSpPr>
            <p:spPr>
              <a:blipFill>
                <a:blip r:embed="rId2"/>
                <a:stretch>
                  <a:fillRect l="-1389" t="-1684" b="-3771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6596BFD-FAF0-1114-5CBF-2688F662F3AD}"/>
              </a:ext>
            </a:extLst>
          </p:cNvPr>
          <p:cNvSpPr>
            <a:spLocks noGrp="1"/>
          </p:cNvSpPr>
          <p:nvPr>
            <p:ph type="dt" sz="half" idx="10"/>
          </p:nvPr>
        </p:nvSpPr>
        <p:spPr/>
        <p:txBody>
          <a:bodyPr/>
          <a:lstStyle/>
          <a:p>
            <a:pPr>
              <a:defRPr/>
            </a:pPr>
            <a:r>
              <a:rPr lang="en-US"/>
              <a:t>November 27, 2023</a:t>
            </a:r>
            <a:endParaRPr lang="en-US" dirty="0"/>
          </a:p>
        </p:txBody>
      </p:sp>
      <p:sp>
        <p:nvSpPr>
          <p:cNvPr id="5" name="Footer Placeholder 4">
            <a:extLst>
              <a:ext uri="{FF2B5EF4-FFF2-40B4-BE49-F238E27FC236}">
                <a16:creationId xmlns:a16="http://schemas.microsoft.com/office/drawing/2014/main" id="{8B06DCCA-5D0D-CFF1-C397-DE2C88A56164}"/>
              </a:ext>
            </a:extLst>
          </p:cNvPr>
          <p:cNvSpPr>
            <a:spLocks noGrp="1"/>
          </p:cNvSpPr>
          <p:nvPr>
            <p:ph type="ftr" sz="quarter" idx="11"/>
          </p:nvPr>
        </p:nvSpPr>
        <p:spPr/>
        <p:txBody>
          <a:bodyPr/>
          <a:lstStyle/>
          <a:p>
            <a:pPr>
              <a:defRPr/>
            </a:pPr>
            <a:r>
              <a:rPr lang="fr-FR"/>
              <a:t>ST 551: Lecture 21</a:t>
            </a:r>
            <a:endParaRPr lang="en-US" dirty="0"/>
          </a:p>
        </p:txBody>
      </p:sp>
      <p:sp>
        <p:nvSpPr>
          <p:cNvPr id="6" name="Slide Number Placeholder 5">
            <a:extLst>
              <a:ext uri="{FF2B5EF4-FFF2-40B4-BE49-F238E27FC236}">
                <a16:creationId xmlns:a16="http://schemas.microsoft.com/office/drawing/2014/main" id="{3A93A329-F4BF-610A-6358-88A26391DE59}"/>
              </a:ext>
            </a:extLst>
          </p:cNvPr>
          <p:cNvSpPr>
            <a:spLocks noGrp="1"/>
          </p:cNvSpPr>
          <p:nvPr>
            <p:ph type="sldNum" sz="quarter" idx="12"/>
          </p:nvPr>
        </p:nvSpPr>
        <p:spPr/>
        <p:txBody>
          <a:bodyPr/>
          <a:lstStyle/>
          <a:p>
            <a:fld id="{B522ACB8-DB67-7244-B790-A204734E98A7}" type="slidenum">
              <a:rPr lang="en-US" altLang="en-US" smtClean="0"/>
              <a:pPr/>
              <a:t>13</a:t>
            </a:fld>
            <a:endParaRPr lang="en-US" altLang="en-US"/>
          </a:p>
        </p:txBody>
      </p:sp>
      <p:sp>
        <p:nvSpPr>
          <p:cNvPr id="7" name="Rounded Rectangular Callout 6">
            <a:extLst>
              <a:ext uri="{FF2B5EF4-FFF2-40B4-BE49-F238E27FC236}">
                <a16:creationId xmlns:a16="http://schemas.microsoft.com/office/drawing/2014/main" id="{340839A3-FE00-2B15-B2C9-7DF8A506C4FE}"/>
              </a:ext>
            </a:extLst>
          </p:cNvPr>
          <p:cNvSpPr/>
          <p:nvPr/>
        </p:nvSpPr>
        <p:spPr>
          <a:xfrm>
            <a:off x="6543304" y="2268187"/>
            <a:ext cx="1496291" cy="1650670"/>
          </a:xfrm>
          <a:prstGeom prst="wedgeRoundRectCallout">
            <a:avLst>
              <a:gd name="adj1" fmla="val -87315"/>
              <a:gd name="adj2" fmla="val 52861"/>
              <a:gd name="adj3" fmla="val 16667"/>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Note that this is the </a:t>
            </a:r>
            <a:r>
              <a:rPr lang="en-US" b="1" i="1" dirty="0">
                <a:solidFill>
                  <a:schemeClr val="tx1"/>
                </a:solidFill>
              </a:rPr>
              <a:t>geometric mean</a:t>
            </a:r>
            <a:r>
              <a:rPr lang="en-US" b="1" dirty="0">
                <a:solidFill>
                  <a:schemeClr val="tx1"/>
                </a:solidFill>
              </a:rPr>
              <a:t> </a:t>
            </a:r>
            <a:r>
              <a:rPr lang="en-US" dirty="0">
                <a:solidFill>
                  <a:schemeClr val="tx1"/>
                </a:solidFill>
              </a:rPr>
              <a:t>of the data points </a:t>
            </a:r>
          </a:p>
        </p:txBody>
      </p:sp>
    </p:spTree>
    <p:extLst>
      <p:ext uri="{BB962C8B-B14F-4D97-AF65-F5344CB8AC3E}">
        <p14:creationId xmlns:p14="http://schemas.microsoft.com/office/powerpoint/2010/main" val="2026076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75BA3674-9971-1C78-2D0B-B1CF9041EC96}"/>
              </a:ext>
            </a:extLst>
          </p:cNvPr>
          <p:cNvSpPr/>
          <p:nvPr/>
        </p:nvSpPr>
        <p:spPr>
          <a:xfrm>
            <a:off x="5260769" y="3978234"/>
            <a:ext cx="1116280" cy="1103152"/>
          </a:xfrm>
          <a:prstGeom prst="roundRect">
            <a:avLst>
              <a:gd name="adj" fmla="val 10208"/>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DA453-A5EB-0F9A-1766-0D1AB9634957}"/>
              </a:ext>
            </a:extLst>
          </p:cNvPr>
          <p:cNvSpPr>
            <a:spLocks noGrp="1"/>
          </p:cNvSpPr>
          <p:nvPr>
            <p:ph type="title"/>
          </p:nvPr>
        </p:nvSpPr>
        <p:spPr/>
        <p:txBody>
          <a:bodyPr/>
          <a:lstStyle/>
          <a:p>
            <a:r>
              <a:rPr lang="en-US" dirty="0"/>
              <a:t>Interpreting inference on log-transformed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EBA57F-9640-4F89-61BE-D32907CCA314}"/>
                  </a:ext>
                </a:extLst>
              </p:cNvPr>
              <p:cNvSpPr>
                <a:spLocks noGrp="1"/>
              </p:cNvSpPr>
              <p:nvPr>
                <p:ph idx="1"/>
              </p:nvPr>
            </p:nvSpPr>
            <p:spPr/>
            <p:txBody>
              <a:bodyPr/>
              <a:lstStyle/>
              <a:p>
                <a:r>
                  <a:rPr lang="en-US" dirty="0"/>
                  <a:t>Recall the following properties of logarithms:</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𝑏</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𝑎𝑏</m:t>
                              </m:r>
                            </m:e>
                          </m:d>
                        </m:e>
                      </m:func>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𝑥</m:t>
                          </m:r>
                        </m:sup>
                      </m:sSup>
                      <m:r>
                        <a:rPr lang="en-US" b="0" i="1" smtClean="0">
                          <a:latin typeface="Cambria Math" panose="02040503050406030204" pitchFamily="18" charset="0"/>
                        </a:rPr>
                        <m:t>)</m:t>
                      </m:r>
                    </m:oMath>
                  </m:oMathPara>
                </a14:m>
                <a:endParaRPr lang="en-US" b="0" dirty="0"/>
              </a:p>
              <a:p>
                <a:r>
                  <a:rPr lang="en-US" dirty="0"/>
                  <a:t>Letting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func>
                  </m:oMath>
                </a14:m>
                <a:r>
                  <a:rPr lang="en-US" dirty="0"/>
                  <a:t>, we have</a:t>
                </a:r>
              </a:p>
              <a:p>
                <a:pPr marL="0" indent="0">
                  <a:buNone/>
                </a:pPr>
                <a14:m>
                  <m:oMathPara xmlns:m="http://schemas.openxmlformats.org/officeDocument/2006/math">
                    <m:oMathParaPr>
                      <m:jc m:val="centerGroup"/>
                    </m:oMathParaPr>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𝑦</m:t>
                              </m:r>
                            </m:e>
                            <m:sub>
                              <m:r>
                                <a:rPr lang="en-US" sz="2000" b="0" i="1" dirty="0" smtClean="0">
                                  <a:latin typeface="Cambria Math" panose="02040503050406030204" pitchFamily="18" charset="0"/>
                                </a:rPr>
                                <m:t>𝑖</m:t>
                              </m:r>
                            </m:sub>
                          </m:sSub>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r>
                            <m:rPr>
                              <m:sty m:val="p"/>
                            </m:rPr>
                            <a:rPr lang="en-US" sz="2000" b="0" i="0" dirty="0" smtClean="0">
                              <a:latin typeface="Cambria Math" panose="02040503050406030204" pitchFamily="18" charset="0"/>
                            </a:rPr>
                            <m:t>log</m:t>
                          </m:r>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r>
                            <a:rPr lang="en-US" sz="2000" b="0" i="1" dirty="0" smtClean="0">
                              <a:latin typeface="Cambria Math" panose="02040503050406030204" pitchFamily="18" charset="0"/>
                            </a:rPr>
                            <m:t>)</m:t>
                          </m:r>
                        </m:e>
                      </m:nary>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d>
                        <m:dPr>
                          <m:ctrlPr>
                            <a:rPr lang="en-US" sz="2000" b="0" i="1" dirty="0" smtClean="0">
                              <a:latin typeface="Cambria Math" panose="02040503050406030204" pitchFamily="18" charset="0"/>
                            </a:rPr>
                          </m:ctrlPr>
                        </m:dPr>
                        <m:e>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1</m:t>
                                      </m:r>
                                    </m:sub>
                                  </m:sSub>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2</m:t>
                                      </m:r>
                                    </m:sub>
                                  </m:sSub>
                                </m:e>
                              </m:d>
                            </m:e>
                          </m:func>
                          <m:r>
                            <a:rPr lang="en-US" sz="2000" b="0" i="1" dirty="0" smtClean="0">
                              <a:latin typeface="Cambria Math" panose="02040503050406030204" pitchFamily="18" charset="0"/>
                            </a:rPr>
                            <m:t>+ …+</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𝑛</m:t>
                                      </m:r>
                                    </m:sub>
                                  </m:sSub>
                                </m:e>
                              </m:d>
                            </m:e>
                          </m:func>
                        </m:e>
                      </m:d>
                    </m:oMath>
                  </m:oMathPara>
                </a14:m>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func>
                      <m:r>
                        <a:rPr lang="en-US" sz="2000" b="0" i="1" dirty="0" smtClean="0">
                          <a:latin typeface="Cambria Math" panose="02040503050406030204" pitchFamily="18" charset="0"/>
                        </a:rPr>
                        <m:t>=</m:t>
                      </m:r>
                      <m:func>
                        <m:funcPr>
                          <m:ctrlPr>
                            <a:rPr lang="en-US" sz="2000" b="0" i="1" dirty="0" smtClean="0">
                              <a:latin typeface="Cambria Math" panose="02040503050406030204" pitchFamily="18" charset="0"/>
                            </a:rPr>
                          </m:ctrlPr>
                        </m:funcPr>
                        <m:fName>
                          <m:r>
                            <m:rPr>
                              <m:sty m:val="p"/>
                            </m:rPr>
                            <a:rPr lang="en-US" sz="2000" b="0" i="0" dirty="0" smtClean="0">
                              <a:latin typeface="Cambria Math" panose="02040503050406030204" pitchFamily="18" charset="0"/>
                            </a:rPr>
                            <m:t>log</m:t>
                          </m:r>
                        </m:fName>
                        <m:e>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d>
                                    <m:dPr>
                                      <m:ctrlPr>
                                        <a:rPr lang="en-US" sz="2000" b="0" i="1" dirty="0" smtClean="0">
                                          <a:latin typeface="Cambria Math" panose="02040503050406030204" pitchFamily="18" charset="0"/>
                                        </a:rPr>
                                      </m:ctrlPr>
                                    </m:dPr>
                                    <m:e>
                                      <m:nary>
                                        <m:naryPr>
                                          <m:chr m:val="∏"/>
                                          <m:ctrlPr>
                                            <a:rPr lang="en-US" sz="2000" b="0" i="1" dirty="0" smtClean="0">
                                              <a:latin typeface="Cambria Math" panose="02040503050406030204" pitchFamily="18" charset="0"/>
                                            </a:rPr>
                                          </m:ctrlPr>
                                        </m:naryPr>
                                        <m:sub>
                                          <m: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𝑛</m:t>
                                          </m:r>
                                        </m:sup>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𝑥</m:t>
                                              </m:r>
                                            </m:e>
                                            <m:sub>
                                              <m:r>
                                                <a:rPr lang="en-US" sz="2000" b="0" i="1" dirty="0" smtClean="0">
                                                  <a:latin typeface="Cambria Math" panose="02040503050406030204" pitchFamily="18" charset="0"/>
                                                </a:rPr>
                                                <m:t>𝑖</m:t>
                                              </m:r>
                                            </m:sub>
                                          </m:sSub>
                                        </m:e>
                                      </m:nary>
                                    </m:e>
                                  </m:d>
                                </m:e>
                                <m:sup>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r>
                                        <a:rPr lang="en-US" sz="2000" b="0" i="1" dirty="0" smtClean="0">
                                          <a:latin typeface="Cambria Math" panose="02040503050406030204" pitchFamily="18" charset="0"/>
                                        </a:rPr>
                                        <m:t>𝑛</m:t>
                                      </m:r>
                                    </m:den>
                                  </m:f>
                                </m:sup>
                              </m:sSup>
                            </m:e>
                          </m:d>
                        </m:e>
                      </m:func>
                    </m:oMath>
                  </m:oMathPara>
                </a14:m>
                <a:endParaRPr lang="en-US" b="0" dirty="0"/>
              </a:p>
              <a:p>
                <a:pPr marL="0" indent="0">
                  <a:buNone/>
                </a:pPr>
                <a:endParaRPr lang="en-US" dirty="0"/>
              </a:p>
            </p:txBody>
          </p:sp>
        </mc:Choice>
        <mc:Fallback>
          <p:sp>
            <p:nvSpPr>
              <p:cNvPr id="3" name="Content Placeholder 2">
                <a:extLst>
                  <a:ext uri="{FF2B5EF4-FFF2-40B4-BE49-F238E27FC236}">
                    <a16:creationId xmlns:a16="http://schemas.microsoft.com/office/drawing/2014/main" id="{14EBA57F-9640-4F89-61BE-D32907CCA314}"/>
                  </a:ext>
                </a:extLst>
              </p:cNvPr>
              <p:cNvSpPr>
                <a:spLocks noGrp="1" noRot="1" noChangeAspect="1" noMove="1" noResize="1" noEditPoints="1" noAdjustHandles="1" noChangeArrowheads="1" noChangeShapeType="1" noTextEdit="1"/>
              </p:cNvSpPr>
              <p:nvPr>
                <p:ph idx="1"/>
              </p:nvPr>
            </p:nvSpPr>
            <p:spPr>
              <a:blipFill>
                <a:blip r:embed="rId2"/>
                <a:stretch>
                  <a:fillRect l="-1389" t="-1684" b="-3771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6596BFD-FAF0-1114-5CBF-2688F662F3AD}"/>
              </a:ext>
            </a:extLst>
          </p:cNvPr>
          <p:cNvSpPr>
            <a:spLocks noGrp="1"/>
          </p:cNvSpPr>
          <p:nvPr>
            <p:ph type="dt" sz="half" idx="10"/>
          </p:nvPr>
        </p:nvSpPr>
        <p:spPr/>
        <p:txBody>
          <a:bodyPr/>
          <a:lstStyle/>
          <a:p>
            <a:pPr>
              <a:defRPr/>
            </a:pPr>
            <a:r>
              <a:rPr lang="en-US"/>
              <a:t>November 27, 2023</a:t>
            </a:r>
            <a:endParaRPr lang="en-US" dirty="0"/>
          </a:p>
        </p:txBody>
      </p:sp>
      <p:sp>
        <p:nvSpPr>
          <p:cNvPr id="5" name="Footer Placeholder 4">
            <a:extLst>
              <a:ext uri="{FF2B5EF4-FFF2-40B4-BE49-F238E27FC236}">
                <a16:creationId xmlns:a16="http://schemas.microsoft.com/office/drawing/2014/main" id="{8B06DCCA-5D0D-CFF1-C397-DE2C88A56164}"/>
              </a:ext>
            </a:extLst>
          </p:cNvPr>
          <p:cNvSpPr>
            <a:spLocks noGrp="1"/>
          </p:cNvSpPr>
          <p:nvPr>
            <p:ph type="ftr" sz="quarter" idx="11"/>
          </p:nvPr>
        </p:nvSpPr>
        <p:spPr/>
        <p:txBody>
          <a:bodyPr/>
          <a:lstStyle/>
          <a:p>
            <a:pPr>
              <a:defRPr/>
            </a:pPr>
            <a:r>
              <a:rPr lang="fr-FR"/>
              <a:t>ST 551: Lecture 21</a:t>
            </a:r>
            <a:endParaRPr lang="en-US" dirty="0"/>
          </a:p>
        </p:txBody>
      </p:sp>
      <p:sp>
        <p:nvSpPr>
          <p:cNvPr id="6" name="Slide Number Placeholder 5">
            <a:extLst>
              <a:ext uri="{FF2B5EF4-FFF2-40B4-BE49-F238E27FC236}">
                <a16:creationId xmlns:a16="http://schemas.microsoft.com/office/drawing/2014/main" id="{3A93A329-F4BF-610A-6358-88A26391DE59}"/>
              </a:ext>
            </a:extLst>
          </p:cNvPr>
          <p:cNvSpPr>
            <a:spLocks noGrp="1"/>
          </p:cNvSpPr>
          <p:nvPr>
            <p:ph type="sldNum" sz="quarter" idx="12"/>
          </p:nvPr>
        </p:nvSpPr>
        <p:spPr/>
        <p:txBody>
          <a:bodyPr/>
          <a:lstStyle/>
          <a:p>
            <a:fld id="{B522ACB8-DB67-7244-B790-A204734E98A7}" type="slidenum">
              <a:rPr lang="en-US" altLang="en-US" smtClean="0"/>
              <a:pPr/>
              <a:t>14</a:t>
            </a:fld>
            <a:endParaRPr lang="en-US" altLang="en-US"/>
          </a:p>
        </p:txBody>
      </p:sp>
      <p:sp>
        <p:nvSpPr>
          <p:cNvPr id="7" name="Rounded Rectangular Callout 6">
            <a:extLst>
              <a:ext uri="{FF2B5EF4-FFF2-40B4-BE49-F238E27FC236}">
                <a16:creationId xmlns:a16="http://schemas.microsoft.com/office/drawing/2014/main" id="{340839A3-FE00-2B15-B2C9-7DF8A506C4FE}"/>
              </a:ext>
            </a:extLst>
          </p:cNvPr>
          <p:cNvSpPr/>
          <p:nvPr/>
        </p:nvSpPr>
        <p:spPr>
          <a:xfrm>
            <a:off x="6543304" y="1410230"/>
            <a:ext cx="2143496" cy="2508627"/>
          </a:xfrm>
          <a:prstGeom prst="wedgeRoundRectCallout">
            <a:avLst>
              <a:gd name="adj1" fmla="val -87315"/>
              <a:gd name="adj2" fmla="val 52861"/>
              <a:gd name="adj3" fmla="val 16667"/>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So we see that the </a:t>
            </a:r>
            <a:r>
              <a:rPr lang="en-US" b="1" dirty="0">
                <a:solidFill>
                  <a:schemeClr val="tx1"/>
                </a:solidFill>
              </a:rPr>
              <a:t>arithmetic mean </a:t>
            </a:r>
            <a:r>
              <a:rPr lang="en-US" dirty="0">
                <a:solidFill>
                  <a:schemeClr val="tx1"/>
                </a:solidFill>
              </a:rPr>
              <a:t>of the log-transformed data is the log of the </a:t>
            </a:r>
            <a:r>
              <a:rPr lang="en-US" b="1" dirty="0">
                <a:solidFill>
                  <a:schemeClr val="tx1"/>
                </a:solidFill>
              </a:rPr>
              <a:t>geometric mean </a:t>
            </a:r>
            <a:r>
              <a:rPr lang="en-US" dirty="0">
                <a:solidFill>
                  <a:schemeClr val="tx1"/>
                </a:solidFill>
              </a:rPr>
              <a:t>of the original data.</a:t>
            </a:r>
          </a:p>
        </p:txBody>
      </p:sp>
    </p:spTree>
    <p:extLst>
      <p:ext uri="{BB962C8B-B14F-4D97-AF65-F5344CB8AC3E}">
        <p14:creationId xmlns:p14="http://schemas.microsoft.com/office/powerpoint/2010/main" val="2223134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3FD3-9C58-D4B2-D183-FB6EB46D4420}"/>
              </a:ext>
            </a:extLst>
          </p:cNvPr>
          <p:cNvSpPr>
            <a:spLocks noGrp="1"/>
          </p:cNvSpPr>
          <p:nvPr>
            <p:ph type="title"/>
          </p:nvPr>
        </p:nvSpPr>
        <p:spPr/>
        <p:txBody>
          <a:bodyPr/>
          <a:lstStyle/>
          <a:p>
            <a:r>
              <a:rPr lang="en-US" dirty="0"/>
              <a:t>Interpreting inference on log-transformed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B08188F-DE4C-D231-5560-DE09360FC86A}"/>
                  </a:ext>
                </a:extLst>
              </p:cNvPr>
              <p:cNvSpPr>
                <a:spLocks noGrp="1"/>
              </p:cNvSpPr>
              <p:nvPr>
                <p:ph idx="1"/>
              </p:nvPr>
            </p:nvSpPr>
            <p:spPr/>
            <p:txBody>
              <a:bodyPr/>
              <a:lstStyle/>
              <a:p>
                <a:r>
                  <a:rPr lang="en-US" dirty="0"/>
                  <a:t>Testing equality of two population means on log-transformed data is equivalent to testing equality of the population </a:t>
                </a:r>
                <a:r>
                  <a:rPr lang="en-US" b="1" i="1" dirty="0"/>
                  <a:t>geometric means</a:t>
                </a:r>
                <a:r>
                  <a:rPr lang="en-US" dirty="0"/>
                  <a:t> on the original scale.</a:t>
                </a:r>
              </a:p>
              <a:p>
                <a:r>
                  <a:rPr lang="en-US" dirty="0"/>
                  <a:t>CAREFUL: If you shift the data before log-transforming (as is often done to deal with negative values), interpretation is challenging/impossible</a:t>
                </a:r>
              </a:p>
              <a:p>
                <a:pPr lvl="1"/>
                <a:r>
                  <a:rPr lang="en-US" dirty="0"/>
                  <a:t>The geometric mean of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𝛿</m:t>
                        </m:r>
                      </m:e>
                    </m:d>
                  </m:oMath>
                </a14:m>
                <a:r>
                  <a:rPr lang="en-US" dirty="0"/>
                  <a:t> is impossible to convert to the geometric mean of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pPr lvl="1"/>
                <a:r>
                  <a:rPr lang="en-US" dirty="0"/>
                  <a:t>You get very different results depending upon the value of </a:t>
                </a:r>
                <a14:m>
                  <m:oMath xmlns:m="http://schemas.openxmlformats.org/officeDocument/2006/math">
                    <m:r>
                      <a:rPr lang="en-US" b="0" i="1" smtClean="0">
                        <a:latin typeface="Cambria Math" panose="02040503050406030204" pitchFamily="18" charset="0"/>
                      </a:rPr>
                      <m:t>𝛿</m:t>
                    </m:r>
                  </m:oMath>
                </a14:m>
                <a:r>
                  <a:rPr lang="en-US" dirty="0"/>
                  <a:t> chosen.</a:t>
                </a:r>
              </a:p>
            </p:txBody>
          </p:sp>
        </mc:Choice>
        <mc:Fallback>
          <p:sp>
            <p:nvSpPr>
              <p:cNvPr id="3" name="Content Placeholder 2">
                <a:extLst>
                  <a:ext uri="{FF2B5EF4-FFF2-40B4-BE49-F238E27FC236}">
                    <a16:creationId xmlns:a16="http://schemas.microsoft.com/office/drawing/2014/main" id="{BB08188F-DE4C-D231-5560-DE09360FC86A}"/>
                  </a:ext>
                </a:extLst>
              </p:cNvPr>
              <p:cNvSpPr>
                <a:spLocks noGrp="1" noRot="1" noChangeAspect="1" noMove="1" noResize="1" noEditPoints="1" noAdjustHandles="1" noChangeArrowheads="1" noChangeShapeType="1" noTextEdit="1"/>
              </p:cNvSpPr>
              <p:nvPr>
                <p:ph idx="1"/>
              </p:nvPr>
            </p:nvSpPr>
            <p:spPr>
              <a:blipFill>
                <a:blip r:embed="rId2"/>
                <a:stretch>
                  <a:fillRect l="-1389" t="-1684" r="-926" b="-1447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9D648E9-43F5-C03D-70A3-90CED97FB905}"/>
              </a:ext>
            </a:extLst>
          </p:cNvPr>
          <p:cNvSpPr>
            <a:spLocks noGrp="1"/>
          </p:cNvSpPr>
          <p:nvPr>
            <p:ph type="dt" sz="half" idx="10"/>
          </p:nvPr>
        </p:nvSpPr>
        <p:spPr/>
        <p:txBody>
          <a:bodyPr/>
          <a:lstStyle/>
          <a:p>
            <a:pPr>
              <a:defRPr/>
            </a:pPr>
            <a:r>
              <a:rPr lang="en-US"/>
              <a:t>November 27, 2023</a:t>
            </a:r>
            <a:endParaRPr lang="en-US" dirty="0"/>
          </a:p>
        </p:txBody>
      </p:sp>
      <p:sp>
        <p:nvSpPr>
          <p:cNvPr id="5" name="Footer Placeholder 4">
            <a:extLst>
              <a:ext uri="{FF2B5EF4-FFF2-40B4-BE49-F238E27FC236}">
                <a16:creationId xmlns:a16="http://schemas.microsoft.com/office/drawing/2014/main" id="{2452F1AE-CBEB-229E-425D-318C267D0155}"/>
              </a:ext>
            </a:extLst>
          </p:cNvPr>
          <p:cNvSpPr>
            <a:spLocks noGrp="1"/>
          </p:cNvSpPr>
          <p:nvPr>
            <p:ph type="ftr" sz="quarter" idx="11"/>
          </p:nvPr>
        </p:nvSpPr>
        <p:spPr/>
        <p:txBody>
          <a:bodyPr/>
          <a:lstStyle/>
          <a:p>
            <a:pPr>
              <a:defRPr/>
            </a:pPr>
            <a:r>
              <a:rPr lang="fr-FR"/>
              <a:t>ST 551: Lecture 21</a:t>
            </a:r>
            <a:endParaRPr lang="en-US" dirty="0"/>
          </a:p>
        </p:txBody>
      </p:sp>
      <p:sp>
        <p:nvSpPr>
          <p:cNvPr id="6" name="Slide Number Placeholder 5">
            <a:extLst>
              <a:ext uri="{FF2B5EF4-FFF2-40B4-BE49-F238E27FC236}">
                <a16:creationId xmlns:a16="http://schemas.microsoft.com/office/drawing/2014/main" id="{D6113321-8240-C6DC-35FE-AB0B79F8453C}"/>
              </a:ext>
            </a:extLst>
          </p:cNvPr>
          <p:cNvSpPr>
            <a:spLocks noGrp="1"/>
          </p:cNvSpPr>
          <p:nvPr>
            <p:ph type="sldNum" sz="quarter" idx="12"/>
          </p:nvPr>
        </p:nvSpPr>
        <p:spPr/>
        <p:txBody>
          <a:bodyPr/>
          <a:lstStyle/>
          <a:p>
            <a:fld id="{B522ACB8-DB67-7244-B790-A204734E98A7}" type="slidenum">
              <a:rPr lang="en-US" altLang="en-US" smtClean="0"/>
              <a:pPr/>
              <a:t>15</a:t>
            </a:fld>
            <a:endParaRPr lang="en-US" altLang="en-US"/>
          </a:p>
        </p:txBody>
      </p:sp>
    </p:spTree>
    <p:extLst>
      <p:ext uri="{BB962C8B-B14F-4D97-AF65-F5344CB8AC3E}">
        <p14:creationId xmlns:p14="http://schemas.microsoft.com/office/powerpoint/2010/main" val="830840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35082</TotalTime>
  <Words>944</Words>
  <Application>Microsoft Macintosh PowerPoint</Application>
  <PresentationFormat>On-screen Show (16:10)</PresentationFormat>
  <Paragraphs>119</Paragraphs>
  <Slides>15</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0" baseType="lpstr">
      <vt:lpstr>Arial</vt:lpstr>
      <vt:lpstr>Calibri</vt:lpstr>
      <vt:lpstr>Cambria Math</vt:lpstr>
      <vt:lpstr>Office Theme</vt:lpstr>
      <vt:lpstr>Equation</vt:lpstr>
      <vt:lpstr>ST 551: Statistical Methods I Fall 2023</vt:lpstr>
      <vt:lpstr>Transformations</vt:lpstr>
      <vt:lpstr>Transformations</vt:lpstr>
      <vt:lpstr>Transformations</vt:lpstr>
      <vt:lpstr>Transformations</vt:lpstr>
      <vt:lpstr>Transformations</vt:lpstr>
      <vt:lpstr>Transformations</vt:lpstr>
      <vt:lpstr>Transformations</vt:lpstr>
      <vt:lpstr>Transformations</vt:lpstr>
      <vt:lpstr>Transformations</vt:lpstr>
      <vt:lpstr>Transformations</vt:lpstr>
      <vt:lpstr>Interpreting inference on log-transformed data</vt:lpstr>
      <vt:lpstr>Interpreting inference on log-transformed data</vt:lpstr>
      <vt:lpstr>Interpreting inference on log-transformed data</vt:lpstr>
      <vt:lpstr>Interpreting inference on log-transformed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 551: Statistical Methods I Fall 2015</dc:title>
  <dc:creator>Sarah Emerson</dc:creator>
  <cp:lastModifiedBy>Sarah Emerson</cp:lastModifiedBy>
  <cp:revision>402</cp:revision>
  <cp:lastPrinted>2016-11-18T18:19:05Z</cp:lastPrinted>
  <dcterms:created xsi:type="dcterms:W3CDTF">2015-09-28T05:53:25Z</dcterms:created>
  <dcterms:modified xsi:type="dcterms:W3CDTF">2023-11-30T19:27:37Z</dcterms:modified>
</cp:coreProperties>
</file>