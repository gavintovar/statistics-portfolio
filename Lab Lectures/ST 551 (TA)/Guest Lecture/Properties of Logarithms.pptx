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9F93"/>
    <a:srgbClr val="FFCC7F"/>
    <a:srgbClr val="E6F3FF"/>
    <a:srgbClr val="93C4A9"/>
    <a:srgbClr val="D0D1F3"/>
    <a:srgbClr val="A388BF"/>
    <a:srgbClr val="FFBFFF"/>
    <a:srgbClr val="DFBFFF"/>
    <a:srgbClr val="FFE6E6"/>
    <a:srgbClr val="FFF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485"/>
  </p:normalViewPr>
  <p:slideViewPr>
    <p:cSldViewPr snapToGrid="0" showGuides="1">
      <p:cViewPr varScale="1">
        <p:scale>
          <a:sx n="98" d="100"/>
          <a:sy n="98" d="100"/>
        </p:scale>
        <p:origin x="480" y="200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04C36-2572-74E0-F2A9-04BD17BEE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E2250-5B4F-6342-3DF1-C9815B9E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151A8-072E-7BEE-E338-3C8DB38A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AF5F6-D59C-B0D5-7A9A-F25EBB220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882BA-0EDB-21CA-07A5-DA3FC14C4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43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19C9-FDA3-0AFD-1C2E-A0EE36DD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AB41-1B56-2590-4D38-E4D2DC8D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92687-D1C0-0798-9389-DEC9ECDF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71B09-1649-540A-AD7F-DAB651EE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C11BF-0516-01BF-2674-89D8B43F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5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F525-F950-798F-580B-01BA22E45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1D115-D4DA-E59F-E120-B1A713379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92603-C66B-B137-1C4E-F3C8E2DE9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3CE10-1283-5C0B-2369-5522559B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EC287-5FAC-FCE6-0268-5612F094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00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0DC4-C5A8-D323-E34A-32278AF58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5787C-A6E6-C007-1C29-4A43FF37C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52CD0-83A9-AB60-86BE-59A00F5EF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E05F1-4696-52B6-06FD-81A3C6E24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9C9DF-298B-0CD2-1719-4EA8E150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8DCAE-04A2-D17C-7296-5377C15A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9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C1D7-E23E-9440-6E58-ED772D78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AD14E-707B-EFB5-4F95-6BC66D8C6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D24D4-C574-6171-17A4-7A1007142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B66C40-D7E5-0C5B-519F-C7A188B57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EFA5D-E671-E4F4-E107-AE8E34D27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A120A-1157-02C0-7A1F-3B53BBF6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A5C17A-A262-0BFB-FE36-836E8BEB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D32C78-BD06-FD40-269F-87F04B6E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2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9139F-2A1B-E3FE-6CDD-F1D65E93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51B31E-7592-0607-840C-9B42BDA02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80180-B69D-00E5-48F6-44626B53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389D9-753F-6B54-D2AA-178D20A0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35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4085AD-5224-AF5D-CB6E-91D8DCF2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53109-92FB-E8E8-D8D4-E71535CD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0B43A-5F2A-66DB-A929-DFE1123F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2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102A2-A40D-6673-F710-B02360428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467D6-B84D-5AF7-770D-E46779D65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6170D-7ADE-12FC-96F3-FDC4815BB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5C2F4-019C-D9F2-1707-C02847018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923A6-6714-C7D0-954B-235006B7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34BDF-0EE8-B79B-B406-0D86E622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7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9A8F-7221-D738-D34A-A8D5333AA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5361B-4030-1FD6-8BD4-AD745279F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D06B8-5A24-6054-A278-1515CF57D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16E91-731A-375B-B4EE-AA006EFF3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16D0E-4EC6-6E1E-D49E-DDF41F86E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A4D09-A43B-0D50-916C-B83A8776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5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550A-48D3-83E0-E69B-AAB3EEB3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11D0B-B882-662C-F0D9-B7AF4763D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FBDEC-EAEC-E73B-2043-8DD0124A5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C7AA0-F8A0-1E97-A252-42B506C0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314C7-224A-D255-9AAD-1727C7A8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9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CB5A1-C10C-6615-D28C-4B154F686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A22C9-8E31-15B7-71DE-9BA8CB537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BE2ED-C227-0D3B-B78E-F02F3B04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267FB-BBFA-E34C-D4AE-5E4CEA63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DC09F-2AEB-9A7B-C230-9A62FBF7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23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255E57-33CF-C415-D2D2-1FCDECC7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F81-9CB0-1703-6859-E53F63573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D94DF-EAE5-56B2-B54A-FEBA843C0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082ED-8E32-AF4A-AF6D-D4C74BD21698}" type="datetimeFigureOut">
              <a:rPr lang="en-US" smtClean="0"/>
              <a:t>11/8/24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C83F8-CB40-44C3-BEA6-32B782982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A13F5-4D66-8F4D-8FFE-B620CD535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42D6C-FEDC-B246-8081-47020B80B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50C16-8385-254A-ACDA-8797C259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Properties of Logarithms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92BB47A-A756-79E2-0E0D-DE6310F36A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0129083"/>
                  </p:ext>
                </p:extLst>
              </p:nvPr>
            </p:nvGraphicFramePr>
            <p:xfrm>
              <a:off x="609600" y="1614116"/>
              <a:ext cx="10972800" cy="437208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31520">
                      <a:extLst>
                        <a:ext uri="{9D8B030D-6E8A-4147-A177-3AD203B41FA5}">
                          <a16:colId xmlns:a16="http://schemas.microsoft.com/office/drawing/2014/main" val="3112954494"/>
                        </a:ext>
                      </a:extLst>
                    </a:gridCol>
                    <a:gridCol w="4754880">
                      <a:extLst>
                        <a:ext uri="{9D8B030D-6E8A-4147-A177-3AD203B41FA5}">
                          <a16:colId xmlns:a16="http://schemas.microsoft.com/office/drawing/2014/main" val="644692040"/>
                        </a:ext>
                      </a:extLst>
                    </a:gridCol>
                    <a:gridCol w="4754880">
                      <a:extLst>
                        <a:ext uri="{9D8B030D-6E8A-4147-A177-3AD203B41FA5}">
                          <a16:colId xmlns:a16="http://schemas.microsoft.com/office/drawing/2014/main" val="3633946186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974034807"/>
                        </a:ext>
                      </a:extLst>
                    </a:gridCol>
                  </a:tblGrid>
                  <a:tr h="714485">
                    <a:tc gridSpan="4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⇔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⇔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9872238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(1)</a:t>
                          </a:r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F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F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∗</m:t>
                                        </m:r>
                                        <m: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FFE6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(2)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FF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2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(3)</a:t>
                          </a:r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FFF5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FFF5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𝑏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FFFBE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(4)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FFFB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77046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(5)</a:t>
                          </a:r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BFFFC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𝑧𝑥</m:t>
                                    </m:r>
                                  </m:sup>
                                </m:sSup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𝑧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BFFFC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E6FFE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(6)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E6FFE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168751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(7)</a:t>
                          </a:r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BFD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𝑧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1/</m:t>
                                    </m:r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m:rPr>
                                        <m:brk m:alnAt="7"/>
                                      </m:r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deg>
                                  <m:e>
                                    <m:sSup>
                                      <m:sSup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𝑧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BFD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  <m:func>
                                  <m:funcPr>
                                    <m:ctrlP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1/</m:t>
                                            </m:r>
                                            <m:r>
                                              <a:rPr lang="en-US" sz="2400" b="0" i="1" kern="100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ad>
                                      <m:rad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deg>
                                      <m:e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</m:rad>
                                  </m:e>
                                </m:fun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E6F3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(8)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E6F3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84291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92BB47A-A756-79E2-0E0D-DE6310F36A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0129083"/>
                  </p:ext>
                </p:extLst>
              </p:nvPr>
            </p:nvGraphicFramePr>
            <p:xfrm>
              <a:off x="609600" y="1614116"/>
              <a:ext cx="10972800" cy="437208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31520">
                      <a:extLst>
                        <a:ext uri="{9D8B030D-6E8A-4147-A177-3AD203B41FA5}">
                          <a16:colId xmlns:a16="http://schemas.microsoft.com/office/drawing/2014/main" val="3112954494"/>
                        </a:ext>
                      </a:extLst>
                    </a:gridCol>
                    <a:gridCol w="4754880">
                      <a:extLst>
                        <a:ext uri="{9D8B030D-6E8A-4147-A177-3AD203B41FA5}">
                          <a16:colId xmlns:a16="http://schemas.microsoft.com/office/drawing/2014/main" val="644692040"/>
                        </a:ext>
                      </a:extLst>
                    </a:gridCol>
                    <a:gridCol w="4754880">
                      <a:extLst>
                        <a:ext uri="{9D8B030D-6E8A-4147-A177-3AD203B41FA5}">
                          <a16:colId xmlns:a16="http://schemas.microsoft.com/office/drawing/2014/main" val="3633946186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974034807"/>
                        </a:ext>
                      </a:extLst>
                    </a:gridCol>
                  </a:tblGrid>
                  <a:tr h="714485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" t="-1786" r="-231" b="-5178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sup>
                                </m:sSup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⇔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2400" b="0" i="1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kern="100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kern="100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9872238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(1)</a:t>
                          </a:r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F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blipFill>
                          <a:blip r:embed="rId2"/>
                          <a:stretch>
                            <a:fillRect l="-15775" t="-78082" r="-116043" b="-297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mpd="sng">
                          <a:noFill/>
                        </a:lnR>
                        <a:blipFill>
                          <a:blip r:embed="rId2"/>
                          <a:stretch>
                            <a:fillRect l="-115775" t="-78082" r="-16043" b="-297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(2)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FF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342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(3)</a:t>
                          </a:r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FFF5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blipFill>
                          <a:blip r:embed="rId2"/>
                          <a:stretch>
                            <a:fillRect l="-15775" t="-180556" r="-116043" b="-2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mpd="sng">
                          <a:noFill/>
                        </a:lnR>
                        <a:blipFill>
                          <a:blip r:embed="rId2"/>
                          <a:stretch>
                            <a:fillRect l="-115775" t="-180556" r="-16043" b="-2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(4)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FFFB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77046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(5)</a:t>
                          </a:r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BFFFC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blipFill>
                          <a:blip r:embed="rId2"/>
                          <a:stretch>
                            <a:fillRect l="-15775" t="-280556" r="-116043" b="-1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mpd="sng">
                          <a:noFill/>
                        </a:lnR>
                        <a:blipFill>
                          <a:blip r:embed="rId2"/>
                          <a:stretch>
                            <a:fillRect l="-115775" t="-280556" r="-16043" b="-10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(6)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E6FFE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168751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(7)</a:t>
                          </a:r>
                        </a:p>
                      </a:txBody>
                      <a:tcPr anchor="ctr">
                        <a:lnR w="12700" cmpd="sng">
                          <a:noFill/>
                        </a:lnR>
                        <a:solidFill>
                          <a:srgbClr val="BFD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blipFill>
                          <a:blip r:embed="rId2"/>
                          <a:stretch>
                            <a:fillRect l="-15775" t="-380556" r="-116043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R w="12700" cmpd="sng">
                          <a:noFill/>
                        </a:lnR>
                        <a:blipFill>
                          <a:blip r:embed="rId2"/>
                          <a:stretch>
                            <a:fillRect l="-115775" t="-380556" r="-16043" b="-13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/>
                            <a:t>(8)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solidFill>
                          <a:srgbClr val="E6F3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84291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2871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A7BED29-4408-D92D-6B57-558B5A518BD7}"/>
              </a:ext>
            </a:extLst>
          </p:cNvPr>
          <p:cNvSpPr/>
          <p:nvPr/>
        </p:nvSpPr>
        <p:spPr>
          <a:xfrm>
            <a:off x="1658983" y="1690688"/>
            <a:ext cx="8830491" cy="712878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0E385-A0E3-6439-3743-DEDF34F1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Mean of logs = log(Geometric Mean)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800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800" i="1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en-US" sz="2800" i="1" kern="10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800" i="1" kern="10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 kern="10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 kern="10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solidFill>
                    <a:schemeClr val="bg1">
                      <a:lumMod val="85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solidFill>
                    <a:schemeClr val="bg1">
                      <a:lumMod val="85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kern="100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800" i="1" kern="10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2800" i="1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800" b="0" i="1" kern="10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0465" b="-35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174D5B-F4F8-FE3C-F5EA-0E31FC595583}"/>
              </a:ext>
            </a:extLst>
          </p:cNvPr>
          <p:cNvSpPr/>
          <p:nvPr/>
        </p:nvSpPr>
        <p:spPr>
          <a:xfrm>
            <a:off x="3918857" y="2926080"/>
            <a:ext cx="4650377" cy="8030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Applying Property (2): the sum of logs is the log of the product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FEED70-D489-BAC2-0DCD-3ECC9F83C03B}"/>
              </a:ext>
            </a:extLst>
          </p:cNvPr>
          <p:cNvCxnSpPr/>
          <p:nvPr/>
        </p:nvCxnSpPr>
        <p:spPr>
          <a:xfrm flipH="1" flipV="1">
            <a:off x="6096000" y="2403566"/>
            <a:ext cx="161109" cy="496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054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18308F-6F45-B082-288A-78F488C12DF3}"/>
              </a:ext>
            </a:extLst>
          </p:cNvPr>
          <p:cNvSpPr/>
          <p:nvPr/>
        </p:nvSpPr>
        <p:spPr>
          <a:xfrm>
            <a:off x="7811587" y="1854924"/>
            <a:ext cx="2364379" cy="418011"/>
          </a:xfrm>
          <a:prstGeom prst="roundRect">
            <a:avLst/>
          </a:prstGeom>
          <a:solidFill>
            <a:srgbClr val="93C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BF0576-91BF-8E2C-E83B-3403FA90FE8E}"/>
              </a:ext>
            </a:extLst>
          </p:cNvPr>
          <p:cNvSpPr/>
          <p:nvPr/>
        </p:nvSpPr>
        <p:spPr>
          <a:xfrm>
            <a:off x="1763486" y="1690688"/>
            <a:ext cx="5055325" cy="699815"/>
          </a:xfrm>
          <a:prstGeom prst="roundRect">
            <a:avLst/>
          </a:prstGeom>
          <a:solidFill>
            <a:srgbClr val="D0D1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150A73-76B0-103F-8CDC-238F86BF5235}"/>
              </a:ext>
            </a:extLst>
          </p:cNvPr>
          <p:cNvSpPr/>
          <p:nvPr/>
        </p:nvSpPr>
        <p:spPr>
          <a:xfrm>
            <a:off x="2081352" y="2729185"/>
            <a:ext cx="1654626" cy="1268049"/>
          </a:xfrm>
          <a:prstGeom prst="roundRect">
            <a:avLst/>
          </a:prstGeom>
          <a:solidFill>
            <a:srgbClr val="D0D1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E348865-7DC6-5A72-05A4-B989A9D739D3}"/>
              </a:ext>
            </a:extLst>
          </p:cNvPr>
          <p:cNvSpPr/>
          <p:nvPr/>
        </p:nvSpPr>
        <p:spPr>
          <a:xfrm>
            <a:off x="8660674" y="2729185"/>
            <a:ext cx="1345476" cy="1268049"/>
          </a:xfrm>
          <a:prstGeom prst="roundRect">
            <a:avLst/>
          </a:prstGeom>
          <a:solidFill>
            <a:srgbClr val="93C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800" i="1" kern="100" smtClean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en-US" sz="280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en-US" sz="2800" i="1" kern="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800" i="1" kern="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 kern="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 kern="100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800" i="1" kern="100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kern="100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800" i="1" kern="10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2800" i="1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800" b="0" i="1" kern="10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kern="100" dirty="0">
                  <a:solidFill>
                    <a:schemeClr val="bg1">
                      <a:lumMod val="85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0465" b="-35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919984E-9694-DBD4-3E1A-2D5E4BE236CA}"/>
              </a:ext>
            </a:extLst>
          </p:cNvPr>
          <p:cNvSpPr/>
          <p:nvPr/>
        </p:nvSpPr>
        <p:spPr>
          <a:xfrm>
            <a:off x="4576355" y="3017867"/>
            <a:ext cx="1772194" cy="144963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Expressing the sum using summation notation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97EA812-C9D7-0068-D97B-74961884F707}"/>
              </a:ext>
            </a:extLst>
          </p:cNvPr>
          <p:cNvSpPr/>
          <p:nvPr/>
        </p:nvSpPr>
        <p:spPr>
          <a:xfrm>
            <a:off x="6426927" y="3017867"/>
            <a:ext cx="1772194" cy="144963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Expressing the product using product notation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0E385-A0E3-6439-3743-DEDF34F1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Mean of logs = log(Geometric Mean)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A9931C-238B-1E64-B0F0-986CCBA7AC66}"/>
              </a:ext>
            </a:extLst>
          </p:cNvPr>
          <p:cNvCxnSpPr>
            <a:cxnSpLocks/>
            <a:stCxn id="14" idx="1"/>
            <a:endCxn id="4" idx="2"/>
          </p:cNvCxnSpPr>
          <p:nvPr/>
        </p:nvCxnSpPr>
        <p:spPr>
          <a:xfrm flipH="1" flipV="1">
            <a:off x="4291149" y="2390503"/>
            <a:ext cx="285206" cy="1352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296818-3BF9-A75A-2A7A-BB4A7C4FA995}"/>
              </a:ext>
            </a:extLst>
          </p:cNvPr>
          <p:cNvCxnSpPr>
            <a:cxnSpLocks/>
            <a:stCxn id="14" idx="1"/>
            <a:endCxn id="11" idx="3"/>
          </p:cNvCxnSpPr>
          <p:nvPr/>
        </p:nvCxnSpPr>
        <p:spPr>
          <a:xfrm flipH="1" flipV="1">
            <a:off x="3735978" y="3363210"/>
            <a:ext cx="840377" cy="3794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C60847-4E2F-1F01-8F60-CCB5F9CB4423}"/>
              </a:ext>
            </a:extLst>
          </p:cNvPr>
          <p:cNvCxnSpPr>
            <a:cxnSpLocks/>
            <a:stCxn id="36" idx="3"/>
            <a:endCxn id="6" idx="2"/>
          </p:cNvCxnSpPr>
          <p:nvPr/>
        </p:nvCxnSpPr>
        <p:spPr>
          <a:xfrm flipV="1">
            <a:off x="8199121" y="2272935"/>
            <a:ext cx="794656" cy="14697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C8A240D-3B8D-F8BC-B63C-31DE136E9B89}"/>
              </a:ext>
            </a:extLst>
          </p:cNvPr>
          <p:cNvCxnSpPr>
            <a:cxnSpLocks/>
            <a:stCxn id="36" idx="3"/>
            <a:endCxn id="13" idx="1"/>
          </p:cNvCxnSpPr>
          <p:nvPr/>
        </p:nvCxnSpPr>
        <p:spPr>
          <a:xfrm flipV="1">
            <a:off x="8199121" y="3363210"/>
            <a:ext cx="461553" cy="3794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91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851985-127B-4510-C9C5-D1D61BE1DBE4}"/>
              </a:ext>
            </a:extLst>
          </p:cNvPr>
          <p:cNvSpPr/>
          <p:nvPr/>
        </p:nvSpPr>
        <p:spPr>
          <a:xfrm>
            <a:off x="1763485" y="2487522"/>
            <a:ext cx="8673737" cy="1561964"/>
          </a:xfrm>
          <a:prstGeom prst="roundRect">
            <a:avLst/>
          </a:prstGeom>
          <a:solidFill>
            <a:srgbClr val="E6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kern="100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800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800" i="1" kern="10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solidFill>
                                                    <a:schemeClr val="bg1">
                                                      <a:lumMod val="85000"/>
                                                    </a:schemeClr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2800" i="1" kern="10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kern="10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kern="10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800" b="0" i="1" kern="10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kern="1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kern="100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kern="100" dirty="0">
                  <a:solidFill>
                    <a:schemeClr val="bg1">
                      <a:lumMod val="85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0465" b="-35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490E385-A0E3-6439-3743-DEDF34F1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Mean of logs = log(Geometric Mean)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1DDCC2-3D3F-FB5D-806E-AA118F6C9B3E}"/>
              </a:ext>
            </a:extLst>
          </p:cNvPr>
          <p:cNvSpPr/>
          <p:nvPr/>
        </p:nvSpPr>
        <p:spPr>
          <a:xfrm>
            <a:off x="5114109" y="4646067"/>
            <a:ext cx="2338252" cy="40925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Applying Property (8)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B9FA4F-E673-3ECA-0E82-040CE577352B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H="1" flipV="1">
            <a:off x="6100354" y="4049486"/>
            <a:ext cx="182881" cy="5965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89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269D789-AEF9-09FD-ACCA-D33AA9DED0A0}"/>
              </a:ext>
            </a:extLst>
          </p:cNvPr>
          <p:cNvSpPr/>
          <p:nvPr/>
        </p:nvSpPr>
        <p:spPr>
          <a:xfrm>
            <a:off x="2758444" y="4120378"/>
            <a:ext cx="5079273" cy="166646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kern="10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800" b="0" i="1" kern="10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0465" b="-35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490E385-A0E3-6439-3743-DEDF34F1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Mean of logs = log(Geometric Mean)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2607F51-46F4-4C6C-C0DF-5B053008DB8B}"/>
              </a:ext>
            </a:extLst>
          </p:cNvPr>
          <p:cNvSpPr/>
          <p:nvPr/>
        </p:nvSpPr>
        <p:spPr>
          <a:xfrm>
            <a:off x="4049486" y="2835093"/>
            <a:ext cx="3918858" cy="111161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Exponentiating both sides of the equation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55D182-3E27-2F05-76C4-4EFE80BC1FD8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258890" y="3946706"/>
            <a:ext cx="750025" cy="1736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09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66C660-D387-DDCB-7BEF-4720134D60E2}"/>
              </a:ext>
            </a:extLst>
          </p:cNvPr>
          <p:cNvSpPr/>
          <p:nvPr/>
        </p:nvSpPr>
        <p:spPr>
          <a:xfrm>
            <a:off x="3683727" y="4415246"/>
            <a:ext cx="1854926" cy="12148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kern="10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800" b="0" i="1" kern="10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0465" b="-35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490E385-A0E3-6439-3743-DEDF34F1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Mean of logs = log(Geometric Mean)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E7030C-3654-8857-3C18-DF72A38C1433}"/>
              </a:ext>
            </a:extLst>
          </p:cNvPr>
          <p:cNvSpPr/>
          <p:nvPr/>
        </p:nvSpPr>
        <p:spPr>
          <a:xfrm>
            <a:off x="4049486" y="2835093"/>
            <a:ext cx="3918858" cy="111161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Sample mean of log-transformed observations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D24F2C-2DB9-65C3-F0F9-E7EED47E1263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4611190" y="3933643"/>
            <a:ext cx="1371599" cy="481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06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66C660-D387-DDCB-7BEF-4720134D60E2}"/>
              </a:ext>
            </a:extLst>
          </p:cNvPr>
          <p:cNvSpPr/>
          <p:nvPr/>
        </p:nvSpPr>
        <p:spPr>
          <a:xfrm>
            <a:off x="6152608" y="4153987"/>
            <a:ext cx="1698172" cy="15675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kern="10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800" b="0" i="1" kern="10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0465" b="-35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490E385-A0E3-6439-3743-DEDF34F1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Mean of logs = log(Geometric Mean)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E7030C-3654-8857-3C18-DF72A38C1433}"/>
              </a:ext>
            </a:extLst>
          </p:cNvPr>
          <p:cNvSpPr/>
          <p:nvPr/>
        </p:nvSpPr>
        <p:spPr>
          <a:xfrm>
            <a:off x="4049486" y="2835093"/>
            <a:ext cx="3918858" cy="111161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Geometric mean of original observations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D24F2C-2DB9-65C3-F0F9-E7EED47E1263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6008915" y="3946706"/>
            <a:ext cx="992779" cy="2072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80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66C660-D387-DDCB-7BEF-4720134D60E2}"/>
              </a:ext>
            </a:extLst>
          </p:cNvPr>
          <p:cNvSpPr/>
          <p:nvPr/>
        </p:nvSpPr>
        <p:spPr>
          <a:xfrm>
            <a:off x="2847703" y="4153987"/>
            <a:ext cx="5003077" cy="15675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kern="10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800" b="0" i="1" kern="10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0465" b="-35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490E385-A0E3-6439-3743-DEDF34F1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Mean of logs = log(Geometric Mean)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E7030C-3654-8857-3C18-DF72A38C1433}"/>
              </a:ext>
            </a:extLst>
          </p:cNvPr>
          <p:cNvSpPr/>
          <p:nvPr/>
        </p:nvSpPr>
        <p:spPr>
          <a:xfrm>
            <a:off x="4049486" y="2835093"/>
            <a:ext cx="3918858" cy="111161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 exponentiating the sample mean on the log-scale returns the geometric mean on the original scale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D24F2C-2DB9-65C3-F0F9-E7EED47E1263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5349242" y="3946706"/>
            <a:ext cx="659673" cy="2072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62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66C660-D387-DDCB-7BEF-4720134D60E2}"/>
              </a:ext>
            </a:extLst>
          </p:cNvPr>
          <p:cNvSpPr/>
          <p:nvPr/>
        </p:nvSpPr>
        <p:spPr>
          <a:xfrm>
            <a:off x="7811588" y="4376057"/>
            <a:ext cx="1567543" cy="1319347"/>
          </a:xfrm>
          <a:prstGeom prst="roundRect">
            <a:avLst/>
          </a:prstGeom>
          <a:solidFill>
            <a:srgbClr val="EA9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AA66D98-8DAD-7A68-19A5-36C6F78E64E6}"/>
              </a:ext>
            </a:extLst>
          </p:cNvPr>
          <p:cNvSpPr/>
          <p:nvPr/>
        </p:nvSpPr>
        <p:spPr>
          <a:xfrm>
            <a:off x="2769327" y="4376056"/>
            <a:ext cx="3043645" cy="1319347"/>
          </a:xfrm>
          <a:prstGeom prst="roundRect">
            <a:avLst/>
          </a:prstGeom>
          <a:solidFill>
            <a:srgbClr val="EA9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∗…∗</m:t>
                              </m:r>
                              <m:sSub>
                                <m:sSub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kern="10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sz="2800" b="1" i="1" kern="10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≠</m:t>
                      </m:r>
                      <m:f>
                        <m:fPr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kern="100" smtClean="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29C6A0-2735-85E1-3A50-DD0689847D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0465" b="-35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490E385-A0E3-6439-3743-DEDF34F1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Mean of logs = log(Geometric Mean)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E7030C-3654-8857-3C18-DF72A38C1433}"/>
              </a:ext>
            </a:extLst>
          </p:cNvPr>
          <p:cNvSpPr/>
          <p:nvPr/>
        </p:nvSpPr>
        <p:spPr>
          <a:xfrm>
            <a:off x="4049486" y="2835093"/>
            <a:ext cx="3918858" cy="111161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Exponentiating the sample mean on the log-scale DOES NOT give the mean on the original scale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D24F2C-2DB9-65C3-F0F9-E7EED47E1263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6008915" y="3946706"/>
            <a:ext cx="2586445" cy="4293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701DFD-A681-8A84-36D7-FA5826D85F4A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 flipH="1">
            <a:off x="4291150" y="3946706"/>
            <a:ext cx="1717765" cy="429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005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13229</TotalTime>
  <Words>382</Words>
  <Application>Microsoft Macintosh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Properties of Logarithms</vt:lpstr>
      <vt:lpstr>Mean of logs = log(Geometric Mean)</vt:lpstr>
      <vt:lpstr>Mean of logs = log(Geometric Mean)</vt:lpstr>
      <vt:lpstr>Mean of logs = log(Geometric Mean)</vt:lpstr>
      <vt:lpstr>Mean of logs = log(Geometric Mean)</vt:lpstr>
      <vt:lpstr>Mean of logs = log(Geometric Mean)</vt:lpstr>
      <vt:lpstr>Mean of logs = log(Geometric Mean)</vt:lpstr>
      <vt:lpstr>Mean of logs = log(Geometric Mean)</vt:lpstr>
      <vt:lpstr>Mean of logs = log(Geometric Mean)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Emerson</dc:creator>
  <cp:lastModifiedBy>Sarah Emerson</cp:lastModifiedBy>
  <cp:revision>3</cp:revision>
  <dcterms:created xsi:type="dcterms:W3CDTF">2023-02-21T18:13:21Z</dcterms:created>
  <dcterms:modified xsi:type="dcterms:W3CDTF">2024-11-09T06:40:01Z</dcterms:modified>
</cp:coreProperties>
</file>