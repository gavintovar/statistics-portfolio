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338" r:id="rId2"/>
    <p:sldId id="339" r:id="rId3"/>
    <p:sldId id="476" r:id="rId4"/>
    <p:sldId id="479" r:id="rId5"/>
    <p:sldId id="478" r:id="rId6"/>
    <p:sldId id="480" r:id="rId7"/>
    <p:sldId id="477" r:id="rId8"/>
    <p:sldId id="481" r:id="rId9"/>
    <p:sldId id="482" r:id="rId10"/>
    <p:sldId id="484" r:id="rId11"/>
    <p:sldId id="483" r:id="rId12"/>
    <p:sldId id="485" r:id="rId13"/>
    <p:sldId id="534" r:id="rId14"/>
    <p:sldId id="486" r:id="rId15"/>
    <p:sldId id="487" r:id="rId16"/>
    <p:sldId id="489" r:id="rId17"/>
    <p:sldId id="488" r:id="rId18"/>
    <p:sldId id="504" r:id="rId19"/>
    <p:sldId id="505" r:id="rId20"/>
    <p:sldId id="506" r:id="rId21"/>
    <p:sldId id="492" r:id="rId22"/>
    <p:sldId id="510" r:id="rId23"/>
    <p:sldId id="511" r:id="rId24"/>
    <p:sldId id="507" r:id="rId25"/>
    <p:sldId id="508" r:id="rId26"/>
    <p:sldId id="512" r:id="rId27"/>
    <p:sldId id="490" r:id="rId28"/>
    <p:sldId id="493" r:id="rId29"/>
    <p:sldId id="494" r:id="rId30"/>
    <p:sldId id="495" r:id="rId31"/>
    <p:sldId id="496" r:id="rId32"/>
    <p:sldId id="497" r:id="rId33"/>
    <p:sldId id="513" r:id="rId34"/>
    <p:sldId id="499" r:id="rId35"/>
    <p:sldId id="514" r:id="rId36"/>
    <p:sldId id="515" r:id="rId37"/>
    <p:sldId id="516" r:id="rId38"/>
    <p:sldId id="517" r:id="rId39"/>
    <p:sldId id="518" r:id="rId40"/>
    <p:sldId id="519" r:id="rId41"/>
    <p:sldId id="520" r:id="rId42"/>
    <p:sldId id="521" r:id="rId43"/>
    <p:sldId id="522" r:id="rId44"/>
    <p:sldId id="523" r:id="rId45"/>
    <p:sldId id="524" r:id="rId46"/>
    <p:sldId id="525" r:id="rId47"/>
    <p:sldId id="526" r:id="rId48"/>
    <p:sldId id="527" r:id="rId49"/>
    <p:sldId id="528" r:id="rId50"/>
    <p:sldId id="529" r:id="rId51"/>
    <p:sldId id="530" r:id="rId52"/>
    <p:sldId id="531" r:id="rId53"/>
    <p:sldId id="532" r:id="rId54"/>
    <p:sldId id="533" r:id="rId55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9"/>
    <p:restoredTop sz="93980"/>
  </p:normalViewPr>
  <p:slideViewPr>
    <p:cSldViewPr snapToGrid="0" snapToObjects="1" showGuides="1">
      <p:cViewPr varScale="1">
        <p:scale>
          <a:sx n="92" d="100"/>
          <a:sy n="92" d="100"/>
        </p:scale>
        <p:origin x="16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538366-F7EA-8A42-BEBD-D194D9B4AF5A}" type="datetimeFigureOut">
              <a:rPr lang="en-US" altLang="en-US"/>
              <a:pPr/>
              <a:t>2/5/23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0F17F31-9730-3248-A4AC-F43FEBA1F0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7496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8C355B-3E4C-8D42-B9B1-5B2A07299C52}" type="datetimeFigureOut">
              <a:rPr lang="en-US" altLang="en-US"/>
              <a:pPr/>
              <a:t>2/5/23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87C6CFC-9B5C-4B41-BC10-750CA44470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845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7C6CFC-9B5C-4B41-BC10-750CA444707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845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8C7FA-7A60-D94A-9F8A-1120860CA7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84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56988F-FF43-2546-9019-8D9B0CEF78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80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1103AE-16A1-DD4B-9432-6B5FFEAF57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518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D57147-F2AF-4449-80F5-1070171555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9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FBE09-0204-FD40-A219-1D65318046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61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2310B-4C92-0E4C-BF0A-292838120A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955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25C9B5-DEB7-AC4B-BB12-D252845CD3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2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7994C9-DECD-864B-894B-5D1D6FA5BB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672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291C4-D04E-3145-B9FC-B08A127418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80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F234A-D031-2341-BE53-CD1AAD58B9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4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615E4-1356-CB41-9F32-D0E7D53CBF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147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3BE4223-2E89-4449-AC6A-D0A95350AD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oleObject" Target="../embeddings/oleObject8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oleObject" Target="../embeddings/oleObject12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oleObject" Target="../embeddings/oleObject16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ST 411/511: Methods of Data Analysis</a:t>
            </a:r>
            <a:br>
              <a:rPr lang="en-US" dirty="0">
                <a:ea typeface="+mj-ea"/>
                <a:cs typeface="+mj-cs"/>
              </a:rPr>
            </a:br>
            <a:r>
              <a:rPr lang="en-US" dirty="0">
                <a:ea typeface="+mj-ea"/>
                <a:cs typeface="+mj-cs"/>
              </a:rPr>
              <a:t>Winter 2023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ea typeface="+mn-ea"/>
                <a:cs typeface="+mn-cs"/>
              </a:rPr>
              <a:t>Lecture 11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ea typeface="+mn-ea"/>
                <a:cs typeface="+mn-cs"/>
              </a:rPr>
              <a:t>Monday, February 6, 2023</a:t>
            </a:r>
          </a:p>
        </p:txBody>
      </p:sp>
      <p:sp>
        <p:nvSpPr>
          <p:cNvPr id="15363" name="TextBox 8"/>
          <p:cNvSpPr txBox="1">
            <a:spLocks noChangeArrowheads="1"/>
          </p:cNvSpPr>
          <p:nvPr/>
        </p:nvSpPr>
        <p:spPr bwMode="auto">
          <a:xfrm>
            <a:off x="2295525" y="152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Today’s Outline: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 Resistance</a:t>
            </a:r>
          </a:p>
          <a:p>
            <a:pPr lvl="1"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Outliers</a:t>
            </a:r>
          </a:p>
          <a:p>
            <a:pPr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Transformations of data</a:t>
            </a:r>
          </a:p>
          <a:p>
            <a:pPr lvl="1"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Why?</a:t>
            </a:r>
          </a:p>
          <a:p>
            <a:pPr lvl="1"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How?</a:t>
            </a:r>
          </a:p>
          <a:p>
            <a:pPr lvl="1"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What do we learn?</a:t>
            </a:r>
          </a:p>
          <a:p>
            <a:pPr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‘Alternatives’ to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</a:t>
            </a:r>
          </a:p>
          <a:p>
            <a:pPr lvl="1" eaLnBrk="1" hangingPunct="1">
              <a:buFont typeface="Lucida Grande" charset="0"/>
              <a:buChar char="-"/>
            </a:pPr>
            <a:r>
              <a:rPr lang="en-US" altLang="en-US">
                <a:ea typeface="ＭＳ Ｐゴシック" charset="-128"/>
              </a:rPr>
              <a:t>Today: Wilcoxon Rank-Sum test introduction</a:t>
            </a:r>
          </a:p>
          <a:p>
            <a:pPr eaLnBrk="1" hangingPunct="1"/>
            <a:endParaRPr lang="en-US" altLang="en-US">
              <a:ea typeface="ＭＳ Ｐゴシック" charset="-128"/>
            </a:endParaRPr>
          </a:p>
          <a:p>
            <a:pPr lvl="1" eaLnBrk="1" hangingPunct="1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  <a:p>
            <a:pPr lvl="1" eaLnBrk="1" hangingPunct="1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C32D8F50-DBEF-DC41-9347-A5C5D117B07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Definition: A procedure is said to be </a:t>
            </a:r>
            <a:r>
              <a:rPr lang="en-US" u="sng" dirty="0"/>
              <a:t>resistant</a:t>
            </a:r>
            <a:r>
              <a:rPr lang="en-US" dirty="0"/>
              <a:t> if the results do not change very much when just a few of the values in the sample(s) change.</a:t>
            </a:r>
          </a:p>
          <a:p>
            <a:pPr>
              <a:defRPr/>
            </a:pPr>
            <a:r>
              <a:rPr lang="en-US" dirty="0"/>
              <a:t>Example: Suppose you had the following sample data: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dirty="0"/>
              <a:t>4, 7, 9, 10, 15</a:t>
            </a:r>
          </a:p>
          <a:p>
            <a:pPr>
              <a:defRPr/>
            </a:pPr>
            <a:r>
              <a:rPr lang="en-US" dirty="0"/>
              <a:t>What is the sample mean?</a:t>
            </a:r>
          </a:p>
          <a:p>
            <a:pPr>
              <a:defRPr/>
            </a:pPr>
            <a:r>
              <a:rPr lang="en-US" dirty="0"/>
              <a:t>What is the sample median?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6D1C2F54-5CC0-0C44-A7A0-DC611C66D0E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Definition: A procedure is said to be </a:t>
            </a:r>
            <a:r>
              <a:rPr lang="en-US" u="sng" dirty="0"/>
              <a:t>resistant</a:t>
            </a:r>
            <a:r>
              <a:rPr lang="en-US" dirty="0"/>
              <a:t> if the results do not change very much when just a few of the values in the sample(s) change.</a:t>
            </a:r>
          </a:p>
          <a:p>
            <a:pPr>
              <a:defRPr/>
            </a:pPr>
            <a:r>
              <a:rPr lang="en-US" dirty="0"/>
              <a:t>Example: Suppose you had the following sample data: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dirty="0"/>
              <a:t>4, 7, 9, 10, 15</a:t>
            </a:r>
          </a:p>
          <a:p>
            <a:pPr>
              <a:defRPr/>
            </a:pPr>
            <a:r>
              <a:rPr lang="en-US" dirty="0"/>
              <a:t>What is the sample mean? </a:t>
            </a:r>
          </a:p>
          <a:p>
            <a:pPr>
              <a:defRPr/>
            </a:pPr>
            <a:r>
              <a:rPr lang="en-US" dirty="0"/>
              <a:t>What is the sample median? med = 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C8637177-E821-B24C-A2F8-500908E7F23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5330825" y="5329238"/>
          <a:ext cx="965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600" imgH="190500" progId="Equation.3">
                  <p:embed/>
                </p:oleObj>
              </mc:Choice>
              <mc:Fallback>
                <p:oleObj name="Equation" r:id="rId2" imgW="355600" imgH="190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5329238"/>
                        <a:ext cx="9652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116513" y="4826000"/>
            <a:ext cx="725487" cy="45402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Definition: A procedure is said to be </a:t>
            </a:r>
            <a:r>
              <a:rPr lang="en-US" u="sng" dirty="0"/>
              <a:t>resistant</a:t>
            </a:r>
            <a:r>
              <a:rPr lang="en-US" dirty="0"/>
              <a:t> if the results do not change very much when just a few of the values in the sample(s) change.</a:t>
            </a:r>
          </a:p>
          <a:p>
            <a:pPr>
              <a:defRPr/>
            </a:pPr>
            <a:r>
              <a:rPr lang="en-US" dirty="0"/>
              <a:t>Example: Now suppose the last observation is changed: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dirty="0"/>
              <a:t>4, 7, 9, 10, 150</a:t>
            </a:r>
          </a:p>
          <a:p>
            <a:pPr>
              <a:defRPr/>
            </a:pPr>
            <a:r>
              <a:rPr lang="en-US" dirty="0"/>
              <a:t>What is the sample mean?</a:t>
            </a:r>
          </a:p>
          <a:p>
            <a:pPr>
              <a:defRPr/>
            </a:pPr>
            <a:r>
              <a:rPr lang="en-US" dirty="0"/>
              <a:t>What is the sample median?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CB1BCFBA-B6DC-5341-BD39-2DB13BAAEB62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116513" y="4826000"/>
            <a:ext cx="725487" cy="45402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Definition: A procedure is said to be </a:t>
            </a:r>
            <a:r>
              <a:rPr lang="en-US" u="sng" dirty="0"/>
              <a:t>resistant</a:t>
            </a:r>
            <a:r>
              <a:rPr lang="en-US" dirty="0"/>
              <a:t> if the results do not change very much when just a few of the values in the sample(s) change.</a:t>
            </a:r>
          </a:p>
          <a:p>
            <a:pPr>
              <a:defRPr/>
            </a:pPr>
            <a:r>
              <a:rPr lang="en-US" dirty="0"/>
              <a:t>Example: Now suppose the last observation is changed: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dirty="0"/>
              <a:t>4, 7, 9, 10, 150</a:t>
            </a:r>
          </a:p>
          <a:p>
            <a:pPr>
              <a:defRPr/>
            </a:pPr>
            <a:r>
              <a:rPr lang="en-US" dirty="0"/>
              <a:t>What is the sample mean? </a:t>
            </a:r>
          </a:p>
          <a:p>
            <a:pPr>
              <a:defRPr/>
            </a:pPr>
            <a:r>
              <a:rPr lang="en-US" dirty="0"/>
              <a:t>What is the sample median? med = 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C2F48F5-00FE-DC42-89B5-31AA6539933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5318125" y="5346700"/>
          <a:ext cx="11715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800" imgH="190500" progId="Equation.3">
                  <p:embed/>
                </p:oleObj>
              </mc:Choice>
              <mc:Fallback>
                <p:oleObj name="Equation" r:id="rId2" imgW="431800" imgH="190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5346700"/>
                        <a:ext cx="11715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Observe that changing just a single observation can dramatically change the sample mean, but has very little (or no) effect on the sample median.</a:t>
            </a:r>
          </a:p>
          <a:p>
            <a:r>
              <a:rPr lang="en-US" altLang="en-US">
                <a:ea typeface="ＭＳ Ｐゴシック" charset="-128"/>
              </a:rPr>
              <a:t>Because the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-tests are based on sample means, they are not very </a:t>
            </a:r>
            <a:r>
              <a:rPr lang="en-US" altLang="en-US" u="sng">
                <a:ea typeface="ＭＳ Ｐゴシック" charset="-128"/>
              </a:rPr>
              <a:t>resistant</a:t>
            </a:r>
            <a:r>
              <a:rPr lang="en-US" altLang="en-US">
                <a:ea typeface="ＭＳ Ｐゴシック" charset="-128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15D2A4A5-3652-6346-AAFB-6E94FE27EBE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4132700" y="4481513"/>
            <a:ext cx="935038" cy="20002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231090" y="4481513"/>
            <a:ext cx="863600" cy="20002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t-</a:t>
            </a:r>
            <a:r>
              <a:rPr lang="en-US" altLang="en-US">
                <a:ea typeface="ＭＳ Ｐゴシック" charset="-128"/>
              </a:rPr>
              <a:t>test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CFC944C3-5D22-3B4D-AF48-5E40FD1D9E4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Consider using the previous example data to test that the population mean is 20:</a:t>
            </a:r>
          </a:p>
          <a:p>
            <a:pPr marL="0" indent="0">
              <a:buFont typeface="Arial" charset="0"/>
              <a:buNone/>
              <a:defRPr/>
            </a:pPr>
            <a:endParaRPr lang="en-US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exData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&lt;- c(4, 7, 9, 10, 15)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t.test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exData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, mu=20)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	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  One Sample t-test</a:t>
            </a:r>
          </a:p>
          <a:p>
            <a:pPr marL="344488" indent="0">
              <a:buNone/>
              <a:defRPr/>
            </a:pPr>
            <a:endParaRPr lang="en-US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data: 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exData</a:t>
            </a:r>
            <a:endParaRPr lang="en-US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t = -6.0553,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df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= 4, p-value = 0.003754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alternative hypothesis: true mean is not equal to 20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95 percent confidence interval:  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  3.956337 14.043663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sample estimates: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mean of x         </a:t>
            </a:r>
          </a:p>
          <a:p>
            <a:pPr marL="344488" indent="0"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       9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150175" y="4481513"/>
            <a:ext cx="682625" cy="20002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270000" y="4481513"/>
            <a:ext cx="806091" cy="20002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Consider using the previous example data to test that the population mean is 20:</a:t>
            </a:r>
          </a:p>
          <a:p>
            <a:pPr marL="0" indent="0">
              <a:buFont typeface="Arial" charset="0"/>
              <a:buNone/>
              <a:defRPr/>
            </a:pPr>
            <a:endParaRPr lang="en-US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exData.new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&lt;- c(4, 7, 9, 10, 150)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t.test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exData.new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, mu=20)</a:t>
            </a:r>
          </a:p>
          <a:p>
            <a:pPr marL="344488" indent="0">
              <a:buFont typeface="Arial" charset="0"/>
              <a:buNone/>
              <a:defRPr/>
            </a:pPr>
            <a:endParaRPr lang="en-US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	One Sample t-test</a:t>
            </a:r>
          </a:p>
          <a:p>
            <a:pPr marL="344488" indent="0">
              <a:buFont typeface="Arial" charset="0"/>
              <a:buNone/>
              <a:defRPr/>
            </a:pPr>
            <a:endParaRPr lang="en-US" sz="1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data: 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exData.new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t = 0.56104, </a:t>
            </a:r>
            <a:r>
              <a:rPr lang="en-US" sz="1400" dirty="0" err="1">
                <a:solidFill>
                  <a:srgbClr val="0000FF"/>
                </a:solidFill>
                <a:latin typeface="Courier"/>
                <a:cs typeface="Courier"/>
              </a:rPr>
              <a:t>df</a:t>
            </a: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= 4, p-value = 0.6047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alternative hypothesis: true mean is not equal to 20 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95 percent confidence interval: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-43.17981 115.17981 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sample estimates: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mean of x </a:t>
            </a:r>
          </a:p>
          <a:p>
            <a:pPr marL="344488" indent="0">
              <a:buFont typeface="Arial" charset="0"/>
              <a:buNone/>
              <a:defRPr/>
            </a:pPr>
            <a:r>
              <a:rPr lang="en-US" sz="1400" dirty="0">
                <a:solidFill>
                  <a:srgbClr val="0000FF"/>
                </a:solidFill>
                <a:latin typeface="Courier"/>
                <a:cs typeface="Courier"/>
              </a:rPr>
              <a:t>       36</a:t>
            </a:r>
          </a:p>
        </p:txBody>
      </p:sp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Resistance of the </a:t>
            </a:r>
            <a:r>
              <a:rPr lang="en-US" altLang="en-US" i="1">
                <a:ea typeface="ＭＳ Ｐゴシック" charset="-128"/>
              </a:rPr>
              <a:t>t-</a:t>
            </a:r>
            <a:r>
              <a:rPr lang="en-US" altLang="en-US">
                <a:ea typeface="ＭＳ Ｐゴシック" charset="-128"/>
              </a:rPr>
              <a:t>test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4F199F8B-FE04-5640-B68A-2BFE6F1201D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Outliers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An </a:t>
            </a:r>
            <a:r>
              <a:rPr lang="en-US" altLang="en-US" sz="2800" u="sng">
                <a:ea typeface="ＭＳ Ｐゴシック" charset="-128"/>
              </a:rPr>
              <a:t>outlier</a:t>
            </a:r>
            <a:r>
              <a:rPr lang="en-US" altLang="en-US" sz="2800">
                <a:ea typeface="ＭＳ Ｐゴシック" charset="-128"/>
              </a:rPr>
              <a:t> is an observation far from the rest of the group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or far from the group average, 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or far from the group median,…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etc.  (we don’t really have a single agreed-upon criterion for outliers)</a:t>
            </a:r>
          </a:p>
          <a:p>
            <a:r>
              <a:rPr lang="en-US" altLang="en-US" sz="2800">
                <a:ea typeface="ＭＳ Ｐゴシック" charset="-128"/>
              </a:rPr>
              <a:t>Outliers may arise due to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random sampling chance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a heavy-tailed distribution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error in data collection/entry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A461A2F2-8360-8E43-8D45-1D7BF1675FD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How to deal with outliers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3C780D9-91F4-684D-938A-8E57E32CBBCB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5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200150"/>
            <a:ext cx="5280025" cy="544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Why consider a transformation?</a:t>
            </a:r>
          </a:p>
          <a:p>
            <a:pPr lvl="1"/>
            <a:r>
              <a:rPr lang="en-US" altLang="en-US">
                <a:ea typeface="ＭＳ Ｐゴシック" charset="-128"/>
              </a:rPr>
              <a:t>Highly skewed data</a:t>
            </a:r>
          </a:p>
          <a:p>
            <a:pPr lvl="2"/>
            <a:r>
              <a:rPr lang="en-US" altLang="en-US">
                <a:ea typeface="ＭＳ Ｐゴシック" charset="-128"/>
              </a:rPr>
              <a:t>‘If the ratio of the largest to the smallest measurement in a group is greater than 10, then the data are probably  more conveniently expressed on the log scale’ [Textbook, p. 70]</a:t>
            </a:r>
          </a:p>
          <a:p>
            <a:pPr lvl="2"/>
            <a:r>
              <a:rPr lang="en-US" altLang="en-US">
                <a:ea typeface="ＭＳ Ｐゴシック" charset="-128"/>
              </a:rPr>
              <a:t>If the two samples are both skewed, and the group with the larger mean also has larger spread</a:t>
            </a:r>
          </a:p>
          <a:p>
            <a:pPr lvl="2"/>
            <a:r>
              <a:rPr lang="en-US" altLang="en-US">
                <a:ea typeface="ＭＳ Ｐゴシック" charset="-128"/>
              </a:rPr>
              <a:t>You will often see recommendations to use a log transform because it ‘makes the data more normal’</a:t>
            </a:r>
          </a:p>
          <a:p>
            <a:pPr lvl="2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5FA9642-772A-7042-9390-E955E0CDE063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Why consider a transformation?</a:t>
            </a:r>
          </a:p>
          <a:p>
            <a:pPr lvl="1"/>
            <a:r>
              <a:rPr lang="en-US" altLang="en-US">
                <a:ea typeface="ＭＳ Ｐゴシック" charset="-128"/>
              </a:rPr>
              <a:t>Highly skewed data</a:t>
            </a:r>
          </a:p>
          <a:p>
            <a:pPr lvl="2"/>
            <a:r>
              <a:rPr lang="en-US" altLang="en-US">
                <a:ea typeface="ＭＳ Ｐゴシック" charset="-128"/>
              </a:rPr>
              <a:t>‘If the ratio of the largest to the smallest measurement in a group is greater than 10, then the data are probably  more conveniently expressed on the log scale’ [Textbook, p. 70]</a:t>
            </a:r>
          </a:p>
          <a:p>
            <a:pPr lvl="2"/>
            <a:r>
              <a:rPr lang="en-US" altLang="en-US">
                <a:ea typeface="ＭＳ Ｐゴシック" charset="-128"/>
              </a:rPr>
              <a:t>If the two samples are both skewed, and the group with the larger mean also has larger spread</a:t>
            </a:r>
          </a:p>
          <a:p>
            <a:pPr lvl="2"/>
            <a:r>
              <a:rPr lang="en-US" altLang="en-US">
                <a:ea typeface="ＭＳ Ｐゴシック" charset="-128"/>
              </a:rPr>
              <a:t>You will often see recommendations to use a log transform because it ‘makes the data more normal’</a:t>
            </a:r>
          </a:p>
          <a:p>
            <a:pPr lvl="2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79C1544E-09F9-6A46-9870-96B2F3C653E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Line Callout 1 1"/>
          <p:cNvSpPr/>
          <p:nvPr/>
        </p:nvSpPr>
        <p:spPr>
          <a:xfrm>
            <a:off x="4921250" y="5930900"/>
            <a:ext cx="3765550" cy="720725"/>
          </a:xfrm>
          <a:prstGeom prst="borderCallout1">
            <a:avLst>
              <a:gd name="adj1" fmla="val -1250"/>
              <a:gd name="adj2" fmla="val 50300"/>
              <a:gd name="adj3" fmla="val -21500"/>
              <a:gd name="adj4" fmla="val 31414"/>
            </a:avLst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</a:rPr>
              <a:t>This isn’t necessarily true, and is an imprecise statement anyway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Logarithms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We will use the </a:t>
            </a:r>
            <a:r>
              <a:rPr lang="en-US" altLang="en-US" sz="2800" i="1">
                <a:ea typeface="ＭＳ Ｐゴシック" charset="-128"/>
              </a:rPr>
              <a:t>natural</a:t>
            </a:r>
            <a:r>
              <a:rPr lang="en-US" altLang="en-US" sz="2800">
                <a:ea typeface="ＭＳ Ｐゴシック" charset="-128"/>
              </a:rPr>
              <a:t> logarithm (logarithm base </a:t>
            </a:r>
            <a:r>
              <a:rPr lang="en-US" altLang="en-US" sz="2800" i="1">
                <a:ea typeface="ＭＳ Ｐゴシック" charset="-128"/>
              </a:rPr>
              <a:t>e</a:t>
            </a:r>
            <a:r>
              <a:rPr lang="en-US" altLang="en-US" sz="2800">
                <a:ea typeface="ＭＳ Ｐゴシック" charset="-128"/>
              </a:rPr>
              <a:t>).</a:t>
            </a:r>
            <a:endParaRPr lang="en-US" altLang="en-US" sz="2800" i="1">
              <a:ea typeface="ＭＳ Ｐゴシック" charset="-128"/>
            </a:endParaRPr>
          </a:p>
          <a:p>
            <a:pPr lvl="1"/>
            <a:r>
              <a:rPr lang="en-US" altLang="en-US" sz="2400">
                <a:ea typeface="ＭＳ Ｐゴシック" charset="-128"/>
              </a:rPr>
              <a:t>The mathematical constant </a:t>
            </a:r>
            <a:r>
              <a:rPr lang="en-US" altLang="en-US" sz="2400" i="1">
                <a:ea typeface="ＭＳ Ｐゴシック" charset="-128"/>
              </a:rPr>
              <a:t>e</a:t>
            </a:r>
            <a:r>
              <a:rPr lang="en-US" altLang="en-US" sz="2400">
                <a:ea typeface="ＭＳ Ｐゴシック" charset="-128"/>
              </a:rPr>
              <a:t> = 2.71828…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log(</a:t>
            </a:r>
            <a:r>
              <a:rPr lang="en-US" altLang="en-US" sz="2400" i="1">
                <a:solidFill>
                  <a:srgbClr val="FF0000"/>
                </a:solidFill>
                <a:ea typeface="ＭＳ Ｐゴシック" charset="-128"/>
              </a:rPr>
              <a:t>x</a:t>
            </a:r>
            <a:r>
              <a:rPr lang="en-US" altLang="en-US" sz="2400">
                <a:ea typeface="ＭＳ Ｐゴシック" charset="-128"/>
              </a:rPr>
              <a:t>) = </a:t>
            </a:r>
            <a:r>
              <a:rPr lang="en-US" altLang="en-US" sz="2400" i="1">
                <a:solidFill>
                  <a:srgbClr val="008000"/>
                </a:solidFill>
                <a:ea typeface="ＭＳ Ｐゴシック" charset="-128"/>
              </a:rPr>
              <a:t>y</a:t>
            </a:r>
            <a:r>
              <a:rPr lang="en-US" altLang="en-US" sz="2400">
                <a:ea typeface="ＭＳ Ｐゴシック" charset="-128"/>
              </a:rPr>
              <a:t>  </a:t>
            </a:r>
            <a:r>
              <a:rPr lang="en-US" altLang="en-US" sz="2400">
                <a:ea typeface="ＭＳ Ｐゴシック" charset="-128"/>
                <a:sym typeface="Wingdings" charset="2"/>
              </a:rPr>
              <a:t> </a:t>
            </a:r>
            <a:r>
              <a:rPr lang="en-US" altLang="en-US" sz="2400" i="1">
                <a:ea typeface="ＭＳ Ｐゴシック" charset="-128"/>
                <a:sym typeface="Wingdings" charset="2"/>
              </a:rPr>
              <a:t>e</a:t>
            </a:r>
            <a:r>
              <a:rPr lang="en-US" altLang="en-US" sz="2400" i="1" baseline="30000">
                <a:solidFill>
                  <a:srgbClr val="008000"/>
                </a:solidFill>
                <a:ea typeface="ＭＳ Ｐゴシック" charset="-128"/>
                <a:sym typeface="Wingdings" charset="2"/>
              </a:rPr>
              <a:t>y</a:t>
            </a:r>
            <a:r>
              <a:rPr lang="en-US" altLang="en-US" sz="2400">
                <a:ea typeface="ＭＳ Ｐゴシック" charset="-128"/>
                <a:sym typeface="Wingdings" charset="2"/>
              </a:rPr>
              <a:t> = </a:t>
            </a:r>
            <a:r>
              <a:rPr lang="en-US" altLang="en-US" sz="2400" i="1">
                <a:solidFill>
                  <a:srgbClr val="FF0000"/>
                </a:solidFill>
                <a:ea typeface="ＭＳ Ｐゴシック" charset="-128"/>
                <a:sym typeface="Wingdings" charset="2"/>
              </a:rPr>
              <a:t>x</a:t>
            </a:r>
            <a:endParaRPr lang="en-US" altLang="en-US" sz="2400">
              <a:solidFill>
                <a:srgbClr val="FF0000"/>
              </a:solidFill>
              <a:ea typeface="ＭＳ Ｐゴシック" charset="-128"/>
              <a:sym typeface="Wingdings" charset="2"/>
            </a:endParaRPr>
          </a:p>
          <a:p>
            <a:pPr lvl="2"/>
            <a:r>
              <a:rPr lang="en-US" altLang="en-US" sz="2000">
                <a:ea typeface="ＭＳ Ｐゴシック" charset="-128"/>
                <a:sym typeface="Wingdings" charset="2"/>
              </a:rPr>
              <a:t>e.g. log(</a:t>
            </a:r>
            <a:r>
              <a:rPr lang="en-US" altLang="en-US" sz="2000">
                <a:solidFill>
                  <a:srgbClr val="FF0000"/>
                </a:solidFill>
                <a:ea typeface="ＭＳ Ｐゴシック" charset="-128"/>
                <a:sym typeface="Wingdings" charset="2"/>
              </a:rPr>
              <a:t>e</a:t>
            </a:r>
            <a:r>
              <a:rPr lang="en-US" altLang="en-US" sz="2000">
                <a:ea typeface="ＭＳ Ｐゴシック" charset="-128"/>
                <a:sym typeface="Wingdings" charset="2"/>
              </a:rPr>
              <a:t>) = </a:t>
            </a:r>
            <a:r>
              <a:rPr lang="en-US" altLang="en-US" sz="2000">
                <a:solidFill>
                  <a:srgbClr val="008000"/>
                </a:solidFill>
                <a:ea typeface="ＭＳ Ｐゴシック" charset="-128"/>
                <a:sym typeface="Wingdings" charset="2"/>
              </a:rPr>
              <a:t>1</a:t>
            </a:r>
            <a:r>
              <a:rPr lang="en-US" altLang="en-US" sz="2000">
                <a:ea typeface="ＭＳ Ｐゴシック" charset="-128"/>
                <a:sym typeface="Wingdings" charset="2"/>
              </a:rPr>
              <a:t>  since e</a:t>
            </a:r>
            <a:r>
              <a:rPr lang="en-US" altLang="en-US" sz="2000" baseline="30000">
                <a:solidFill>
                  <a:srgbClr val="008000"/>
                </a:solidFill>
                <a:ea typeface="ＭＳ Ｐゴシック" charset="-128"/>
                <a:sym typeface="Wingdings" charset="2"/>
              </a:rPr>
              <a:t>1</a:t>
            </a:r>
            <a:r>
              <a:rPr lang="en-US" altLang="en-US" sz="2000">
                <a:ea typeface="ＭＳ Ｐゴシック" charset="-128"/>
                <a:sym typeface="Wingdings" charset="2"/>
              </a:rPr>
              <a:t> = </a:t>
            </a:r>
            <a:r>
              <a:rPr lang="en-US" altLang="en-US" sz="2000">
                <a:solidFill>
                  <a:srgbClr val="FF0000"/>
                </a:solidFill>
                <a:ea typeface="ＭＳ Ｐゴシック" charset="-128"/>
                <a:sym typeface="Wingdings" charset="2"/>
              </a:rPr>
              <a:t>e</a:t>
            </a:r>
            <a:endParaRPr lang="en-US" altLang="en-US" sz="2000">
              <a:solidFill>
                <a:srgbClr val="000000"/>
              </a:solidFill>
              <a:ea typeface="ＭＳ Ｐゴシック" charset="-128"/>
              <a:sym typeface="Wingdings" charset="2"/>
            </a:endParaRPr>
          </a:p>
          <a:p>
            <a:pPr lvl="2"/>
            <a:r>
              <a:rPr lang="en-US" altLang="en-US" sz="20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e.g. log(</a:t>
            </a:r>
            <a:r>
              <a:rPr lang="en-US" altLang="en-US" sz="2000">
                <a:solidFill>
                  <a:srgbClr val="FF0000"/>
                </a:solidFill>
                <a:ea typeface="ＭＳ Ｐゴシック" charset="-128"/>
                <a:sym typeface="Wingdings" charset="2"/>
              </a:rPr>
              <a:t>1</a:t>
            </a:r>
            <a:r>
              <a:rPr lang="en-US" altLang="en-US" sz="20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= </a:t>
            </a:r>
            <a:r>
              <a:rPr lang="en-US" altLang="en-US" sz="2000">
                <a:solidFill>
                  <a:srgbClr val="008000"/>
                </a:solidFill>
                <a:ea typeface="ＭＳ Ｐゴシック" charset="-128"/>
                <a:sym typeface="Wingdings" charset="2"/>
              </a:rPr>
              <a:t>0</a:t>
            </a:r>
            <a:r>
              <a:rPr lang="en-US" altLang="en-US" sz="20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  since </a:t>
            </a:r>
            <a:r>
              <a:rPr lang="en-US" altLang="en-US" sz="2000">
                <a:ea typeface="ＭＳ Ｐゴシック" charset="-128"/>
                <a:sym typeface="Wingdings" charset="2"/>
              </a:rPr>
              <a:t>e</a:t>
            </a:r>
            <a:r>
              <a:rPr lang="en-US" altLang="en-US" sz="2000" baseline="30000">
                <a:solidFill>
                  <a:srgbClr val="008000"/>
                </a:solidFill>
                <a:ea typeface="ＭＳ Ｐゴシック" charset="-128"/>
                <a:sym typeface="Wingdings" charset="2"/>
              </a:rPr>
              <a:t>0</a:t>
            </a:r>
            <a:r>
              <a:rPr lang="en-US" altLang="en-US" sz="2000">
                <a:ea typeface="ＭＳ Ｐゴシック" charset="-128"/>
                <a:sym typeface="Wingdings" charset="2"/>
              </a:rPr>
              <a:t> = </a:t>
            </a:r>
            <a:r>
              <a:rPr lang="en-US" altLang="en-US" sz="2000">
                <a:solidFill>
                  <a:srgbClr val="FF0000"/>
                </a:solidFill>
                <a:ea typeface="ＭＳ Ｐゴシック" charset="-128"/>
                <a:sym typeface="Wingdings" charset="2"/>
              </a:rPr>
              <a:t>1</a:t>
            </a:r>
            <a:endParaRPr lang="en-US" altLang="en-US" sz="2000">
              <a:solidFill>
                <a:srgbClr val="000000"/>
              </a:solidFill>
              <a:ea typeface="ＭＳ Ｐゴシック" charset="-128"/>
              <a:sym typeface="Wingdings" charset="2"/>
            </a:endParaRPr>
          </a:p>
          <a:p>
            <a:r>
              <a:rPr lang="en-US" altLang="en-US" sz="28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Some important properties of logs:</a:t>
            </a:r>
          </a:p>
          <a:p>
            <a:pPr lvl="1"/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undefined for 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 &lt; 0</a:t>
            </a:r>
          </a:p>
          <a:p>
            <a:pPr lvl="1"/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&lt; 0  for 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 &lt; 1,   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&gt; 0  for 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 &gt; 1</a:t>
            </a:r>
          </a:p>
          <a:p>
            <a:pPr lvl="1"/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 &gt; y      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x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&gt; 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y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 (Monotone increasing)</a:t>
            </a:r>
          </a:p>
          <a:p>
            <a:pPr lvl="1"/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ab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= 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a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 + log(</a:t>
            </a:r>
            <a:r>
              <a:rPr lang="en-US" altLang="en-US" sz="2400" i="1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b</a:t>
            </a:r>
            <a:r>
              <a:rPr lang="en-US" altLang="en-US" sz="2400">
                <a:solidFill>
                  <a:srgbClr val="000000"/>
                </a:solidFill>
                <a:ea typeface="ＭＳ Ｐゴシック" charset="-128"/>
                <a:sym typeface="Wingdings" charset="2"/>
              </a:rPr>
              <a:t>)</a:t>
            </a:r>
          </a:p>
          <a:p>
            <a:pPr lvl="1"/>
            <a:endParaRPr lang="en-US" altLang="en-US" sz="2400" i="1">
              <a:solidFill>
                <a:srgbClr val="000000"/>
              </a:solidFill>
              <a:ea typeface="ＭＳ Ｐゴシック" charset="-128"/>
              <a:sym typeface="Wingdings" charset="2"/>
            </a:endParaRPr>
          </a:p>
          <a:p>
            <a:pPr lvl="2">
              <a:buFont typeface="Arial" charset="0"/>
              <a:buNone/>
            </a:pPr>
            <a:endParaRPr lang="en-US" altLang="en-US">
              <a:ea typeface="ＭＳ Ｐゴシック" charset="-128"/>
              <a:sym typeface="Wingdings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F021BC4-D0F8-E04B-9C49-A07978B7B76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When the data ‘suggest the need for a log transform’ (more later), we define</a:t>
            </a:r>
          </a:p>
          <a:p>
            <a:pPr lvl="1"/>
            <a:r>
              <a:rPr lang="en-US" altLang="en-US" i="1" dirty="0" err="1">
                <a:ea typeface="ＭＳ Ｐゴシック" charset="-128"/>
              </a:rPr>
              <a:t>U</a:t>
            </a:r>
            <a:r>
              <a:rPr lang="en-US" altLang="en-US" i="1" baseline="-25000" dirty="0" err="1">
                <a:ea typeface="ＭＳ Ｐゴシック" charset="-128"/>
              </a:rPr>
              <a:t>i</a:t>
            </a:r>
            <a:r>
              <a:rPr lang="en-US" altLang="en-US" dirty="0">
                <a:ea typeface="ＭＳ Ｐゴシック" charset="-128"/>
              </a:rPr>
              <a:t> = log(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i="1" baseline="-25000" dirty="0">
                <a:ea typeface="ＭＳ Ｐゴシック" charset="-128"/>
              </a:rPr>
              <a:t>i</a:t>
            </a:r>
            <a:r>
              <a:rPr lang="en-US" altLang="en-US" dirty="0">
                <a:ea typeface="ＭＳ Ｐゴシック" charset="-128"/>
              </a:rPr>
              <a:t>) for </a:t>
            </a:r>
            <a:r>
              <a:rPr lang="en-US" altLang="en-US" i="1" dirty="0" err="1">
                <a:ea typeface="ＭＳ Ｐゴシック" charset="-128"/>
              </a:rPr>
              <a:t>i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= 1, …, </a:t>
            </a:r>
            <a:r>
              <a:rPr lang="en-US" altLang="en-US" i="1" dirty="0">
                <a:ea typeface="ＭＳ Ｐゴシック" charset="-128"/>
              </a:rPr>
              <a:t>m.</a:t>
            </a:r>
          </a:p>
          <a:p>
            <a:pPr lvl="1" indent="6350">
              <a:buFont typeface="Arial" charset="0"/>
              <a:buNone/>
            </a:pPr>
            <a:r>
              <a:rPr lang="en-US" altLang="en-US" i="1" dirty="0">
                <a:ea typeface="ＭＳ Ｐゴシック" charset="-128"/>
              </a:rPr>
              <a:t>V</a:t>
            </a:r>
            <a:r>
              <a:rPr lang="en-US" altLang="en-US" i="1" baseline="-25000" dirty="0">
                <a:ea typeface="ＭＳ Ｐゴシック" charset="-128"/>
              </a:rPr>
              <a:t>i</a:t>
            </a:r>
            <a:r>
              <a:rPr lang="en-US" altLang="en-US" dirty="0">
                <a:ea typeface="ＭＳ Ｐゴシック" charset="-128"/>
              </a:rPr>
              <a:t> = log(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i="1" baseline="-25000" dirty="0">
                <a:ea typeface="ＭＳ Ｐゴシック" charset="-128"/>
              </a:rPr>
              <a:t>i</a:t>
            </a:r>
            <a:r>
              <a:rPr lang="en-US" altLang="en-US" dirty="0">
                <a:ea typeface="ＭＳ Ｐゴシック" charset="-128"/>
              </a:rPr>
              <a:t>) for </a:t>
            </a:r>
            <a:r>
              <a:rPr lang="en-US" altLang="en-US" i="1" dirty="0" err="1">
                <a:ea typeface="ＭＳ Ｐゴシック" charset="-128"/>
              </a:rPr>
              <a:t>i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= 1, …, </a:t>
            </a:r>
            <a:r>
              <a:rPr lang="en-US" altLang="en-US" i="1" dirty="0">
                <a:ea typeface="ＭＳ Ｐゴシック" charset="-128"/>
              </a:rPr>
              <a:t>n.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[</a:t>
            </a:r>
            <a:r>
              <a:rPr lang="en-US" altLang="en-US" i="1" dirty="0">
                <a:ea typeface="ＭＳ Ｐゴシック" charset="-128"/>
              </a:rPr>
              <a:t>Note: the book uses </a:t>
            </a:r>
            <a:r>
              <a:rPr lang="en-US" altLang="en-US" i="1" dirty="0" err="1">
                <a:ea typeface="ＭＳ Ｐゴシック" charset="-128"/>
              </a:rPr>
              <a:t>Y</a:t>
            </a:r>
            <a:r>
              <a:rPr lang="en-US" altLang="en-US" i="1" baseline="-25000" dirty="0" err="1">
                <a:ea typeface="ＭＳ Ｐゴシック" charset="-128"/>
              </a:rPr>
              <a:t>ij</a:t>
            </a:r>
            <a:r>
              <a:rPr lang="en-US" altLang="en-US" i="1" dirty="0">
                <a:ea typeface="ＭＳ Ｐゴシック" charset="-128"/>
              </a:rPr>
              <a:t> to represent the log transform of </a:t>
            </a:r>
            <a:r>
              <a:rPr lang="en-US" altLang="en-US" i="1" dirty="0" err="1">
                <a:ea typeface="ＭＳ Ｐゴシック" charset="-128"/>
              </a:rPr>
              <a:t>X</a:t>
            </a:r>
            <a:r>
              <a:rPr lang="en-US" altLang="en-US" i="1" baseline="-25000" dirty="0" err="1">
                <a:ea typeface="ＭＳ Ｐゴシック" charset="-128"/>
              </a:rPr>
              <a:t>ij</a:t>
            </a:r>
            <a:r>
              <a:rPr lang="en-US" altLang="en-US" i="1" dirty="0">
                <a:ea typeface="ＭＳ Ｐゴシック" charset="-128"/>
              </a:rPr>
              <a:t>: </a:t>
            </a:r>
            <a:r>
              <a:rPr lang="en-US" altLang="en-US" i="1" dirty="0" err="1">
                <a:ea typeface="ＭＳ Ｐゴシック" charset="-128"/>
              </a:rPr>
              <a:t>Y</a:t>
            </a:r>
            <a:r>
              <a:rPr lang="en-US" altLang="en-US" i="1" baseline="-25000" dirty="0" err="1">
                <a:ea typeface="ＭＳ Ｐゴシック" charset="-128"/>
              </a:rPr>
              <a:t>ij</a:t>
            </a:r>
            <a:r>
              <a:rPr lang="en-US" altLang="en-US" i="1" dirty="0">
                <a:ea typeface="ＭＳ Ｐゴシック" charset="-128"/>
              </a:rPr>
              <a:t> = log(</a:t>
            </a:r>
            <a:r>
              <a:rPr lang="en-US" altLang="en-US" i="1" dirty="0" err="1">
                <a:ea typeface="ＭＳ Ｐゴシック" charset="-128"/>
              </a:rPr>
              <a:t>X</a:t>
            </a:r>
            <a:r>
              <a:rPr lang="en-US" altLang="en-US" i="1" baseline="-25000" dirty="0" err="1">
                <a:ea typeface="ＭＳ Ｐゴシック" charset="-128"/>
              </a:rPr>
              <a:t>ij</a:t>
            </a:r>
            <a:r>
              <a:rPr lang="en-US" altLang="en-US" i="1" dirty="0">
                <a:ea typeface="ＭＳ Ｐゴシック" charset="-128"/>
              </a:rPr>
              <a:t>)</a:t>
            </a:r>
            <a:r>
              <a:rPr lang="en-US" altLang="en-US" dirty="0">
                <a:ea typeface="ＭＳ Ｐゴシック" charset="-128"/>
              </a:rPr>
              <a:t>]</a:t>
            </a:r>
            <a:endParaRPr lang="en-US" altLang="en-US" i="1" dirty="0">
              <a:ea typeface="ＭＳ Ｐゴシック" charset="-128"/>
            </a:endParaRPr>
          </a:p>
          <a:p>
            <a:pPr lvl="1"/>
            <a:r>
              <a:rPr lang="en-US" altLang="en-US" dirty="0">
                <a:ea typeface="ＭＳ Ｐゴシック" charset="-128"/>
              </a:rPr>
              <a:t>e.g.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58117CD7-283C-0E4D-A0D7-274A8290F9E6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28813" y="4679950"/>
          <a:ext cx="3656012" cy="1238250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5.1</a:t>
                      </a:r>
                    </a:p>
                  </a:txBody>
                  <a:tcPr marL="91420" marR="91420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log(5.1) =  1.63</a:t>
                      </a:r>
                      <a:endParaRPr kumimoji="0" lang="en-US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20" marR="91420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0.8</a:t>
                      </a:r>
                    </a:p>
                  </a:txBody>
                  <a:tcPr marL="91420" marR="91420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log(0.8) = -0.22</a:t>
                      </a:r>
                      <a:endParaRPr kumimoji="0" lang="en-US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20" marR="91420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1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2.7</a:t>
                      </a:r>
                    </a:p>
                  </a:txBody>
                  <a:tcPr marL="91420" marR="91420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log(2.7) =  0.99</a:t>
                      </a:r>
                      <a:endParaRPr kumimoji="0" lang="en-US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20" marR="91420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After log-transforming the data, perform the usual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 on the transformed values </a:t>
            </a:r>
            <a:r>
              <a:rPr lang="en-US" altLang="en-US" i="1">
                <a:solidFill>
                  <a:srgbClr val="FF0000"/>
                </a:solidFill>
                <a:ea typeface="ＭＳ Ｐゴシック" charset="-128"/>
              </a:rPr>
              <a:t>to test hypotheses regarding the means of the transformed variables</a:t>
            </a:r>
          </a:p>
          <a:p>
            <a:pPr lvl="1"/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For instance, a two-sample 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t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-test performed on 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U</a:t>
            </a:r>
            <a:r>
              <a:rPr lang="en-US" altLang="en-US" i="1" baseline="-25000">
                <a:solidFill>
                  <a:srgbClr val="000000"/>
                </a:solidFill>
                <a:ea typeface="ＭＳ Ｐゴシック" charset="-128"/>
              </a:rPr>
              <a:t>i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 and 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V</a:t>
            </a:r>
            <a:r>
              <a:rPr lang="en-US" altLang="en-US" i="1" baseline="-25000">
                <a:solidFill>
                  <a:srgbClr val="000000"/>
                </a:solidFill>
                <a:ea typeface="ＭＳ Ｐゴシック" charset="-128"/>
              </a:rPr>
              <a:t>i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 tests the null hypothesis that the population mean of 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U</a:t>
            </a:r>
            <a:r>
              <a:rPr lang="en-US" altLang="en-US" i="1" baseline="-25000">
                <a:solidFill>
                  <a:srgbClr val="000000"/>
                </a:solidFill>
                <a:ea typeface="ＭＳ Ｐゴシック" charset="-128"/>
              </a:rPr>
              <a:t>i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 – the population mean of 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V</a:t>
            </a:r>
            <a:r>
              <a:rPr lang="en-US" altLang="en-US" i="1" baseline="-25000">
                <a:solidFill>
                  <a:srgbClr val="000000"/>
                </a:solidFill>
                <a:ea typeface="ＭＳ Ｐゴシック" charset="-128"/>
              </a:rPr>
              <a:t>i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 is Δ</a:t>
            </a:r>
            <a:r>
              <a:rPr lang="en-US" altLang="en-US" baseline="-25000">
                <a:solidFill>
                  <a:srgbClr val="000000"/>
                </a:solidFill>
                <a:ea typeface="ＭＳ Ｐゴシック" charset="-128"/>
              </a:rPr>
              <a:t>0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0604500-5007-0E42-9F73-5CEEB7F9E67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255713" y="5151438"/>
            <a:ext cx="7345362" cy="12271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IMPORTANT: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If the population mean of the variable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 is </a:t>
            </a: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dirty="0">
                <a:ea typeface="ＭＳ Ｐゴシック" charset="-128"/>
              </a:rPr>
              <a:t>, the population mean of the variable </a:t>
            </a:r>
            <a:r>
              <a:rPr lang="en-US" altLang="en-US" i="1" dirty="0">
                <a:ea typeface="ＭＳ Ｐゴシック" charset="-128"/>
              </a:rPr>
              <a:t>U</a:t>
            </a:r>
            <a:r>
              <a:rPr lang="en-US" altLang="en-US" dirty="0">
                <a:ea typeface="ＭＳ Ｐゴシック" charset="-128"/>
              </a:rPr>
              <a:t> = log(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) IS NOT       log(</a:t>
            </a:r>
            <a:r>
              <a:rPr lang="en-US" altLang="en-US" i="1" dirty="0" err="1">
                <a:ea typeface="ＭＳ Ｐゴシック" charset="-128"/>
              </a:rPr>
              <a:t>μ</a:t>
            </a:r>
            <a:r>
              <a:rPr lang="en-US" altLang="en-US" dirty="0">
                <a:ea typeface="ＭＳ Ｐゴシック" charset="-128"/>
              </a:rPr>
              <a:t>) 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Likewise, if the sample mean of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baseline="-25000" dirty="0">
                <a:ea typeface="ＭＳ Ｐゴシック" charset="-128"/>
              </a:rPr>
              <a:t>1</a:t>
            </a:r>
            <a:r>
              <a:rPr lang="en-US" altLang="en-US" dirty="0">
                <a:ea typeface="ＭＳ Ｐゴシック" charset="-128"/>
              </a:rPr>
              <a:t>,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baseline="-25000" dirty="0">
                <a:ea typeface="ＭＳ Ｐゴシック" charset="-128"/>
              </a:rPr>
              <a:t>2</a:t>
            </a:r>
            <a:r>
              <a:rPr lang="en-US" altLang="en-US" dirty="0">
                <a:ea typeface="ＭＳ Ｐゴシック" charset="-128"/>
              </a:rPr>
              <a:t>, …, </a:t>
            </a:r>
            <a:r>
              <a:rPr lang="en-US" altLang="en-US" i="1" dirty="0" err="1">
                <a:ea typeface="ＭＳ Ｐゴシック" charset="-128"/>
              </a:rPr>
              <a:t>X</a:t>
            </a:r>
            <a:r>
              <a:rPr lang="en-US" altLang="en-US" i="1" baseline="-25000" dirty="0" err="1">
                <a:ea typeface="ＭＳ Ｐゴシック" charset="-128"/>
              </a:rPr>
              <a:t>m</a:t>
            </a:r>
            <a:r>
              <a:rPr lang="en-US" altLang="en-US" dirty="0">
                <a:ea typeface="ＭＳ Ｐゴシック" charset="-128"/>
              </a:rPr>
              <a:t> is    , the sample mean of  </a:t>
            </a:r>
            <a:r>
              <a:rPr lang="en-US" altLang="en-US" i="1" dirty="0">
                <a:ea typeface="ＭＳ Ｐゴシック" charset="-128"/>
              </a:rPr>
              <a:t>U</a:t>
            </a:r>
            <a:r>
              <a:rPr lang="en-US" altLang="en-US" baseline="-25000" dirty="0">
                <a:ea typeface="ＭＳ Ｐゴシック" charset="-128"/>
              </a:rPr>
              <a:t>1</a:t>
            </a:r>
            <a:r>
              <a:rPr lang="en-US" altLang="en-US" dirty="0">
                <a:ea typeface="ＭＳ Ｐゴシック" charset="-128"/>
              </a:rPr>
              <a:t>= log(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baseline="-25000" dirty="0">
                <a:ea typeface="ＭＳ Ｐゴシック" charset="-128"/>
              </a:rPr>
              <a:t>1</a:t>
            </a:r>
            <a:r>
              <a:rPr lang="en-US" altLang="en-US" dirty="0">
                <a:ea typeface="ＭＳ Ｐゴシック" charset="-128"/>
              </a:rPr>
              <a:t>),  </a:t>
            </a:r>
            <a:r>
              <a:rPr lang="en-US" altLang="en-US" i="1" dirty="0">
                <a:ea typeface="ＭＳ Ｐゴシック" charset="-128"/>
              </a:rPr>
              <a:t>U</a:t>
            </a:r>
            <a:r>
              <a:rPr lang="en-US" altLang="en-US" baseline="-25000" dirty="0">
                <a:ea typeface="ＭＳ Ｐゴシック" charset="-128"/>
              </a:rPr>
              <a:t>2 </a:t>
            </a:r>
            <a:r>
              <a:rPr lang="en-US" altLang="en-US" dirty="0">
                <a:ea typeface="ＭＳ Ｐゴシック" charset="-128"/>
              </a:rPr>
              <a:t>= log(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baseline="-25000" dirty="0">
                <a:ea typeface="ＭＳ Ｐゴシック" charset="-128"/>
              </a:rPr>
              <a:t>2</a:t>
            </a:r>
            <a:r>
              <a:rPr lang="en-US" altLang="en-US" dirty="0">
                <a:ea typeface="ＭＳ Ｐゴシック" charset="-128"/>
              </a:rPr>
              <a:t>), …, </a:t>
            </a:r>
            <a:r>
              <a:rPr lang="en-US" altLang="en-US" i="1" dirty="0">
                <a:ea typeface="ＭＳ Ｐゴシック" charset="-128"/>
              </a:rPr>
              <a:t>U</a:t>
            </a:r>
            <a:r>
              <a:rPr lang="en-US" altLang="en-US" i="1" baseline="-25000" dirty="0">
                <a:ea typeface="ＭＳ Ｐゴシック" charset="-128"/>
              </a:rPr>
              <a:t>m</a:t>
            </a:r>
            <a:r>
              <a:rPr lang="en-US" altLang="en-US" dirty="0">
                <a:ea typeface="ＭＳ Ｐゴシック" charset="-128"/>
              </a:rPr>
              <a:t> = log(</a:t>
            </a:r>
            <a:r>
              <a:rPr lang="en-US" altLang="en-US" i="1" dirty="0" err="1">
                <a:ea typeface="ＭＳ Ｐゴシック" charset="-128"/>
              </a:rPr>
              <a:t>X</a:t>
            </a:r>
            <a:r>
              <a:rPr lang="en-US" altLang="en-US" i="1" baseline="-25000" dirty="0" err="1">
                <a:ea typeface="ＭＳ Ｐゴシック" charset="-128"/>
              </a:rPr>
              <a:t>m</a:t>
            </a:r>
            <a:r>
              <a:rPr lang="en-US" altLang="en-US" dirty="0">
                <a:ea typeface="ＭＳ Ｐゴシック" charset="-128"/>
              </a:rPr>
              <a:t>) IS NOT log(   ).</a:t>
            </a:r>
          </a:p>
          <a:p>
            <a:pPr lvl="1"/>
            <a:r>
              <a:rPr lang="en-US" altLang="en-US" i="1" dirty="0">
                <a:solidFill>
                  <a:srgbClr val="FF0000"/>
                </a:solidFill>
                <a:ea typeface="ＭＳ Ｐゴシック" charset="-128"/>
              </a:rPr>
              <a:t>The mean of the logs is not the log of the mean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Therefore, comparing the population means of </a:t>
            </a:r>
            <a:r>
              <a:rPr lang="en-US" altLang="en-US" i="1" dirty="0">
                <a:ea typeface="ＭＳ Ｐゴシック" charset="-128"/>
              </a:rPr>
              <a:t>U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i="1" dirty="0">
                <a:ea typeface="ＭＳ Ｐゴシック" charset="-128"/>
              </a:rPr>
              <a:t>V</a:t>
            </a:r>
            <a:r>
              <a:rPr lang="en-US" altLang="en-US" dirty="0">
                <a:ea typeface="ＭＳ Ｐゴシック" charset="-128"/>
              </a:rPr>
              <a:t> tells us NOTHING about the population means of </a:t>
            </a:r>
            <a:r>
              <a:rPr lang="en-US" altLang="en-US" i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i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.</a:t>
            </a:r>
          </a:p>
        </p:txBody>
      </p:sp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E918E978-9293-1146-A6AA-E9FCB3052AD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31751" name="Object 6"/>
          <p:cNvGraphicFramePr>
            <a:graphicFrameLocks noChangeAspect="1"/>
          </p:cNvGraphicFramePr>
          <p:nvPr/>
        </p:nvGraphicFramePr>
        <p:xfrm>
          <a:off x="7424738" y="3324225"/>
          <a:ext cx="35401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" imgH="177800" progId="Equation.3">
                  <p:embed/>
                </p:oleObj>
              </mc:Choice>
              <mc:Fallback>
                <p:oleObj name="Equation" r:id="rId2" imgW="152400" imgH="177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3324225"/>
                        <a:ext cx="35401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980425"/>
              </p:ext>
            </p:extLst>
          </p:nvPr>
        </p:nvGraphicFramePr>
        <p:xfrm>
          <a:off x="3949465" y="4078288"/>
          <a:ext cx="3524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" imgH="177800" progId="Equation.3">
                  <p:embed/>
                </p:oleObj>
              </mc:Choice>
              <mc:Fallback>
                <p:oleObj name="Equation" r:id="rId4" imgW="152400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465" y="4078288"/>
                        <a:ext cx="3524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CC15635-4043-1E40-B4E9-BBA5EC037B3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324041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Mean of 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     = 12.6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      = 2.175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    ) = log(12.6) = 2.53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    e    = e</a:t>
                      </a:r>
                      <a:r>
                        <a:rPr kumimoji="0" lang="en-US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2.175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8.80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2803" name="Object 7"/>
          <p:cNvGraphicFramePr>
            <a:graphicFrameLocks noChangeAspect="1"/>
          </p:cNvGraphicFramePr>
          <p:nvPr/>
        </p:nvGraphicFramePr>
        <p:xfrm>
          <a:off x="3570288" y="4773613"/>
          <a:ext cx="2444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" imgH="177800" progId="Equation.3">
                  <p:embed/>
                </p:oleObj>
              </mc:Choice>
              <mc:Fallback>
                <p:oleObj name="Equation" r:id="rId2" imgW="152400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4773613"/>
                        <a:ext cx="2444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075157"/>
              </p:ext>
            </p:extLst>
          </p:nvPr>
        </p:nvGraphicFramePr>
        <p:xfrm>
          <a:off x="6864077" y="4758920"/>
          <a:ext cx="2428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" imgH="190500" progId="Equation.3">
                  <p:embed/>
                </p:oleObj>
              </mc:Choice>
              <mc:Fallback>
                <p:oleObj name="Equation" r:id="rId4" imgW="152400" imgH="190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077" y="4758920"/>
                        <a:ext cx="2428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611991"/>
              </p:ext>
            </p:extLst>
          </p:nvPr>
        </p:nvGraphicFramePr>
        <p:xfrm>
          <a:off x="2213753" y="5423808"/>
          <a:ext cx="2444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00" imgH="177800" progId="Equation.3">
                  <p:embed/>
                </p:oleObj>
              </mc:Choice>
              <mc:Fallback>
                <p:oleObj name="Equation" r:id="rId6" imgW="152400" imgH="177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753" y="5423808"/>
                        <a:ext cx="2444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022966"/>
              </p:ext>
            </p:extLst>
          </p:nvPr>
        </p:nvGraphicFramePr>
        <p:xfrm>
          <a:off x="5542740" y="5393245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400" imgH="190500" progId="Equation.3">
                  <p:embed/>
                </p:oleObj>
              </mc:Choice>
              <mc:Fallback>
                <p:oleObj name="Equation" r:id="rId7" imgW="152400" imgH="190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2740" y="5393245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5D0C3F8-B89D-0645-B534-A492A6A84022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324041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     = 12.6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Mean of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      = 2.175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    ) = log(12.6) = 2.53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    e    = e</a:t>
                      </a:r>
                      <a:r>
                        <a:rPr kumimoji="0" lang="en-US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2.175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8.80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3827" name="Object 7"/>
          <p:cNvGraphicFramePr>
            <a:graphicFrameLocks noChangeAspect="1"/>
          </p:cNvGraphicFramePr>
          <p:nvPr/>
        </p:nvGraphicFramePr>
        <p:xfrm>
          <a:off x="3570288" y="4773613"/>
          <a:ext cx="2444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" imgH="177800" progId="Equation.3">
                  <p:embed/>
                </p:oleObj>
              </mc:Choice>
              <mc:Fallback>
                <p:oleObj name="Equation" r:id="rId2" imgW="152400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4773613"/>
                        <a:ext cx="2444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4402138" y="5000625"/>
            <a:ext cx="2155825" cy="27305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ne Callout 1 13"/>
          <p:cNvSpPr/>
          <p:nvPr/>
        </p:nvSpPr>
        <p:spPr>
          <a:xfrm>
            <a:off x="6815138" y="2509838"/>
            <a:ext cx="1987550" cy="2006600"/>
          </a:xfrm>
          <a:prstGeom prst="borderCallout1">
            <a:avLst>
              <a:gd name="adj1" fmla="val 50038"/>
              <a:gd name="adj2" fmla="val -641"/>
              <a:gd name="adj3" fmla="val 129803"/>
              <a:gd name="adj4" fmla="val -68015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Exponentiating</a:t>
            </a:r>
            <a:r>
              <a:rPr lang="en-US" dirty="0">
                <a:solidFill>
                  <a:schemeClr val="tx1"/>
                </a:solidFill>
              </a:rPr>
              <a:t> the mean of the log-transformed values does not result in the mean of the original values</a:t>
            </a: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808912"/>
              </p:ext>
            </p:extLst>
          </p:nvPr>
        </p:nvGraphicFramePr>
        <p:xfrm>
          <a:off x="5542740" y="5393245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" imgH="190500" progId="Equation.3">
                  <p:embed/>
                </p:oleObj>
              </mc:Choice>
              <mc:Fallback>
                <p:oleObj name="Equation" r:id="rId4" imgW="1524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2740" y="5393245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3011"/>
              </p:ext>
            </p:extLst>
          </p:nvPr>
        </p:nvGraphicFramePr>
        <p:xfrm>
          <a:off x="2213753" y="5423808"/>
          <a:ext cx="2444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00" imgH="177800" progId="Equation.3">
                  <p:embed/>
                </p:oleObj>
              </mc:Choice>
              <mc:Fallback>
                <p:oleObj name="Equation" r:id="rId6" imgW="1524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753" y="5423808"/>
                        <a:ext cx="2444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122080"/>
              </p:ext>
            </p:extLst>
          </p:nvPr>
        </p:nvGraphicFramePr>
        <p:xfrm>
          <a:off x="6864077" y="4758920"/>
          <a:ext cx="2428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400" imgH="190500" progId="Equation.3">
                  <p:embed/>
                </p:oleObj>
              </mc:Choice>
              <mc:Fallback>
                <p:oleObj name="Equation" r:id="rId7" imgW="1524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077" y="4758920"/>
                        <a:ext cx="2428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6EBCD14-ED86-D146-806B-F840D473043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324041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Mean of 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     = 12.6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      = 2.175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    ) = log(12.6) = 2.53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    e    = e</a:t>
                      </a:r>
                      <a:r>
                        <a:rPr kumimoji="0" lang="en-US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2.175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8.80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4851" name="Object 7"/>
          <p:cNvGraphicFramePr>
            <a:graphicFrameLocks noChangeAspect="1"/>
          </p:cNvGraphicFramePr>
          <p:nvPr/>
        </p:nvGraphicFramePr>
        <p:xfrm>
          <a:off x="3570288" y="4773613"/>
          <a:ext cx="2444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" imgH="177800" progId="Equation.3">
                  <p:embed/>
                </p:oleObj>
              </mc:Choice>
              <mc:Fallback>
                <p:oleObj name="Equation" r:id="rId2" imgW="152400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4773613"/>
                        <a:ext cx="2444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V="1">
            <a:off x="4198938" y="5000625"/>
            <a:ext cx="2811462" cy="33020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ne Callout 1 13"/>
          <p:cNvSpPr/>
          <p:nvPr/>
        </p:nvSpPr>
        <p:spPr>
          <a:xfrm>
            <a:off x="6815138" y="2509838"/>
            <a:ext cx="1987550" cy="2006600"/>
          </a:xfrm>
          <a:prstGeom prst="borderCallout1">
            <a:avLst>
              <a:gd name="adj1" fmla="val 50038"/>
              <a:gd name="adj2" fmla="val -641"/>
              <a:gd name="adj3" fmla="val 132679"/>
              <a:gd name="adj4" fmla="val -66563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Taking the log of the mean of the original values does not result in the mean of the log-transformed values</a:t>
            </a: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808912"/>
              </p:ext>
            </p:extLst>
          </p:nvPr>
        </p:nvGraphicFramePr>
        <p:xfrm>
          <a:off x="5542740" y="5393245"/>
          <a:ext cx="1524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" imgH="190500" progId="Equation.3">
                  <p:embed/>
                </p:oleObj>
              </mc:Choice>
              <mc:Fallback>
                <p:oleObj name="Equation" r:id="rId4" imgW="1524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2740" y="5393245"/>
                        <a:ext cx="1524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3011"/>
              </p:ext>
            </p:extLst>
          </p:nvPr>
        </p:nvGraphicFramePr>
        <p:xfrm>
          <a:off x="2213753" y="5423808"/>
          <a:ext cx="244475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400" imgH="177800" progId="Equation.3">
                  <p:embed/>
                </p:oleObj>
              </mc:Choice>
              <mc:Fallback>
                <p:oleObj name="Equation" r:id="rId6" imgW="152400" imgH="177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753" y="5423808"/>
                        <a:ext cx="244475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122080"/>
              </p:ext>
            </p:extLst>
          </p:nvPr>
        </p:nvGraphicFramePr>
        <p:xfrm>
          <a:off x="6864077" y="4758920"/>
          <a:ext cx="2428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400" imgH="190500" progId="Equation.3">
                  <p:embed/>
                </p:oleObj>
              </mc:Choice>
              <mc:Fallback>
                <p:oleObj name="Equation" r:id="rId7" imgW="1524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077" y="4758920"/>
                        <a:ext cx="2428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>
                <a:ea typeface="ＭＳ Ｐゴシック" charset="-128"/>
              </a:rPr>
              <a:t>HOWEVER</a:t>
            </a:r>
            <a:r>
              <a:rPr lang="en-US" altLang="en-US">
                <a:ea typeface="ＭＳ Ｐゴシック" charset="-128"/>
              </a:rPr>
              <a:t>:</a:t>
            </a:r>
          </a:p>
          <a:p>
            <a:pPr lvl="2"/>
            <a:r>
              <a:rPr lang="en-US" altLang="en-US">
                <a:ea typeface="ＭＳ Ｐゴシック" charset="-128"/>
              </a:rPr>
              <a:t>If the population </a:t>
            </a:r>
            <a:r>
              <a:rPr lang="en-US" altLang="en-US" i="1">
                <a:ea typeface="ＭＳ Ｐゴシック" charset="-128"/>
              </a:rPr>
              <a:t>median</a:t>
            </a:r>
            <a:r>
              <a:rPr lang="en-US" altLang="en-US">
                <a:ea typeface="ＭＳ Ｐゴシック" charset="-128"/>
              </a:rPr>
              <a:t> of the variable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 is </a:t>
            </a:r>
            <a:r>
              <a:rPr lang="en-US" altLang="en-US" i="1">
                <a:ea typeface="ＭＳ Ｐゴシック" charset="-128"/>
              </a:rPr>
              <a:t>τ</a:t>
            </a:r>
            <a:r>
              <a:rPr lang="en-US" altLang="en-US">
                <a:ea typeface="ＭＳ Ｐゴシック" charset="-128"/>
              </a:rPr>
              <a:t>, the population </a:t>
            </a:r>
            <a:r>
              <a:rPr lang="en-US" altLang="en-US" i="1">
                <a:ea typeface="ＭＳ Ｐゴシック" charset="-128"/>
              </a:rPr>
              <a:t>median</a:t>
            </a:r>
            <a:r>
              <a:rPr lang="en-US" altLang="en-US">
                <a:ea typeface="ＭＳ Ｐゴシック" charset="-128"/>
              </a:rPr>
              <a:t> of the variable </a:t>
            </a:r>
            <a:r>
              <a:rPr lang="en-US" altLang="en-US" i="1">
                <a:ea typeface="ＭＳ Ｐゴシック" charset="-128"/>
              </a:rPr>
              <a:t>U</a:t>
            </a:r>
            <a:r>
              <a:rPr lang="en-US" altLang="en-US">
                <a:ea typeface="ＭＳ Ｐゴシック" charset="-128"/>
              </a:rPr>
              <a:t> = log(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>
                <a:ea typeface="ＭＳ Ｐゴシック" charset="-128"/>
              </a:rPr>
              <a:t>) IS log(</a:t>
            </a:r>
            <a:r>
              <a:rPr lang="en-US" altLang="en-US" i="1">
                <a:ea typeface="ＭＳ Ｐゴシック" charset="-128"/>
              </a:rPr>
              <a:t>τ</a:t>
            </a:r>
            <a:r>
              <a:rPr lang="en-US" altLang="en-US">
                <a:ea typeface="ＭＳ Ｐゴシック" charset="-128"/>
              </a:rPr>
              <a:t>) </a:t>
            </a:r>
          </a:p>
          <a:p>
            <a:pPr lvl="2"/>
            <a:r>
              <a:rPr lang="en-US" altLang="en-US">
                <a:ea typeface="ＭＳ Ｐゴシック" charset="-128"/>
              </a:rPr>
              <a:t>Likewise, if the sample median of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 baseline="-25000">
                <a:ea typeface="ＭＳ Ｐゴシック" charset="-128"/>
              </a:rPr>
              <a:t>1</a:t>
            </a:r>
            <a:r>
              <a:rPr lang="en-US" altLang="en-US">
                <a:ea typeface="ＭＳ Ｐゴシック" charset="-128"/>
              </a:rPr>
              <a:t>,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 baseline="-25000">
                <a:ea typeface="ＭＳ Ｐゴシック" charset="-128"/>
              </a:rPr>
              <a:t>2</a:t>
            </a:r>
            <a:r>
              <a:rPr lang="en-US" altLang="en-US">
                <a:ea typeface="ＭＳ Ｐゴシック" charset="-128"/>
              </a:rPr>
              <a:t>, …, 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 i="1" baseline="-25000">
                <a:ea typeface="ＭＳ Ｐゴシック" charset="-128"/>
              </a:rPr>
              <a:t>m</a:t>
            </a:r>
            <a:r>
              <a:rPr lang="en-US" altLang="en-US">
                <a:ea typeface="ＭＳ Ｐゴシック" charset="-128"/>
              </a:rPr>
              <a:t> is </a:t>
            </a:r>
            <a:r>
              <a:rPr lang="en-US" altLang="en-US" i="1">
                <a:ea typeface="ＭＳ Ｐゴシック" charset="-128"/>
              </a:rPr>
              <a:t>m</a:t>
            </a:r>
            <a:r>
              <a:rPr lang="en-US" altLang="en-US">
                <a:ea typeface="ＭＳ Ｐゴシック" charset="-128"/>
              </a:rPr>
              <a:t>, the sample median of  </a:t>
            </a:r>
            <a:r>
              <a:rPr lang="en-US" altLang="en-US" i="1">
                <a:ea typeface="ＭＳ Ｐゴシック" charset="-128"/>
              </a:rPr>
              <a:t>U</a:t>
            </a:r>
            <a:r>
              <a:rPr lang="en-US" altLang="en-US" baseline="-25000">
                <a:ea typeface="ＭＳ Ｐゴシック" charset="-128"/>
              </a:rPr>
              <a:t>1</a:t>
            </a:r>
            <a:r>
              <a:rPr lang="en-US" altLang="en-US">
                <a:ea typeface="ＭＳ Ｐゴシック" charset="-128"/>
              </a:rPr>
              <a:t>= log(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 baseline="-25000">
                <a:ea typeface="ＭＳ Ｐゴシック" charset="-128"/>
              </a:rPr>
              <a:t>1</a:t>
            </a:r>
            <a:r>
              <a:rPr lang="en-US" altLang="en-US">
                <a:ea typeface="ＭＳ Ｐゴシック" charset="-128"/>
              </a:rPr>
              <a:t>),  </a:t>
            </a:r>
            <a:r>
              <a:rPr lang="en-US" altLang="en-US" i="1">
                <a:ea typeface="ＭＳ Ｐゴシック" charset="-128"/>
              </a:rPr>
              <a:t>U</a:t>
            </a:r>
            <a:r>
              <a:rPr lang="en-US" altLang="en-US" baseline="-25000">
                <a:ea typeface="ＭＳ Ｐゴシック" charset="-128"/>
              </a:rPr>
              <a:t>2 </a:t>
            </a:r>
            <a:r>
              <a:rPr lang="en-US" altLang="en-US">
                <a:ea typeface="ＭＳ Ｐゴシック" charset="-128"/>
              </a:rPr>
              <a:t>= log(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 baseline="-25000">
                <a:ea typeface="ＭＳ Ｐゴシック" charset="-128"/>
              </a:rPr>
              <a:t>2</a:t>
            </a:r>
            <a:r>
              <a:rPr lang="en-US" altLang="en-US">
                <a:ea typeface="ＭＳ Ｐゴシック" charset="-128"/>
              </a:rPr>
              <a:t>), …, </a:t>
            </a:r>
            <a:r>
              <a:rPr lang="en-US" altLang="en-US" i="1">
                <a:ea typeface="ＭＳ Ｐゴシック" charset="-128"/>
              </a:rPr>
              <a:t>U</a:t>
            </a:r>
            <a:r>
              <a:rPr lang="en-US" altLang="en-US" i="1" baseline="-25000">
                <a:ea typeface="ＭＳ Ｐゴシック" charset="-128"/>
              </a:rPr>
              <a:t>m</a:t>
            </a:r>
            <a:r>
              <a:rPr lang="en-US" altLang="en-US">
                <a:ea typeface="ＭＳ Ｐゴシック" charset="-128"/>
              </a:rPr>
              <a:t> = log(</a:t>
            </a:r>
            <a:r>
              <a:rPr lang="en-US" altLang="en-US" i="1">
                <a:ea typeface="ＭＳ Ｐゴシック" charset="-128"/>
              </a:rPr>
              <a:t>X</a:t>
            </a:r>
            <a:r>
              <a:rPr lang="en-US" altLang="en-US" i="1" baseline="-25000">
                <a:ea typeface="ＭＳ Ｐゴシック" charset="-128"/>
              </a:rPr>
              <a:t>m</a:t>
            </a:r>
            <a:r>
              <a:rPr lang="en-US" altLang="en-US">
                <a:ea typeface="ＭＳ Ｐゴシック" charset="-128"/>
              </a:rPr>
              <a:t>) IS log(</a:t>
            </a:r>
            <a:r>
              <a:rPr lang="en-US" altLang="en-US" i="1">
                <a:ea typeface="ＭＳ Ｐゴシック" charset="-128"/>
              </a:rPr>
              <a:t>m</a:t>
            </a:r>
            <a:r>
              <a:rPr lang="en-US" altLang="en-US">
                <a:ea typeface="ＭＳ Ｐゴシック" charset="-128"/>
              </a:rPr>
              <a:t>).</a:t>
            </a:r>
          </a:p>
          <a:p>
            <a:pPr lvl="1"/>
            <a:r>
              <a:rPr lang="en-US" altLang="en-US" i="1">
                <a:solidFill>
                  <a:srgbClr val="008000"/>
                </a:solidFill>
                <a:ea typeface="ＭＳ Ｐゴシック" charset="-128"/>
              </a:rPr>
              <a:t>The median of the logs IS the log of the median</a:t>
            </a:r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48057F61-A6D1-0E4A-8AF2-9E723564E0B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DE346243-EEEE-E74F-BADB-A6000585477E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2971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690199C5-9568-3447-8041-48CB44E2517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2971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log(15) =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     e</a:t>
                      </a:r>
                      <a:r>
                        <a:rPr kumimoji="0" lang="en-US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89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A646CEC-93DB-FD4C-9ACE-03539A1EA74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2971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log(15) =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     e</a:t>
                      </a:r>
                      <a:r>
                        <a:rPr kumimoji="0" lang="en-US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CEDEBA4-61C1-824E-8AE6-C9A00989D53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2971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log(15) =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4213225" y="5000625"/>
            <a:ext cx="2027238" cy="273050"/>
          </a:xfrm>
          <a:prstGeom prst="straightConnector1">
            <a:avLst/>
          </a:prstGeom>
          <a:ln>
            <a:solidFill>
              <a:srgbClr val="008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ne Callout 1 13"/>
          <p:cNvSpPr/>
          <p:nvPr/>
        </p:nvSpPr>
        <p:spPr>
          <a:xfrm>
            <a:off x="6727825" y="2538413"/>
            <a:ext cx="1989138" cy="2006600"/>
          </a:xfrm>
          <a:prstGeom prst="borderCallout1">
            <a:avLst>
              <a:gd name="adj1" fmla="val 50038"/>
              <a:gd name="adj2" fmla="val -641"/>
              <a:gd name="adj3" fmla="val 129084"/>
              <a:gd name="adj4" fmla="val -76000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Exponentiating</a:t>
            </a:r>
            <a:r>
              <a:rPr lang="en-US" dirty="0">
                <a:solidFill>
                  <a:schemeClr val="tx1"/>
                </a:solidFill>
              </a:rPr>
              <a:t> the median of the log-transformed values </a:t>
            </a:r>
            <a:r>
              <a:rPr lang="en-US" b="1" dirty="0">
                <a:solidFill>
                  <a:schemeClr val="tx1"/>
                </a:solidFill>
              </a:rPr>
              <a:t>DOES</a:t>
            </a:r>
            <a:r>
              <a:rPr lang="en-US" dirty="0">
                <a:solidFill>
                  <a:schemeClr val="tx1"/>
                </a:solidFill>
              </a:rPr>
              <a:t> result in the median of the original values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40962" name="Content Placeholder 2"/>
          <p:cNvSpPr>
            <a:spLocks noGrp="1"/>
          </p:cNvSpPr>
          <p:nvPr>
            <p:ph idx="1"/>
          </p:nvPr>
        </p:nvSpPr>
        <p:spPr>
          <a:xfrm>
            <a:off x="457200" y="1585913"/>
            <a:ext cx="8229600" cy="4525962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Example: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77F49385-19C1-0249-B228-61DB8A9AE60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2509838"/>
          <a:ext cx="6096000" cy="29718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log(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3.00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X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Sample Median of </a:t>
                      </a: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: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log(15) = 2.71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</a:t>
                      </a:r>
                      <a:r>
                        <a:rPr kumimoji="0" lang="en-US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2.71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15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 flipV="1">
            <a:off x="3694113" y="5000625"/>
            <a:ext cx="3203575" cy="309563"/>
          </a:xfrm>
          <a:prstGeom prst="straightConnector1">
            <a:avLst/>
          </a:prstGeom>
          <a:ln>
            <a:solidFill>
              <a:srgbClr val="008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ne Callout 1 13"/>
          <p:cNvSpPr/>
          <p:nvPr/>
        </p:nvSpPr>
        <p:spPr>
          <a:xfrm>
            <a:off x="6727825" y="2538413"/>
            <a:ext cx="1989138" cy="2006600"/>
          </a:xfrm>
          <a:prstGeom prst="borderCallout1">
            <a:avLst>
              <a:gd name="adj1" fmla="val 50038"/>
              <a:gd name="adj2" fmla="val -641"/>
              <a:gd name="adj3" fmla="val 131241"/>
              <a:gd name="adj4" fmla="val -80355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Taking the log of the median of the original values </a:t>
            </a:r>
            <a:r>
              <a:rPr lang="en-US" b="1" dirty="0">
                <a:solidFill>
                  <a:schemeClr val="tx1"/>
                </a:solidFill>
              </a:rPr>
              <a:t>DOES </a:t>
            </a:r>
            <a:r>
              <a:rPr lang="en-US" dirty="0">
                <a:solidFill>
                  <a:schemeClr val="tx1"/>
                </a:solidFill>
              </a:rPr>
              <a:t>result in the median of the log-transformed values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book makes the following claims regarding interpretation after a log transformation:</a:t>
            </a:r>
          </a:p>
          <a:p>
            <a:pPr lvl="1">
              <a:defRPr/>
            </a:pPr>
            <a:r>
              <a:rPr lang="en-US" i="1" dirty="0">
                <a:solidFill>
                  <a:srgbClr val="FF0000"/>
                </a:solidFill>
              </a:rPr>
              <a:t>If the log-transformed data have symmetric distributions </a:t>
            </a:r>
            <a:r>
              <a:rPr lang="en-US" dirty="0">
                <a:solidFill>
                  <a:srgbClr val="FF0000"/>
                </a:solidFill>
              </a:rPr>
              <a:t>(big IF), </a:t>
            </a:r>
          </a:p>
          <a:p>
            <a:pPr marL="457200" lvl="1" indent="0" algn="ctr">
              <a:buFont typeface="Arial" charset="0"/>
              <a:buNone/>
              <a:defRPr/>
            </a:pPr>
            <a:r>
              <a:rPr lang="en-US" dirty="0"/>
              <a:t>Mean[log(</a:t>
            </a:r>
            <a:r>
              <a:rPr lang="en-US" i="1" dirty="0"/>
              <a:t>Y</a:t>
            </a:r>
            <a:r>
              <a:rPr lang="en-US" dirty="0"/>
              <a:t>)] = Median[log(</a:t>
            </a:r>
            <a:r>
              <a:rPr lang="en-US" i="1" dirty="0"/>
              <a:t>Y</a:t>
            </a:r>
            <a:r>
              <a:rPr lang="en-US" dirty="0"/>
              <a:t>)]</a:t>
            </a:r>
          </a:p>
          <a:p>
            <a:pPr lvl="1">
              <a:defRPr/>
            </a:pPr>
            <a:r>
              <a:rPr lang="en-US" dirty="0"/>
              <a:t>And since log preserves ordering, </a:t>
            </a:r>
          </a:p>
          <a:p>
            <a:pPr marL="457200" lvl="1" indent="0" algn="ctr">
              <a:buFont typeface="Arial" charset="0"/>
              <a:buNone/>
              <a:defRPr/>
            </a:pPr>
            <a:r>
              <a:rPr lang="en-US" dirty="0"/>
              <a:t>Median[log(</a:t>
            </a:r>
            <a:r>
              <a:rPr lang="en-US" i="1" dirty="0"/>
              <a:t>Y</a:t>
            </a:r>
            <a:r>
              <a:rPr lang="en-US" dirty="0"/>
              <a:t>)] = log[Median(</a:t>
            </a:r>
            <a:r>
              <a:rPr lang="en-US" i="1" dirty="0"/>
              <a:t>Y</a:t>
            </a:r>
            <a:r>
              <a:rPr lang="en-US" dirty="0"/>
              <a:t>)]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F378B17-B5D0-D741-B442-CB1E7161C002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381250" y="3606800"/>
            <a:ext cx="288925" cy="2603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altLang="en-US" sz="2400">
                <a:ea typeface="ＭＳ Ｐゴシック" charset="-128"/>
              </a:rPr>
              <a:t>Therefore </a:t>
            </a:r>
            <a:r>
              <a:rPr lang="en-US" altLang="en-US" sz="2400" i="1">
                <a:solidFill>
                  <a:srgbClr val="FF0000"/>
                </a:solidFill>
                <a:ea typeface="ＭＳ Ｐゴシック" charset="-128"/>
              </a:rPr>
              <a:t>if the log-transformed data have symmetric distributions </a:t>
            </a:r>
            <a:r>
              <a:rPr lang="en-US" altLang="en-US" sz="2400">
                <a:solidFill>
                  <a:srgbClr val="FF0000"/>
                </a:solidFill>
                <a:ea typeface="ＭＳ Ｐゴシック" charset="-128"/>
              </a:rPr>
              <a:t>(big IF), </a:t>
            </a:r>
            <a:r>
              <a:rPr lang="en-US" altLang="en-US" sz="2400">
                <a:ea typeface="ＭＳ Ｐゴシック" charset="-128"/>
              </a:rPr>
              <a:t>testing hypothesis regarding the mean of the log-transformed values will provide inference regarding the medians of the original values.</a:t>
            </a:r>
            <a:endParaRPr lang="en-US" altLang="en-US">
              <a:ea typeface="ＭＳ Ｐゴシック" charset="-128"/>
            </a:endParaRPr>
          </a:p>
          <a:p>
            <a:pPr marL="0" indent="0" algn="ctr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19651A3-EF52-EC45-9BE6-F57D4C87A132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43015" name="Object 6"/>
          <p:cNvGraphicFramePr>
            <a:graphicFrameLocks noChangeAspect="1"/>
          </p:cNvGraphicFramePr>
          <p:nvPr/>
        </p:nvGraphicFramePr>
        <p:xfrm>
          <a:off x="1760538" y="3122613"/>
          <a:ext cx="5249862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700" imgH="1816100" progId="Equation.3">
                  <p:embed/>
                </p:oleObj>
              </mc:Choice>
              <mc:Fallback>
                <p:oleObj name="Equation" r:id="rId2" imgW="2806700" imgH="1816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3122613"/>
                        <a:ext cx="5249862" cy="339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Callout 1 8"/>
          <p:cNvSpPr/>
          <p:nvPr/>
        </p:nvSpPr>
        <p:spPr>
          <a:xfrm>
            <a:off x="457200" y="3606800"/>
            <a:ext cx="1676400" cy="1790700"/>
          </a:xfrm>
          <a:prstGeom prst="borderCallout1">
            <a:avLst>
              <a:gd name="adj1" fmla="val 49316"/>
              <a:gd name="adj2" fmla="val 100910"/>
              <a:gd name="adj3" fmla="val 7598"/>
              <a:gd name="adj4" fmla="val 115179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ONLY if the log-transformed data have a </a:t>
            </a:r>
            <a:r>
              <a:rPr lang="en-US" i="1" dirty="0">
                <a:solidFill>
                  <a:schemeClr val="tx1"/>
                </a:solidFill>
              </a:rPr>
              <a:t>symmetric population distribution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2A4C60C1-CF7A-B341-AFCE-08C401B179B0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403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09688"/>
            <a:ext cx="4926013" cy="554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4646613" y="4762500"/>
            <a:ext cx="1373187" cy="158750"/>
          </a:xfrm>
          <a:prstGeom prst="round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Line Callout 1 9"/>
          <p:cNvSpPr/>
          <p:nvPr/>
        </p:nvSpPr>
        <p:spPr>
          <a:xfrm>
            <a:off x="7059613" y="2900363"/>
            <a:ext cx="1771650" cy="2324100"/>
          </a:xfrm>
          <a:prstGeom prst="borderCallout1">
            <a:avLst>
              <a:gd name="adj1" fmla="val 49898"/>
              <a:gd name="adj2" fmla="val 627"/>
              <a:gd name="adj3" fmla="val 83884"/>
              <a:gd name="adj4" fmla="val -57884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</a:rPr>
              <a:t>But what is this ‘estimate’ estimating?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</a:rPr>
              <a:t>Ratio of medians IF the log transformed distributions are symmetric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a typeface="ＭＳ Ｐゴシック" charset="-128"/>
              </a:rPr>
              <a:t>(Are you good at identifying symmetric population distributions with a histogram?)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BF2008E-D509-3D4A-80E6-1957FE21F014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5061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417638"/>
            <a:ext cx="5761038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a typeface="ＭＳ Ｐゴシック" charset="-128"/>
              </a:rPr>
              <a:t>(Are you good at identifying symmetric population distributions with a histogram?)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ACAA47E2-B10E-724F-B17F-2B69CA4FDA97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608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417638"/>
            <a:ext cx="5761038" cy="57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Transformations 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Caveats: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CHANGES the questions you are answering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Can be difficult to translate inference back to the original scale (interpretation as </a:t>
            </a:r>
            <a:r>
              <a:rPr lang="en-US" altLang="en-US" sz="2400" i="1">
                <a:ea typeface="ＭＳ Ｐゴシック" charset="-128"/>
              </a:rPr>
              <a:t>geometric mean</a:t>
            </a:r>
            <a:r>
              <a:rPr lang="en-US" altLang="en-US" sz="2400">
                <a:ea typeface="ＭＳ Ｐゴシック" charset="-128"/>
              </a:rPr>
              <a:t>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Might not ‘fix’ the ‘problem’ (the log transformed data could still be skewed, perhaps in the opposite direction)</a:t>
            </a:r>
          </a:p>
          <a:p>
            <a:r>
              <a:rPr lang="en-US" altLang="en-US" sz="2800">
                <a:ea typeface="ＭＳ Ｐゴシック" charset="-128"/>
              </a:rPr>
              <a:t>Recommendations: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Consider a log-transformation of your data </a:t>
            </a:r>
            <a:r>
              <a:rPr lang="en-US" altLang="en-US" sz="2400" i="1">
                <a:ea typeface="ＭＳ Ｐゴシック" charset="-128"/>
              </a:rPr>
              <a:t>if</a:t>
            </a:r>
            <a:r>
              <a:rPr lang="en-US" altLang="en-US" sz="2400">
                <a:ea typeface="ＭＳ Ｐゴシック" charset="-128"/>
              </a:rPr>
              <a:t> you are interested in the log scale (i.e. a </a:t>
            </a:r>
            <a:r>
              <a:rPr lang="en-US" altLang="en-US" sz="2400" i="1">
                <a:ea typeface="ＭＳ Ｐゴシック" charset="-128"/>
              </a:rPr>
              <a:t>multiplicative effect)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Do not try to transform back to medians on the original scale (it is challenging to assess the assumption)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AE9A707-8D10-854E-A8BF-E63E09484B7A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Log Transformations </a:t>
            </a: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Caveats: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CHANGES the questions you are answering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Can be difficult to translate/interpret inference back to the original scale (interpretation as </a:t>
            </a:r>
            <a:r>
              <a:rPr lang="en-US" altLang="en-US" sz="2400" i="1">
                <a:ea typeface="ＭＳ Ｐゴシック" charset="-128"/>
              </a:rPr>
              <a:t>geometric mean</a:t>
            </a:r>
            <a:r>
              <a:rPr lang="en-US" altLang="en-US" sz="2400">
                <a:ea typeface="ＭＳ Ｐゴシック" charset="-128"/>
              </a:rPr>
              <a:t>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Might not ‘fix’ the ‘problem’ (the log transformed data could still be skewed, perhaps in the opposite direction)</a:t>
            </a:r>
          </a:p>
          <a:p>
            <a:r>
              <a:rPr lang="en-US" altLang="en-US" sz="2800">
                <a:ea typeface="ＭＳ Ｐゴシック" charset="-128"/>
              </a:rPr>
              <a:t>Recommendations: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Consider a log-transformation of your data </a:t>
            </a:r>
            <a:r>
              <a:rPr lang="en-US" altLang="en-US" sz="2400" i="1">
                <a:ea typeface="ＭＳ Ｐゴシック" charset="-128"/>
              </a:rPr>
              <a:t>if</a:t>
            </a:r>
            <a:r>
              <a:rPr lang="en-US" altLang="en-US" sz="2400">
                <a:ea typeface="ＭＳ Ｐゴシック" charset="-128"/>
              </a:rPr>
              <a:t> you are interested in the log scale (i.e. a </a:t>
            </a:r>
            <a:r>
              <a:rPr lang="en-US" altLang="en-US" sz="2400" i="1">
                <a:ea typeface="ＭＳ Ｐゴシック" charset="-128"/>
              </a:rPr>
              <a:t>multiplicative effect)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Do not try to transform back to medians on the original scale (it is challenging to assess the assumption)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EEA2EF4C-E571-074A-B95D-5E3C3E80AAD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Line Callout 1 1"/>
          <p:cNvSpPr/>
          <p:nvPr/>
        </p:nvSpPr>
        <p:spPr>
          <a:xfrm>
            <a:off x="5641975" y="3567113"/>
            <a:ext cx="3386138" cy="1989137"/>
          </a:xfrm>
          <a:prstGeom prst="borderCallout1">
            <a:avLst>
              <a:gd name="adj1" fmla="val 52142"/>
              <a:gd name="adj2" fmla="val -661"/>
              <a:gd name="adj3" fmla="val -14533"/>
              <a:gd name="adj4" fmla="val -8072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i="1" dirty="0">
                <a:solidFill>
                  <a:schemeClr val="tx1"/>
                </a:solidFill>
              </a:rPr>
              <a:t>geometric</a:t>
            </a:r>
            <a:r>
              <a:rPr lang="en-US" dirty="0">
                <a:solidFill>
                  <a:schemeClr val="tx1"/>
                </a:solidFill>
              </a:rPr>
              <a:t> mean of a set of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 numbers is found by: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Taking the product of (multiplying) all the numbers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</a:rPr>
              <a:t>Taking the </a:t>
            </a:r>
            <a:r>
              <a:rPr lang="en-US" i="1" dirty="0">
                <a:solidFill>
                  <a:schemeClr val="tx1"/>
                </a:solidFill>
              </a:rPr>
              <a:t>n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root of that product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Alternatives to </a:t>
            </a:r>
            <a:r>
              <a:rPr lang="en-US" altLang="en-US" i="1">
                <a:ea typeface="ＭＳ Ｐゴシック" charset="-128"/>
              </a:rPr>
              <a:t>t</a:t>
            </a:r>
            <a:r>
              <a:rPr lang="en-US" altLang="en-US">
                <a:ea typeface="ＭＳ Ｐゴシック" charset="-128"/>
              </a:rPr>
              <a:t>-test 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Two-sample problems first: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Wilcoxon Rank-Sum test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Permutation tests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Welch </a:t>
            </a:r>
            <a:r>
              <a:rPr lang="en-US" altLang="en-US" sz="2400" i="1">
                <a:ea typeface="ＭＳ Ｐゴシック" charset="-128"/>
              </a:rPr>
              <a:t>t</a:t>
            </a:r>
            <a:r>
              <a:rPr lang="en-US" altLang="en-US" sz="2400">
                <a:ea typeface="ＭＳ Ｐゴシック" charset="-128"/>
              </a:rPr>
              <a:t>-test (unequal variance two-sample </a:t>
            </a:r>
            <a:r>
              <a:rPr lang="en-US" altLang="en-US" sz="2400" i="1">
                <a:ea typeface="ＭＳ Ｐゴシック" charset="-128"/>
              </a:rPr>
              <a:t>t</a:t>
            </a:r>
            <a:r>
              <a:rPr lang="en-US" altLang="en-US" sz="2400">
                <a:ea typeface="ＭＳ Ｐゴシック" charset="-128"/>
              </a:rPr>
              <a:t>-test)</a:t>
            </a:r>
          </a:p>
          <a:p>
            <a:r>
              <a:rPr lang="en-US" altLang="en-US" sz="2800">
                <a:ea typeface="ＭＳ Ｐゴシック" charset="-128"/>
              </a:rPr>
              <a:t>Paired and one-sample problems next: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Sign test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Wilcoxon Signed-Rank test</a:t>
            </a:r>
          </a:p>
          <a:p>
            <a:r>
              <a:rPr lang="en-US" altLang="en-US" sz="2800">
                <a:ea typeface="ＭＳ Ｐゴシック" charset="-128"/>
              </a:rPr>
              <a:t>(Tests of Population Variances)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Used 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Levene’s test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CAF6D7F-CA8C-8449-BDE2-89A0B8617A1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>
                <a:ea typeface="ＭＳ Ｐゴシック" charset="-128"/>
              </a:rPr>
              <a:t>Also called: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Rank-Sum test (as in textbook)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Wilcoxon test (but this is ambiguous; we will see the Wilcoxon Signed-Rank test next week)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Mann-Whitney </a:t>
            </a:r>
            <a:r>
              <a:rPr lang="en-US" altLang="en-US" sz="2000" i="1">
                <a:ea typeface="ＭＳ Ｐゴシック" charset="-128"/>
              </a:rPr>
              <a:t>U </a:t>
            </a:r>
            <a:r>
              <a:rPr lang="en-US" altLang="en-US" sz="2000">
                <a:ea typeface="ＭＳ Ｐゴシック" charset="-128"/>
              </a:rPr>
              <a:t>test</a:t>
            </a:r>
          </a:p>
          <a:p>
            <a:pPr lvl="1"/>
            <a:r>
              <a:rPr lang="en-US" altLang="en-US" sz="2000">
                <a:ea typeface="ＭＳ Ｐゴシック" charset="-128"/>
              </a:rPr>
              <a:t>Wilcoxon-Mann-Whitney test</a:t>
            </a:r>
          </a:p>
          <a:p>
            <a:r>
              <a:rPr lang="en-US" altLang="en-US" sz="2400">
                <a:ea typeface="ＭＳ Ｐゴシック" charset="-128"/>
              </a:rPr>
              <a:t>Used to assess ‘difference’ between two populations, using two independent samples.</a:t>
            </a:r>
          </a:p>
          <a:p>
            <a:r>
              <a:rPr lang="en-US" altLang="en-US" sz="2400">
                <a:ea typeface="ＭＳ Ｐゴシック" charset="-128"/>
              </a:rPr>
              <a:t>Setting: Two independent samples (of independent observations)</a:t>
            </a:r>
          </a:p>
          <a:p>
            <a:pPr lvl="1"/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baseline="-25000">
                <a:ea typeface="ＭＳ Ｐゴシック" charset="-128"/>
              </a:rPr>
              <a:t>1</a:t>
            </a:r>
            <a:r>
              <a:rPr lang="en-US" altLang="en-US" sz="2000">
                <a:ea typeface="ＭＳ Ｐゴシック" charset="-128"/>
              </a:rPr>
              <a:t>, </a:t>
            </a:r>
            <a:r>
              <a:rPr lang="en-US" altLang="en-US" sz="2000" i="1">
                <a:ea typeface="ＭＳ Ｐゴシック" charset="-128"/>
              </a:rPr>
              <a:t>X</a:t>
            </a:r>
            <a:r>
              <a:rPr lang="en-US" altLang="en-US" sz="2000" baseline="-25000">
                <a:ea typeface="ＭＳ Ｐゴシック" charset="-128"/>
              </a:rPr>
              <a:t>2</a:t>
            </a:r>
            <a:r>
              <a:rPr lang="en-US" altLang="en-US" sz="2000">
                <a:ea typeface="ＭＳ Ｐゴシック" charset="-128"/>
              </a:rPr>
              <a:t>, </a:t>
            </a:r>
            <a:r>
              <a:rPr lang="en-US" altLang="en-US" sz="2000" i="1">
                <a:ea typeface="ＭＳ Ｐゴシック" charset="-128"/>
              </a:rPr>
              <a:t>…, X</a:t>
            </a:r>
            <a:r>
              <a:rPr lang="en-US" altLang="en-US" sz="2000" i="1" baseline="-25000">
                <a:ea typeface="ＭＳ Ｐゴシック" charset="-128"/>
              </a:rPr>
              <a:t>m</a:t>
            </a:r>
            <a:r>
              <a:rPr lang="en-US" altLang="en-US" sz="2000" i="1">
                <a:ea typeface="ＭＳ Ｐゴシック" charset="-128"/>
              </a:rPr>
              <a:t>  </a:t>
            </a:r>
            <a:r>
              <a:rPr lang="en-US" altLang="en-US" sz="2000">
                <a:ea typeface="ＭＳ Ｐゴシック" charset="-128"/>
              </a:rPr>
              <a:t>from population 1 </a:t>
            </a:r>
          </a:p>
          <a:p>
            <a:pPr lvl="1"/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baseline="-25000">
                <a:ea typeface="ＭＳ Ｐゴシック" charset="-128"/>
              </a:rPr>
              <a:t>1</a:t>
            </a:r>
            <a:r>
              <a:rPr lang="en-US" altLang="en-US" sz="2000">
                <a:ea typeface="ＭＳ Ｐゴシック" charset="-128"/>
              </a:rPr>
              <a:t>, 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baseline="-25000">
                <a:ea typeface="ＭＳ Ｐゴシック" charset="-128"/>
              </a:rPr>
              <a:t>2</a:t>
            </a:r>
            <a:r>
              <a:rPr lang="en-US" altLang="en-US" sz="2000">
                <a:ea typeface="ＭＳ Ｐゴシック" charset="-128"/>
              </a:rPr>
              <a:t>, …, </a:t>
            </a:r>
            <a:r>
              <a:rPr lang="en-US" altLang="en-US" sz="2000" i="1">
                <a:ea typeface="ＭＳ Ｐゴシック" charset="-128"/>
              </a:rPr>
              <a:t>Y</a:t>
            </a:r>
            <a:r>
              <a:rPr lang="en-US" altLang="en-US" sz="2000" baseline="-25000">
                <a:ea typeface="ＭＳ Ｐゴシック" charset="-128"/>
              </a:rPr>
              <a:t>n</a:t>
            </a:r>
            <a:r>
              <a:rPr lang="en-US" altLang="en-US" sz="2000">
                <a:ea typeface="ＭＳ Ｐゴシック" charset="-128"/>
              </a:rPr>
              <a:t> from population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EF5DCE6-39DE-514E-BE6C-C09215EF0D4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</a:t>
            </a:r>
          </a:p>
        </p:txBody>
      </p:sp>
      <p:sp>
        <p:nvSpPr>
          <p:cNvPr id="512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Procedure:</a:t>
            </a:r>
          </a:p>
          <a:p>
            <a:pPr lvl="1"/>
            <a:r>
              <a:rPr lang="en-US" altLang="en-US">
                <a:ea typeface="ＭＳ Ｐゴシック" charset="-128"/>
              </a:rPr>
              <a:t>Combine the samples (keeping track of which observation comes from which sample)</a:t>
            </a:r>
          </a:p>
          <a:p>
            <a:pPr lvl="1"/>
            <a:r>
              <a:rPr lang="en-US" altLang="en-US">
                <a:ea typeface="ＭＳ Ｐゴシック" charset="-128"/>
              </a:rPr>
              <a:t>Rank the observations from smallest to largest</a:t>
            </a:r>
          </a:p>
          <a:p>
            <a:pPr lvl="2"/>
            <a:r>
              <a:rPr lang="en-US" altLang="en-US">
                <a:ea typeface="ＭＳ Ｐゴシック" charset="-128"/>
              </a:rPr>
              <a:t>Ties must be dealt with by averaging (more later)</a:t>
            </a:r>
          </a:p>
          <a:p>
            <a:pPr lvl="1"/>
            <a:r>
              <a:rPr lang="en-US" altLang="en-US">
                <a:ea typeface="ＭＳ Ｐゴシック" charset="-128"/>
              </a:rPr>
              <a:t>Add up the ranks that come from the smaller group</a:t>
            </a:r>
          </a:p>
          <a:p>
            <a:pPr lvl="2"/>
            <a:r>
              <a:rPr lang="en-US" altLang="en-US">
                <a:ea typeface="ＭＳ Ｐゴシック" charset="-128"/>
              </a:rPr>
              <a:t>This choice is arbitrary, but simplifies calculations</a:t>
            </a:r>
          </a:p>
          <a:p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57F0FF9-E1E3-D745-9C3D-58633355EC3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>
                <a:ea typeface="ＭＳ Ｐゴシック" charset="-128"/>
              </a:rPr>
              <a:t>Example:</a:t>
            </a:r>
          </a:p>
          <a:p>
            <a:pPr marL="0" indent="0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089A8EF-1CE3-D041-BED6-CBCC0F23B6A6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223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9625"/>
            <a:ext cx="914400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</a:t>
            </a: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>
                <a:ea typeface="ＭＳ Ｐゴシック" charset="-128"/>
              </a:rPr>
              <a:t>Example:</a:t>
            </a:r>
          </a:p>
          <a:p>
            <a:pPr marL="0" indent="0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1BBA780-A820-1746-B981-FD17C227B6DD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325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9625"/>
            <a:ext cx="914400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>
                <a:ea typeface="ＭＳ Ｐゴシック" charset="-128"/>
              </a:rPr>
              <a:t>Example:</a:t>
            </a:r>
          </a:p>
          <a:p>
            <a:pPr marL="0" indent="0">
              <a:buFont typeface="Arial" charset="0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C4787C41-4D2A-214B-B646-33B12E2C59C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39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427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9625"/>
            <a:ext cx="914400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431D0465-1A1E-8246-9C79-B01B83F75B7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55301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1179513"/>
            <a:ext cx="5427662" cy="567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Reference Distribution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How do we decide whether the result is ‘significant’?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How do we compute </a:t>
            </a:r>
            <a:r>
              <a:rPr lang="en-US" altLang="en-US" sz="2400" i="1">
                <a:ea typeface="ＭＳ Ｐゴシック" charset="-128"/>
              </a:rPr>
              <a:t>p</a:t>
            </a:r>
            <a:r>
              <a:rPr lang="en-US" altLang="en-US" sz="2400">
                <a:ea typeface="ＭＳ Ｐゴシック" charset="-128"/>
              </a:rPr>
              <a:t>-values?</a:t>
            </a:r>
          </a:p>
          <a:p>
            <a:r>
              <a:rPr lang="en-US" altLang="en-US" sz="2800">
                <a:ea typeface="ＭＳ Ｐゴシック" charset="-128"/>
              </a:rPr>
              <a:t>It is unlikely that all of the small (or all of the large) observations would belong to Group 1 if the two populations have the same distribution.</a:t>
            </a:r>
          </a:p>
          <a:p>
            <a:r>
              <a:rPr lang="en-US" altLang="en-US" sz="2800">
                <a:ea typeface="ＭＳ Ｐゴシック" charset="-128"/>
              </a:rPr>
              <a:t>We can use a </a:t>
            </a:r>
            <a:r>
              <a:rPr lang="en-US" altLang="en-US" sz="2800" i="1">
                <a:ea typeface="ＭＳ Ｐゴシック" charset="-128"/>
              </a:rPr>
              <a:t>permutation</a:t>
            </a:r>
            <a:r>
              <a:rPr lang="en-US" altLang="en-US" sz="2800">
                <a:ea typeface="ＭＳ Ｐゴシック" charset="-128"/>
              </a:rPr>
              <a:t> approach to decide how unusual our observed test statistic is, if all of the observations come from the same distribution.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52C2189F-820A-754E-9117-1658F67BC528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Reference Distribution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charset="-128"/>
              </a:rPr>
              <a:t>Reference null distribution for the Wilcoxon Rank-Sum statistic </a:t>
            </a:r>
            <a:r>
              <a:rPr lang="en-US" altLang="en-US" sz="2800" i="1">
                <a:ea typeface="ＭＳ Ｐゴシック" charset="-128"/>
              </a:rPr>
              <a:t>T:</a:t>
            </a:r>
          </a:p>
          <a:p>
            <a:pPr lvl="1"/>
            <a:r>
              <a:rPr lang="en-US" altLang="en-US" sz="2400">
                <a:ea typeface="ＭＳ Ｐゴシック" charset="-128"/>
              </a:rPr>
              <a:t>If there were </a:t>
            </a:r>
            <a:r>
              <a:rPr lang="en-US" altLang="en-US" sz="2400" i="1">
                <a:ea typeface="ＭＳ Ｐゴシック" charset="-128"/>
              </a:rPr>
              <a:t>no</a:t>
            </a:r>
            <a:r>
              <a:rPr lang="en-US" altLang="en-US" sz="2400">
                <a:ea typeface="ＭＳ Ｐゴシック" charset="-128"/>
              </a:rPr>
              <a:t> </a:t>
            </a:r>
            <a:r>
              <a:rPr lang="en-US" altLang="en-US" sz="2400" i="1">
                <a:ea typeface="ＭＳ Ｐゴシック" charset="-128"/>
              </a:rPr>
              <a:t>difference</a:t>
            </a:r>
            <a:r>
              <a:rPr lang="en-US" altLang="en-US" sz="2400">
                <a:ea typeface="ＭＳ Ｐゴシック" charset="-128"/>
              </a:rPr>
              <a:t> between the two groups’ populations, then each rank between 1 and (</a:t>
            </a:r>
            <a:r>
              <a:rPr lang="en-US" altLang="en-US" sz="2400" i="1">
                <a:ea typeface="ＭＳ Ｐゴシック" charset="-128"/>
              </a:rPr>
              <a:t>m</a:t>
            </a:r>
            <a:r>
              <a:rPr lang="en-US" altLang="en-US" sz="2400">
                <a:ea typeface="ＭＳ Ｐゴシック" charset="-128"/>
              </a:rPr>
              <a:t> + </a:t>
            </a:r>
            <a:r>
              <a:rPr lang="en-US" altLang="en-US" sz="2400" i="1">
                <a:ea typeface="ＭＳ Ｐゴシック" charset="-128"/>
              </a:rPr>
              <a:t>n</a:t>
            </a:r>
            <a:r>
              <a:rPr lang="en-US" altLang="en-US" sz="2400">
                <a:ea typeface="ＭＳ Ｐゴシック" charset="-128"/>
              </a:rPr>
              <a:t>) would have the same chance of being assigned to the smaller group.</a:t>
            </a:r>
          </a:p>
          <a:p>
            <a:pPr lvl="2"/>
            <a:r>
              <a:rPr lang="en-US" altLang="en-US" sz="2000">
                <a:ea typeface="ＭＳ Ｐゴシック" charset="-128"/>
              </a:rPr>
              <a:t>For example, suppose we have </a:t>
            </a:r>
            <a:r>
              <a:rPr lang="en-US" altLang="en-US" sz="2000" i="1">
                <a:ea typeface="ＭＳ Ｐゴシック" charset="-128"/>
              </a:rPr>
              <a:t>m </a:t>
            </a:r>
            <a:r>
              <a:rPr lang="en-US" altLang="en-US" sz="2000">
                <a:ea typeface="ＭＳ Ｐゴシック" charset="-128"/>
              </a:rPr>
              <a:t>= 4 observations in Group 1 and 7 observations in Group 2 (</a:t>
            </a:r>
            <a:r>
              <a:rPr lang="en-US" altLang="en-US" sz="2000" i="1">
                <a:ea typeface="ＭＳ Ｐゴシック" charset="-128"/>
              </a:rPr>
              <a:t>m</a:t>
            </a:r>
            <a:r>
              <a:rPr lang="en-US" altLang="en-US" sz="2000">
                <a:ea typeface="ＭＳ Ｐゴシック" charset="-128"/>
              </a:rPr>
              <a:t> + </a:t>
            </a:r>
            <a:r>
              <a:rPr lang="en-US" altLang="en-US" sz="2000" i="1">
                <a:ea typeface="ＭＳ Ｐゴシック" charset="-128"/>
              </a:rPr>
              <a:t>n</a:t>
            </a:r>
            <a:r>
              <a:rPr lang="en-US" altLang="en-US" sz="2000">
                <a:ea typeface="ＭＳ Ｐゴシック" charset="-128"/>
              </a:rPr>
              <a:t> = 11)</a:t>
            </a:r>
          </a:p>
          <a:p>
            <a:pPr lvl="2"/>
            <a:r>
              <a:rPr lang="en-US" altLang="en-US" sz="2000">
                <a:ea typeface="ＭＳ Ｐゴシック" charset="-128"/>
              </a:rPr>
              <a:t>The chance of rank 1 being assigned to Group 1 would be 4/11</a:t>
            </a:r>
          </a:p>
          <a:p>
            <a:pPr lvl="2"/>
            <a:r>
              <a:rPr lang="en-US" altLang="en-US" sz="2000">
                <a:ea typeface="ＭＳ Ｐゴシック" charset="-128"/>
              </a:rPr>
              <a:t>The chance of rank 2 being assigned to Group 1 would be 4/11</a:t>
            </a:r>
          </a:p>
          <a:p>
            <a:pPr lvl="2"/>
            <a:r>
              <a:rPr lang="en-US" altLang="en-US" sz="2000">
                <a:ea typeface="ＭＳ Ｐゴシック" charset="-128"/>
              </a:rPr>
              <a:t>…</a:t>
            </a:r>
          </a:p>
          <a:p>
            <a:pPr lvl="2"/>
            <a:r>
              <a:rPr lang="en-US" altLang="en-US" sz="2000">
                <a:ea typeface="ＭＳ Ｐゴシック" charset="-128"/>
              </a:rPr>
              <a:t>The chance of rank 11 being assigned to Group 1 would be 4/11</a:t>
            </a:r>
            <a:endParaRPr lang="en-US" altLang="en-US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07AFAB63-47E2-684A-A376-1635A76FC4D1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Reference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  <a:defRPr/>
            </a:pPr>
            <a:r>
              <a:rPr lang="en-US" i="1" dirty="0"/>
              <a:t>Permute </a:t>
            </a:r>
            <a:r>
              <a:rPr lang="en-US" dirty="0"/>
              <a:t>the group assignments and re-compute the test statistic for each permutation to obtain the null distribution</a:t>
            </a:r>
            <a:endParaRPr lang="en-US" i="1" dirty="0"/>
          </a:p>
          <a:p>
            <a:pPr lvl="1">
              <a:defRPr/>
            </a:pPr>
            <a:r>
              <a:rPr lang="en-US" dirty="0"/>
              <a:t>Example: Suppose we observe </a:t>
            </a:r>
          </a:p>
          <a:p>
            <a:pPr lvl="2">
              <a:defRPr/>
            </a:pPr>
            <a:r>
              <a:rPr lang="en-US" dirty="0"/>
              <a:t>Group 1: 4, 17, 12</a:t>
            </a:r>
          </a:p>
          <a:p>
            <a:pPr lvl="2">
              <a:defRPr/>
            </a:pPr>
            <a:r>
              <a:rPr lang="en-US" dirty="0"/>
              <a:t>Group 2: 13, 18, 15, 20</a:t>
            </a:r>
          </a:p>
          <a:p>
            <a:pPr lvl="1">
              <a:defRPr/>
            </a:pPr>
            <a:r>
              <a:rPr lang="en-US" dirty="0"/>
              <a:t>What is the Wilcoxon Rank-Sum test statistic </a:t>
            </a:r>
            <a:r>
              <a:rPr lang="en-US" i="1" dirty="0"/>
              <a:t>T</a:t>
            </a:r>
            <a:r>
              <a:rPr lang="en-US" dirty="0"/>
              <a:t>?</a:t>
            </a:r>
          </a:p>
          <a:p>
            <a:pPr lvl="1">
              <a:defRPr/>
            </a:pPr>
            <a:r>
              <a:rPr lang="en-US" dirty="0"/>
              <a:t>What is the reference null distribution for </a:t>
            </a:r>
            <a:r>
              <a:rPr lang="en-US" i="1" dirty="0"/>
              <a:t>T</a:t>
            </a:r>
            <a:r>
              <a:rPr lang="en-US" dirty="0"/>
              <a:t>?</a:t>
            </a:r>
          </a:p>
          <a:p>
            <a:pPr lvl="2">
              <a:defRPr/>
            </a:pPr>
            <a:r>
              <a:rPr lang="en-US" i="1" dirty="0"/>
              <a:t> </a:t>
            </a:r>
            <a:r>
              <a:rPr lang="en-US" dirty="0"/>
              <a:t>(What is the distribution of the values of </a:t>
            </a:r>
            <a:r>
              <a:rPr lang="en-US" i="1" dirty="0"/>
              <a:t>T</a:t>
            </a:r>
            <a:r>
              <a:rPr lang="en-US" dirty="0"/>
              <a:t> if each rank has the same chance of being assigned to Group 1)</a:t>
            </a:r>
          </a:p>
          <a:p>
            <a:pPr lvl="2">
              <a:defRPr/>
            </a:pPr>
            <a:endParaRPr lang="en-US" dirty="0"/>
          </a:p>
          <a:p>
            <a:pPr marL="457200" lvl="1" indent="0">
              <a:buFont typeface="Arial" charset="0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E219191E-F050-E34F-9885-1B8BB136BA32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3140076" cy="4856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0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Group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Observed value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13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18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58" marR="91458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 marL="91458" marR="91458" marT="45717" marB="457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9F202EE-DB5F-FB41-AB93-ADEA6B42E5DF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4708524" cy="4856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9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Group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Observed value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Rank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13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18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B5B0CB8A-DB65-1B4B-AF0F-8FE59454716A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5902325" y="1831975"/>
            <a:ext cx="1108075" cy="461963"/>
          </a:xfrm>
          <a:prstGeom prst="roundRect">
            <a:avLst/>
          </a:prstGeom>
          <a:solidFill>
            <a:srgbClr val="FFFF00"/>
          </a:solidFill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42" name="TextBox 2"/>
          <p:cNvSpPr txBox="1">
            <a:spLocks noChangeArrowheads="1"/>
          </p:cNvSpPr>
          <p:nvPr/>
        </p:nvSpPr>
        <p:spPr bwMode="auto">
          <a:xfrm>
            <a:off x="5426075" y="1831975"/>
            <a:ext cx="3260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i="1"/>
              <a:t>T</a:t>
            </a:r>
            <a:r>
              <a:rPr lang="en-US" altLang="en-US"/>
              <a:t> = 1 + 5 + 2 = 8</a:t>
            </a:r>
            <a:endParaRPr lang="en-US" altLang="en-US" i="1"/>
          </a:p>
        </p:txBody>
      </p:sp>
      <p:sp>
        <p:nvSpPr>
          <p:cNvPr id="8" name="Rounded Rectangle 7"/>
          <p:cNvSpPr/>
          <p:nvPr/>
        </p:nvSpPr>
        <p:spPr>
          <a:xfrm>
            <a:off x="4170363" y="2308225"/>
            <a:ext cx="419100" cy="17462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4708524" cy="4856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9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Group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Observed value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Rank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17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13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18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15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 marL="91427" marR="91427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 marL="91427" marR="91427" marT="45717" marB="457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800357AE-F70E-BF42-A484-9D77114F584B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70363" y="2381250"/>
            <a:ext cx="419100" cy="1616075"/>
          </a:xfrm>
          <a:prstGeom prst="round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400">
                <a:ea typeface="ＭＳ Ｐゴシック" charset="-128"/>
              </a:rPr>
              <a:t>List all possible ways that three ranks could be chosen from the ranks 1, …, 7 for Group 1, and the corresponding value of </a:t>
            </a:r>
            <a:r>
              <a:rPr lang="en-US" altLang="en-US" sz="2400" i="1">
                <a:ea typeface="ＭＳ Ｐゴシック" charset="-128"/>
              </a:rPr>
              <a:t>T</a:t>
            </a:r>
            <a:r>
              <a:rPr lang="en-US" altLang="en-US" sz="2400" i="1" baseline="-25000">
                <a:ea typeface="ＭＳ Ｐゴシック" charset="-128"/>
              </a:rPr>
              <a:t>perm</a:t>
            </a:r>
            <a:r>
              <a:rPr lang="en-US" altLang="en-US" sz="2400">
                <a:ea typeface="ＭＳ Ｐゴシック" charset="-128"/>
              </a:rPr>
              <a:t>:</a:t>
            </a:r>
          </a:p>
          <a:p>
            <a:pPr marL="0" indent="0"/>
            <a:endParaRPr lang="en-US" altLang="en-US" sz="2400">
              <a:ea typeface="ＭＳ Ｐゴシック" charset="-128"/>
            </a:endParaRPr>
          </a:p>
          <a:p>
            <a:pPr marL="0" indent="0"/>
            <a:endParaRPr lang="en-US" altLang="en-US" sz="2400">
              <a:ea typeface="ＭＳ Ｐゴシック" charset="-12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3B2AB1B1-4C35-524C-8A52-1E0C3B14363E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95575"/>
          <a:ext cx="8229600" cy="2959104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3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perm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perm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perm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perm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</a:t>
                      </a:r>
                      <a:r>
                        <a:rPr kumimoji="0" lang="en-US" altLang="en-US" sz="18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perm</a:t>
                      </a:r>
                      <a:endParaRPr kumimoji="0" lang="en-US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1, 2, 3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1, 3, 6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1, 6, 7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2, 4, 7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3, 5, 6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1, 2, 4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1, 3, 7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2, 3, 4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2, 5, 6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3, 5, 7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1, 2, 5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1, 4, 5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2, 3, 5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2, 5, 7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3, 6, 7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1, 2, 6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1, 4, 6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2, 3, 6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2, 6, 7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4, 5, 6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15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1, 2, 7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1, 4, 7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2, 3, 7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3, 4, 5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4, 5, 7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16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1, 3, 4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1, 5, 6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2, 4, 5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3, 4, 6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4, 6, 7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17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1, 3, 5 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1, 5, 7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2, 4, 6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3, 4, 7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5, 6, 7</a:t>
                      </a:r>
                    </a:p>
                  </a:txBody>
                  <a:tcPr marT="45700" marB="4570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18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438" y="2279650"/>
          <a:ext cx="3048000" cy="3836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35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6351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7945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Resulting reference distribution: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9427418A-1274-EA45-820C-BB1F97D4FA54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960438" y="4068763"/>
            <a:ext cx="1060450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7945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Resulting reference distribution: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61430807-CFD4-9348-AC15-1CA7637450AC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49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438" y="2279650"/>
          <a:ext cx="3048000" cy="3836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Line Callout 1 9"/>
          <p:cNvSpPr/>
          <p:nvPr/>
        </p:nvSpPr>
        <p:spPr>
          <a:xfrm>
            <a:off x="2973388" y="3348038"/>
            <a:ext cx="1846262" cy="1717675"/>
          </a:xfrm>
          <a:prstGeom prst="borderCallout1">
            <a:avLst>
              <a:gd name="adj1" fmla="val 50683"/>
              <a:gd name="adj2" fmla="val 261"/>
              <a:gd name="adj3" fmla="val 50315"/>
              <a:gd name="adj4" fmla="val -51614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Center (mean/expected value) of null distribution for rank-sum statistics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960438" y="4068763"/>
            <a:ext cx="1060450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7945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Resulting reference distribution: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518D6ABC-D890-DD4B-BCD4-97EC79E8B41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438" y="2279650"/>
          <a:ext cx="3048000" cy="3836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8000"/>
                          </a:solidFill>
                        </a:rPr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Line Callout 1 9"/>
          <p:cNvSpPr/>
          <p:nvPr/>
        </p:nvSpPr>
        <p:spPr>
          <a:xfrm>
            <a:off x="2973388" y="3348038"/>
            <a:ext cx="1846262" cy="1717675"/>
          </a:xfrm>
          <a:prstGeom prst="borderCallout1">
            <a:avLst>
              <a:gd name="adj1" fmla="val 50683"/>
              <a:gd name="adj2" fmla="val -520"/>
              <a:gd name="adj3" fmla="val 51155"/>
              <a:gd name="adj4" fmla="val -50833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Center (mean/expected value) of null distribution for rank-sum statistics 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5368925" y="3348038"/>
            <a:ext cx="3317875" cy="1717675"/>
          </a:xfrm>
          <a:prstGeom prst="borderCallout1">
            <a:avLst>
              <a:gd name="adj1" fmla="val 49842"/>
              <a:gd name="adj2" fmla="val -752"/>
              <a:gd name="adj3" fmla="val 49475"/>
              <a:gd name="adj4" fmla="val -16646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Average of all possible ranks: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(1 + 2 + 3 + 4 + 5 + 6 + 7)/7 = </a:t>
            </a:r>
            <a:r>
              <a:rPr lang="en-US" dirty="0">
                <a:solidFill>
                  <a:srgbClr val="FF0000"/>
                </a:solidFill>
              </a:rPr>
              <a:t>4</a:t>
            </a:r>
          </a:p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Expected sum of three ranks:</a:t>
            </a: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 +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 + </a:t>
            </a:r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rgbClr val="008000"/>
                </a:solidFill>
              </a:rPr>
              <a:t>12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6656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7945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Resulting reference distribution: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1178D862-8087-B142-B18E-B224B801D285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0438" y="2279650"/>
            <a:ext cx="8429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60438" y="2576513"/>
            <a:ext cx="842962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960438" y="2879725"/>
            <a:ext cx="8429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960438" y="5232400"/>
            <a:ext cx="8429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960438" y="5535613"/>
            <a:ext cx="8429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960438" y="5843588"/>
            <a:ext cx="8429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438" y="2279650"/>
          <a:ext cx="3048000" cy="3836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0413" y="4900613"/>
            <a:ext cx="1190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375150" y="5159375"/>
            <a:ext cx="2811463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395538" y="2279650"/>
            <a:ext cx="6291262" cy="4040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/>
              <a:t>How likely is it that </a:t>
            </a:r>
            <a:r>
              <a:rPr lang="en-US" altLang="en-US" i="1"/>
              <a:t>if the two populations were identical </a:t>
            </a:r>
            <a:r>
              <a:rPr lang="en-US" altLang="en-US"/>
              <a:t>(i.e. each rank had the same chance of being assigned to Group 1) we would see a value at least as </a:t>
            </a:r>
            <a:r>
              <a:rPr lang="en-US" altLang="en-US" i="1"/>
              <a:t>extreme</a:t>
            </a:r>
            <a:r>
              <a:rPr lang="en-US" altLang="en-US"/>
              <a:t> as the observed test statistic value </a:t>
            </a:r>
            <a:r>
              <a:rPr lang="en-US" altLang="en-US" i="1"/>
              <a:t>T</a:t>
            </a:r>
            <a:r>
              <a:rPr lang="en-US" altLang="en-US"/>
              <a:t> = 8?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/>
              <a:t>Two-sided test: ‘extreme’ means far from the center, or expected value of </a:t>
            </a:r>
            <a:r>
              <a:rPr lang="en-US" altLang="en-US" sz="2000" i="1"/>
              <a:t>T</a:t>
            </a:r>
            <a:r>
              <a:rPr lang="en-US" altLang="en-US" sz="2000"/>
              <a:t>, 12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There are </a:t>
            </a:r>
            <a:r>
              <a:rPr lang="en-US" altLang="en-US" sz="1800">
                <a:solidFill>
                  <a:srgbClr val="FF0000"/>
                </a:solidFill>
              </a:rPr>
              <a:t>8</a:t>
            </a:r>
            <a:r>
              <a:rPr lang="en-US" altLang="en-US" sz="1800"/>
              <a:t> permutations that lead to a rank-sum statistic at least as far from 12 as </a:t>
            </a:r>
            <a:r>
              <a:rPr lang="en-US" altLang="en-US" sz="1800" i="1"/>
              <a:t>T </a:t>
            </a:r>
            <a:r>
              <a:rPr lang="en-US" altLang="en-US" sz="1800"/>
              <a:t>= 8.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There are </a:t>
            </a:r>
            <a:r>
              <a:rPr lang="en-US" altLang="en-US" sz="1800">
                <a:solidFill>
                  <a:srgbClr val="FF0000"/>
                </a:solidFill>
              </a:rPr>
              <a:t>35</a:t>
            </a:r>
            <a:r>
              <a:rPr lang="en-US" altLang="en-US" sz="1800"/>
              <a:t> total ways to pick 3 ranks from 7 total observations.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Two-sided </a:t>
            </a:r>
            <a:r>
              <a:rPr lang="en-US" altLang="en-US" sz="1800" i="1"/>
              <a:t>p</a:t>
            </a:r>
            <a:r>
              <a:rPr lang="en-US" altLang="en-US" sz="1800"/>
              <a:t>-value: </a:t>
            </a:r>
            <a:r>
              <a:rPr lang="en-US" altLang="en-US" sz="1800">
                <a:solidFill>
                  <a:srgbClr val="FF0000"/>
                </a:solidFill>
              </a:rPr>
              <a:t>8/35 = 0.2286</a:t>
            </a:r>
          </a:p>
          <a:p>
            <a:pPr lvl="1"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6758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7945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Resulting reference distribution: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683BE6E6-C66D-444B-A052-ADABA8835650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0438" y="2279650"/>
            <a:ext cx="8429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960438" y="2576513"/>
            <a:ext cx="842962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960438" y="2879725"/>
            <a:ext cx="8429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570413" y="4597400"/>
            <a:ext cx="1190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389438" y="4856163"/>
            <a:ext cx="2219325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438" y="2279650"/>
          <a:ext cx="3048000" cy="3836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395538" y="2279650"/>
            <a:ext cx="6291262" cy="4040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/>
              <a:t>How likely is it that </a:t>
            </a:r>
            <a:r>
              <a:rPr lang="en-US" altLang="en-US" i="1"/>
              <a:t>if the two populations were identical </a:t>
            </a:r>
            <a:r>
              <a:rPr lang="en-US" altLang="en-US"/>
              <a:t>(i.e. each rank had the same chance of being assigned to Group 1) we would see a value at least as </a:t>
            </a:r>
            <a:r>
              <a:rPr lang="en-US" altLang="en-US" i="1"/>
              <a:t>extreme</a:t>
            </a:r>
            <a:r>
              <a:rPr lang="en-US" altLang="en-US"/>
              <a:t> as the observed test statistic value </a:t>
            </a:r>
            <a:r>
              <a:rPr lang="en-US" altLang="en-US" i="1"/>
              <a:t>T</a:t>
            </a:r>
            <a:r>
              <a:rPr lang="en-US" altLang="en-US"/>
              <a:t> = 8?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/>
              <a:t>One-sided lower test: ‘extreme’ means small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There are </a:t>
            </a:r>
            <a:r>
              <a:rPr lang="en-US" altLang="en-US" sz="1800">
                <a:solidFill>
                  <a:srgbClr val="FF0000"/>
                </a:solidFill>
              </a:rPr>
              <a:t>4</a:t>
            </a:r>
            <a:r>
              <a:rPr lang="en-US" altLang="en-US" sz="1800"/>
              <a:t> permutations that lead to a rank-sum statistic at least as small as </a:t>
            </a:r>
            <a:r>
              <a:rPr lang="en-US" altLang="en-US" sz="1800" i="1"/>
              <a:t>T </a:t>
            </a:r>
            <a:r>
              <a:rPr lang="en-US" altLang="en-US" sz="1800"/>
              <a:t>= 8.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There are </a:t>
            </a:r>
            <a:r>
              <a:rPr lang="en-US" altLang="en-US" sz="1800">
                <a:solidFill>
                  <a:srgbClr val="FF0000"/>
                </a:solidFill>
              </a:rPr>
              <a:t>35</a:t>
            </a:r>
            <a:r>
              <a:rPr lang="en-US" altLang="en-US" sz="1800"/>
              <a:t> total ways to pick 3 ranks from 7 total observations.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One-sided lower </a:t>
            </a:r>
            <a:r>
              <a:rPr lang="en-US" altLang="en-US" sz="1800" i="1"/>
              <a:t>p</a:t>
            </a:r>
            <a:r>
              <a:rPr lang="en-US" altLang="en-US" sz="1800"/>
              <a:t>-value: </a:t>
            </a:r>
            <a:r>
              <a:rPr lang="en-US" altLang="en-US" sz="1800">
                <a:solidFill>
                  <a:srgbClr val="FF0000"/>
                </a:solidFill>
              </a:rPr>
              <a:t>4/35 = 0.1143</a:t>
            </a:r>
          </a:p>
          <a:p>
            <a:pPr lvl="1"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Example</a:t>
            </a:r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7945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Resulting reference distribution: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F94DAED9-75EC-CF4C-9666-0BDD33FF4E73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60438" y="2879725"/>
            <a:ext cx="11731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556125" y="4597400"/>
            <a:ext cx="249238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389438" y="4856163"/>
            <a:ext cx="2219325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395538" y="2279650"/>
            <a:ext cx="6291262" cy="4040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Char char="•"/>
            </a:pPr>
            <a:r>
              <a:rPr lang="en-US" altLang="en-US"/>
              <a:t>How likely is it that </a:t>
            </a:r>
            <a:r>
              <a:rPr lang="en-US" altLang="en-US" i="1"/>
              <a:t>if the two populations were identical </a:t>
            </a:r>
            <a:r>
              <a:rPr lang="en-US" altLang="en-US"/>
              <a:t>(i.e. each rank had the same chance of being assigned to Group 1) we would see a value at least as </a:t>
            </a:r>
            <a:r>
              <a:rPr lang="en-US" altLang="en-US" i="1"/>
              <a:t>extreme</a:t>
            </a:r>
            <a:r>
              <a:rPr lang="en-US" altLang="en-US"/>
              <a:t> as the observed test statistic value </a:t>
            </a:r>
            <a:r>
              <a:rPr lang="en-US" altLang="en-US" i="1"/>
              <a:t>T</a:t>
            </a:r>
            <a:r>
              <a:rPr lang="en-US" altLang="en-US"/>
              <a:t> = 8?</a:t>
            </a:r>
          </a:p>
          <a:p>
            <a:pPr lvl="1">
              <a:spcBef>
                <a:spcPct val="20000"/>
              </a:spcBef>
              <a:buFont typeface="Arial" charset="0"/>
              <a:buChar char="–"/>
            </a:pPr>
            <a:r>
              <a:rPr lang="en-US" altLang="en-US" sz="2000"/>
              <a:t>One-sided upper test: ‘extreme’ means large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There are </a:t>
            </a:r>
            <a:r>
              <a:rPr lang="en-US" altLang="en-US" sz="1800">
                <a:solidFill>
                  <a:srgbClr val="FF0000"/>
                </a:solidFill>
              </a:rPr>
              <a:t>33</a:t>
            </a:r>
            <a:r>
              <a:rPr lang="en-US" altLang="en-US" sz="1800"/>
              <a:t> permutations that lead to a rank-sum statistic at least as large as </a:t>
            </a:r>
            <a:r>
              <a:rPr lang="en-US" altLang="en-US" sz="1800" i="1"/>
              <a:t>T </a:t>
            </a:r>
            <a:r>
              <a:rPr lang="en-US" altLang="en-US" sz="1800"/>
              <a:t>= 8.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There are </a:t>
            </a:r>
            <a:r>
              <a:rPr lang="en-US" altLang="en-US" sz="1800">
                <a:solidFill>
                  <a:srgbClr val="FF0000"/>
                </a:solidFill>
              </a:rPr>
              <a:t>35</a:t>
            </a:r>
            <a:r>
              <a:rPr lang="en-US" altLang="en-US" sz="1800"/>
              <a:t> total ways to pick 3 ranks from 7 total observations.</a:t>
            </a:r>
          </a:p>
          <a:p>
            <a:pPr lvl="2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/>
              <a:t>One-sided upper </a:t>
            </a:r>
            <a:r>
              <a:rPr lang="en-US" altLang="en-US" sz="1800" i="1"/>
              <a:t>p</a:t>
            </a:r>
            <a:r>
              <a:rPr lang="en-US" altLang="en-US" sz="1800"/>
              <a:t>-value: </a:t>
            </a:r>
            <a:r>
              <a:rPr lang="en-US" altLang="en-US" sz="1800">
                <a:solidFill>
                  <a:srgbClr val="FF0000"/>
                </a:solidFill>
              </a:rPr>
              <a:t>33/35 = 0.9429</a:t>
            </a:r>
          </a:p>
          <a:p>
            <a:pPr lvl="1">
              <a:spcBef>
                <a:spcPct val="20000"/>
              </a:spcBef>
              <a:buFont typeface="Arial" charset="0"/>
              <a:buNone/>
            </a:pPr>
            <a:endParaRPr lang="en-US" altLang="en-US" sz="2000"/>
          </a:p>
        </p:txBody>
      </p:sp>
      <p:sp>
        <p:nvSpPr>
          <p:cNvPr id="19" name="Rounded Rectangle 18"/>
          <p:cNvSpPr/>
          <p:nvPr/>
        </p:nvSpPr>
        <p:spPr>
          <a:xfrm>
            <a:off x="960438" y="3168650"/>
            <a:ext cx="11731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960438" y="3471863"/>
            <a:ext cx="1173162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960438" y="3760788"/>
            <a:ext cx="1173162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960438" y="4064000"/>
            <a:ext cx="11731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960438" y="4351338"/>
            <a:ext cx="1173162" cy="27463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960438" y="4943475"/>
            <a:ext cx="1173162" cy="27463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960438" y="4656138"/>
            <a:ext cx="11731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960438" y="5240338"/>
            <a:ext cx="11731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960438" y="5543550"/>
            <a:ext cx="11731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960438" y="5843588"/>
            <a:ext cx="1173162" cy="27305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438" y="2279650"/>
          <a:ext cx="3048000" cy="3836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9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11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12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13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14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15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16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 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17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3">
                <a:tc>
                  <a:txBody>
                    <a:bodyPr/>
                    <a:lstStyle/>
                    <a:p>
                      <a:r>
                        <a:rPr lang="en-US" sz="1200" dirty="0"/>
                        <a:t>18</a:t>
                      </a: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Wilcoxon Rank-Sum Test: Reference Distribution</a:t>
            </a:r>
          </a:p>
        </p:txBody>
      </p:sp>
      <p:sp>
        <p:nvSpPr>
          <p:cNvPr id="696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Reference distribution for larger samples:</a:t>
            </a:r>
          </a:p>
          <a:p>
            <a:pPr lvl="1"/>
            <a:r>
              <a:rPr lang="en-US" altLang="en-US">
                <a:ea typeface="ＭＳ Ｐゴシック" charset="-128"/>
              </a:rPr>
              <a:t>When sample sizes are large, it becomes time-consuming to enumerate all possible ways to permute the ranks</a:t>
            </a:r>
          </a:p>
          <a:p>
            <a:pPr lvl="1"/>
            <a:r>
              <a:rPr lang="en-US" altLang="en-US">
                <a:ea typeface="ＭＳ Ｐゴシック" charset="-128"/>
              </a:rPr>
              <a:t>We have a few options to approximate the reference distribution:</a:t>
            </a:r>
          </a:p>
          <a:p>
            <a:pPr lvl="2"/>
            <a:r>
              <a:rPr lang="en-US" altLang="en-US">
                <a:ea typeface="ＭＳ Ｐゴシック" charset="-128"/>
              </a:rPr>
              <a:t>Select a random sample from all possible permutations</a:t>
            </a:r>
          </a:p>
          <a:p>
            <a:pPr lvl="3"/>
            <a:r>
              <a:rPr lang="en-US" altLang="en-US">
                <a:ea typeface="ＭＳ Ｐゴシック" charset="-128"/>
              </a:rPr>
              <a:t>Tables of critical values for small sample sizes, based on permutation distribution</a:t>
            </a:r>
          </a:p>
          <a:p>
            <a:pPr lvl="2"/>
            <a:r>
              <a:rPr lang="en-US" altLang="en-US">
                <a:ea typeface="ＭＳ Ｐゴシック" charset="-128"/>
              </a:rPr>
              <a:t>Use a Normal approximation to the reference distribution (</a:t>
            </a:r>
            <a:r>
              <a:rPr lang="en-US" altLang="en-US" i="1">
                <a:ea typeface="ＭＳ Ｐゴシック" charset="-128"/>
              </a:rPr>
              <a:t>next lecture…</a:t>
            </a:r>
            <a:r>
              <a:rPr lang="en-US" altLang="en-US">
                <a:ea typeface="ＭＳ Ｐゴシック" charset="-128"/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Monday, February 6,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E68F28DB-2C65-D247-B273-57401831A05A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54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4327</TotalTime>
  <Words>4155</Words>
  <Application>Microsoft Macintosh PowerPoint</Application>
  <PresentationFormat>On-screen Show (4:3)</PresentationFormat>
  <Paragraphs>872</Paragraphs>
  <Slides>54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Courier</vt:lpstr>
      <vt:lpstr>Lucida Grande</vt:lpstr>
      <vt:lpstr>Office Theme</vt:lpstr>
      <vt:lpstr>Equation</vt:lpstr>
      <vt:lpstr>ST 411/511: Methods of Data Analysis Winter 2023</vt:lpstr>
      <vt:lpstr>Today’s Outline:</vt:lpstr>
      <vt:lpstr>Resistance of the t-test</vt:lpstr>
      <vt:lpstr>Resistance of the t-test</vt:lpstr>
      <vt:lpstr>Resistance of the t-test</vt:lpstr>
      <vt:lpstr>Resistance of the t-test</vt:lpstr>
      <vt:lpstr>Resistance of the t-test</vt:lpstr>
      <vt:lpstr>Resistance of the t-test</vt:lpstr>
      <vt:lpstr>Resistance of the t-test</vt:lpstr>
      <vt:lpstr>Outliers</vt:lpstr>
      <vt:lpstr>How to deal with outliers</vt:lpstr>
      <vt:lpstr>Transformations</vt:lpstr>
      <vt:lpstr>Transformations</vt:lpstr>
      <vt:lpstr>Logarithms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</vt:lpstr>
      <vt:lpstr>Log Transformations</vt:lpstr>
      <vt:lpstr>Log Transformations</vt:lpstr>
      <vt:lpstr>(Are you good at identifying symmetric population distributions with a histogram?)</vt:lpstr>
      <vt:lpstr>(Are you good at identifying symmetric population distributions with a histogram?)</vt:lpstr>
      <vt:lpstr>Log Transformations </vt:lpstr>
      <vt:lpstr>Log Transformations </vt:lpstr>
      <vt:lpstr>Alternatives to t-test </vt:lpstr>
      <vt:lpstr>Wilcoxon Rank-Sum Test</vt:lpstr>
      <vt:lpstr>Wilcoxon Rank-Sum Test</vt:lpstr>
      <vt:lpstr>Wilcoxon Rank-Sum Test</vt:lpstr>
      <vt:lpstr>Wilcoxon Rank-Sum Test</vt:lpstr>
      <vt:lpstr>Wilcoxon Rank-Sum Test</vt:lpstr>
      <vt:lpstr>Wilcoxon Rank-Sum Test</vt:lpstr>
      <vt:lpstr>Wilcoxon Rank-Sum Test: Reference Distribution</vt:lpstr>
      <vt:lpstr>Wilcoxon Rank-Sum Test: Reference Distribution</vt:lpstr>
      <vt:lpstr>Wilcoxon Rank-Sum Test: Reference Distribution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Example</vt:lpstr>
      <vt:lpstr>Wilcoxon Rank-Sum Test: Reference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411/511: Methods of Data Analysis Winter 2015</dc:title>
  <dc:creator>Sarah Emerson</dc:creator>
  <cp:lastModifiedBy>Sarah Emerson</cp:lastModifiedBy>
  <cp:revision>124</cp:revision>
  <dcterms:created xsi:type="dcterms:W3CDTF">2015-01-23T05:37:49Z</dcterms:created>
  <dcterms:modified xsi:type="dcterms:W3CDTF">2023-02-06T04:58:36Z</dcterms:modified>
</cp:coreProperties>
</file>