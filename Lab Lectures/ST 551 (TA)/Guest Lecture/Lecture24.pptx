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338" r:id="rId2"/>
    <p:sldId id="906" r:id="rId3"/>
    <p:sldId id="896" r:id="rId4"/>
    <p:sldId id="897" r:id="rId5"/>
    <p:sldId id="895" r:id="rId6"/>
    <p:sldId id="898" r:id="rId7"/>
    <p:sldId id="900" r:id="rId8"/>
    <p:sldId id="899" r:id="rId9"/>
    <p:sldId id="901" r:id="rId10"/>
    <p:sldId id="903" r:id="rId11"/>
    <p:sldId id="904" r:id="rId12"/>
    <p:sldId id="908" r:id="rId13"/>
    <p:sldId id="914" r:id="rId14"/>
    <p:sldId id="907" r:id="rId15"/>
    <p:sldId id="915" r:id="rId16"/>
    <p:sldId id="916" r:id="rId17"/>
    <p:sldId id="910" r:id="rId18"/>
    <p:sldId id="918" r:id="rId19"/>
    <p:sldId id="917" r:id="rId20"/>
    <p:sldId id="911" r:id="rId21"/>
    <p:sldId id="920" r:id="rId22"/>
    <p:sldId id="921" r:id="rId23"/>
    <p:sldId id="919" r:id="rId24"/>
    <p:sldId id="924" r:id="rId25"/>
    <p:sldId id="922" r:id="rId26"/>
    <p:sldId id="923" r:id="rId27"/>
    <p:sldId id="925" r:id="rId28"/>
    <p:sldId id="926" r:id="rId29"/>
    <p:sldId id="938" r:id="rId30"/>
    <p:sldId id="927" r:id="rId31"/>
    <p:sldId id="928" r:id="rId32"/>
    <p:sldId id="929" r:id="rId33"/>
    <p:sldId id="930" r:id="rId34"/>
    <p:sldId id="931" r:id="rId35"/>
    <p:sldId id="933" r:id="rId36"/>
    <p:sldId id="932" r:id="rId37"/>
    <p:sldId id="934" r:id="rId38"/>
    <p:sldId id="935" r:id="rId39"/>
    <p:sldId id="936" r:id="rId40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87A988"/>
    <a:srgbClr val="FF3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3980"/>
  </p:normalViewPr>
  <p:slideViewPr>
    <p:cSldViewPr snapToGrid="0" snapToObjects="1" showGuides="1">
      <p:cViewPr varScale="1">
        <p:scale>
          <a:sx n="92" d="100"/>
          <a:sy n="92" d="100"/>
        </p:scale>
        <p:origin x="156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F0249E4-0668-FE45-A356-AA7D5ABF250C}" type="datetimeFigureOut">
              <a:rPr lang="en-US" altLang="en-US"/>
              <a:pPr/>
              <a:t>3/13/23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5B3452B-EC75-E246-8D58-00EB0131F5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081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36716A9-8ED8-D44A-9A40-E36A7657ADE7}" type="datetimeFigureOut">
              <a:rPr lang="en-US" altLang="en-US"/>
              <a:pPr/>
              <a:t>3/13/23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3207E70-50B6-3B46-A3BB-AB83C0ED4A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05412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07E70-50B6-3B46-A3BB-AB83C0ED4A78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0964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71CDF-0DD7-C645-AFAC-9F8EBE713C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1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76DC18-6133-9E4B-B8C1-81DFCAA07F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4502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FD7AFE-D192-3D4E-A017-0E3CAD20C9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569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970C84-7231-EA4B-8EC0-A57A049551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415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FEAC8C-26F4-6146-B688-8CA1CBEB59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9232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E62007-DE50-F84F-9707-1CEA5E5F5F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593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741EC0-6AC4-BC40-B82B-9FA52230F3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05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FADE6-0210-4546-AA58-66203EFBA2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128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BDAC00-E944-F44F-8F75-CCABCE8725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257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7D0163-0FE4-CF43-9E3D-0831628673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76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01A992-ADC3-6B42-865D-3AFEE154B5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237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D6D342C1-F795-3447-9D70-B2B79C63EFB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ST 411/511: Methods of Data Analysis</a:t>
            </a:r>
            <a:br>
              <a:rPr lang="en-US" dirty="0">
                <a:ea typeface="+mj-ea"/>
                <a:cs typeface="+mj-cs"/>
              </a:rPr>
            </a:br>
            <a:r>
              <a:rPr lang="en-US" dirty="0">
                <a:ea typeface="+mj-ea"/>
                <a:cs typeface="+mj-cs"/>
              </a:rPr>
              <a:t>Winter 2023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dirty="0">
                <a:ea typeface="+mn-ea"/>
                <a:cs typeface="+mn-cs"/>
              </a:rPr>
              <a:t>Lecture 24</a:t>
            </a: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dirty="0">
                <a:ea typeface="+mn-ea"/>
                <a:cs typeface="+mn-cs"/>
              </a:rPr>
              <a:t>Monday, March 13, 2023</a:t>
            </a:r>
          </a:p>
        </p:txBody>
      </p:sp>
      <p:sp>
        <p:nvSpPr>
          <p:cNvPr id="15363" name="TextBox 8"/>
          <p:cNvSpPr txBox="1">
            <a:spLocks noChangeArrowheads="1"/>
          </p:cNvSpPr>
          <p:nvPr/>
        </p:nvSpPr>
        <p:spPr bwMode="auto">
          <a:xfrm>
            <a:off x="2295525" y="152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Today’s Outline:</a:t>
            </a:r>
          </a:p>
        </p:txBody>
      </p:sp>
      <p:sp>
        <p:nvSpPr>
          <p:cNvPr id="163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Linear Regression assumptions for inference</a:t>
            </a:r>
          </a:p>
          <a:p>
            <a:r>
              <a:rPr lang="en-US" altLang="en-US" dirty="0">
                <a:ea typeface="ＭＳ Ｐゴシック" charset="-128"/>
              </a:rPr>
              <a:t>Log transform: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indications and interpretations</a:t>
            </a:r>
          </a:p>
          <a:p>
            <a:r>
              <a:rPr lang="en-US" altLang="en-US" dirty="0">
                <a:ea typeface="ＭＳ Ｐゴシック" charset="-128"/>
              </a:rPr>
              <a:t>Lack of fit F-test (when replicate observations at each 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)</a:t>
            </a:r>
          </a:p>
          <a:p>
            <a:r>
              <a:rPr lang="en-US" altLang="en-US" dirty="0">
                <a:ea typeface="ＭＳ Ｐゴシック" charset="-128"/>
              </a:rPr>
              <a:t>Extrapolation</a:t>
            </a:r>
          </a:p>
          <a:p>
            <a:r>
              <a:rPr lang="en-US" altLang="en-US" dirty="0">
                <a:ea typeface="ＭＳ Ｐゴシック" charset="-128"/>
              </a:rPr>
              <a:t>R-squared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0BF27C54-50EA-AE48-AF8E-108FAAEC8415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Linear Regression Inference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 sz="2800">
                <a:ea typeface="ＭＳ Ｐゴシック" charset="-128"/>
              </a:rPr>
              <a:t>Assumptions for inference:</a:t>
            </a:r>
          </a:p>
          <a:p>
            <a:pPr marL="971550" lvl="1" indent="-514350">
              <a:buFont typeface="Calibri" charset="0"/>
              <a:buAutoNum type="arabicPeriod"/>
            </a:pPr>
            <a:r>
              <a:rPr lang="en-US" altLang="en-US" sz="2000">
                <a:ea typeface="ＭＳ Ｐゴシック" charset="-128"/>
              </a:rPr>
              <a:t>The linear model is correct: the mean of </a:t>
            </a:r>
            <a:r>
              <a:rPr lang="en-US" altLang="en-US" sz="2000" i="1">
                <a:ea typeface="ＭＳ Ｐゴシック" charset="-128"/>
              </a:rPr>
              <a:t>Y actually is</a:t>
            </a:r>
            <a:r>
              <a:rPr lang="en-US" altLang="en-US" sz="2000">
                <a:ea typeface="ＭＳ Ｐゴシック" charset="-128"/>
              </a:rPr>
              <a:t> a linear function of </a:t>
            </a:r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>
                <a:ea typeface="ＭＳ Ｐゴシック" charset="-128"/>
              </a:rPr>
              <a:t>, </a:t>
            </a:r>
            <a:r>
              <a:rPr lang="en-US" altLang="en-US" sz="2000" i="1">
                <a:ea typeface="ＭＳ Ｐゴシック" charset="-128"/>
              </a:rPr>
              <a:t> </a:t>
            </a:r>
            <a:r>
              <a:rPr lang="en-US" altLang="en-US" sz="2000">
                <a:ea typeface="ＭＳ Ｐゴシック" charset="-128"/>
              </a:rPr>
              <a:t>that is, </a:t>
            </a:r>
          </a:p>
          <a:p>
            <a:pPr marL="0" indent="0" algn="ctr">
              <a:buFont typeface="Arial" charset="0"/>
              <a:buNone/>
            </a:pPr>
            <a:r>
              <a:rPr lang="en-US" altLang="en-US" sz="2000" i="1">
                <a:ea typeface="ＭＳ Ｐゴシック" charset="-128"/>
              </a:rPr>
              <a:t>μ</a:t>
            </a:r>
            <a:r>
              <a:rPr lang="en-US" altLang="en-US" sz="2000">
                <a:ea typeface="ＭＳ Ｐゴシック" charset="-128"/>
              </a:rPr>
              <a:t>(</a:t>
            </a:r>
            <a:r>
              <a:rPr lang="en-US" altLang="en-US" sz="2000" i="1">
                <a:ea typeface="ＭＳ Ｐゴシック" charset="-128"/>
              </a:rPr>
              <a:t>Y</a:t>
            </a:r>
            <a:r>
              <a:rPr lang="en-US" altLang="en-US" sz="2000">
                <a:ea typeface="ＭＳ Ｐゴシック" charset="-128"/>
              </a:rPr>
              <a:t>| </a:t>
            </a:r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>
                <a:ea typeface="ＭＳ Ｐゴシック" charset="-128"/>
              </a:rPr>
              <a:t>) = β</a:t>
            </a:r>
            <a:r>
              <a:rPr lang="en-US" altLang="en-US" sz="2000" baseline="-25000">
                <a:ea typeface="ＭＳ Ｐゴシック" charset="-128"/>
              </a:rPr>
              <a:t>0 </a:t>
            </a:r>
            <a:r>
              <a:rPr lang="en-US" altLang="en-US" sz="2000">
                <a:ea typeface="ＭＳ Ｐゴシック" charset="-128"/>
              </a:rPr>
              <a:t>+ β</a:t>
            </a:r>
            <a:r>
              <a:rPr lang="en-US" altLang="en-US" sz="2000" baseline="-25000">
                <a:ea typeface="ＭＳ Ｐゴシック" charset="-128"/>
              </a:rPr>
              <a:t>1</a:t>
            </a:r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>
                <a:ea typeface="ＭＳ Ｐゴシック" charset="-128"/>
              </a:rPr>
              <a:t>,</a:t>
            </a:r>
            <a:endParaRPr lang="en-US" altLang="en-US" sz="2000" i="1">
              <a:ea typeface="ＭＳ Ｐゴシック" charset="-128"/>
            </a:endParaRPr>
          </a:p>
          <a:p>
            <a:pPr marL="971550" lvl="1" indent="-514350">
              <a:buFont typeface="Calibri" charset="0"/>
              <a:buAutoNum type="arabicPeriod" startAt="2"/>
            </a:pPr>
            <a:r>
              <a:rPr lang="en-US" altLang="en-US" sz="2000">
                <a:ea typeface="ＭＳ Ｐゴシック" charset="-128"/>
              </a:rPr>
              <a:t>The pairs of observations (</a:t>
            </a:r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 i="1" baseline="-25000">
                <a:ea typeface="ＭＳ Ｐゴシック" charset="-128"/>
              </a:rPr>
              <a:t>i</a:t>
            </a:r>
            <a:r>
              <a:rPr lang="en-US" altLang="en-US" sz="2000">
                <a:ea typeface="ＭＳ Ｐゴシック" charset="-128"/>
              </a:rPr>
              <a:t>, </a:t>
            </a:r>
            <a:r>
              <a:rPr lang="en-US" altLang="en-US" sz="2000" i="1">
                <a:ea typeface="ＭＳ Ｐゴシック" charset="-128"/>
              </a:rPr>
              <a:t>Y</a:t>
            </a:r>
            <a:r>
              <a:rPr lang="en-US" altLang="en-US" sz="2000" i="1" baseline="-25000">
                <a:ea typeface="ＭＳ Ｐゴシック" charset="-128"/>
              </a:rPr>
              <a:t>i</a:t>
            </a:r>
            <a:r>
              <a:rPr lang="en-US" altLang="en-US" sz="2000">
                <a:ea typeface="ＭＳ Ｐゴシック" charset="-128"/>
              </a:rPr>
              <a:t>) are </a:t>
            </a:r>
            <a:r>
              <a:rPr lang="en-US" altLang="en-US" sz="2000" i="1">
                <a:ea typeface="ＭＳ Ｐゴシック" charset="-128"/>
              </a:rPr>
              <a:t>independent</a:t>
            </a:r>
            <a:r>
              <a:rPr lang="en-US" altLang="en-US" sz="2000">
                <a:ea typeface="ＭＳ Ｐゴシック" charset="-128"/>
              </a:rPr>
              <a:t> of each other.</a:t>
            </a:r>
          </a:p>
          <a:p>
            <a:pPr marL="971550" lvl="1" indent="-514350">
              <a:buFont typeface="Calibri" charset="0"/>
              <a:buAutoNum type="arabicPeriod" startAt="2"/>
            </a:pPr>
            <a:r>
              <a:rPr lang="en-US" altLang="en-US" sz="2000">
                <a:ea typeface="ＭＳ Ｐゴシック" charset="-128"/>
              </a:rPr>
              <a:t>The variance of each </a:t>
            </a:r>
            <a:r>
              <a:rPr lang="en-US" altLang="en-US" sz="2000" i="1">
                <a:ea typeface="ＭＳ Ｐゴシック" charset="-128"/>
              </a:rPr>
              <a:t>Y</a:t>
            </a:r>
            <a:r>
              <a:rPr lang="en-US" altLang="en-US" sz="2000" i="1" baseline="-25000">
                <a:ea typeface="ＭＳ Ｐゴシック" charset="-128"/>
              </a:rPr>
              <a:t>i</a:t>
            </a:r>
            <a:r>
              <a:rPr lang="en-US" altLang="en-US" sz="2000">
                <a:ea typeface="ＭＳ Ｐゴシック" charset="-128"/>
              </a:rPr>
              <a:t> around its mean </a:t>
            </a:r>
            <a:r>
              <a:rPr lang="en-US" altLang="en-US" sz="2000" i="1">
                <a:ea typeface="ＭＳ Ｐゴシック" charset="-128"/>
              </a:rPr>
              <a:t>μ</a:t>
            </a:r>
            <a:r>
              <a:rPr lang="en-US" altLang="en-US" sz="2000">
                <a:ea typeface="ＭＳ Ｐゴシック" charset="-128"/>
              </a:rPr>
              <a:t>(</a:t>
            </a:r>
            <a:r>
              <a:rPr lang="en-US" altLang="en-US" sz="2000" i="1">
                <a:ea typeface="ＭＳ Ｐゴシック" charset="-128"/>
              </a:rPr>
              <a:t>Y</a:t>
            </a:r>
            <a:r>
              <a:rPr lang="en-US" altLang="en-US" sz="2000" i="1" baseline="-25000">
                <a:ea typeface="ＭＳ Ｐゴシック" charset="-128"/>
              </a:rPr>
              <a:t>i</a:t>
            </a:r>
            <a:r>
              <a:rPr lang="en-US" altLang="en-US" sz="2000">
                <a:ea typeface="ＭＳ Ｐゴシック" charset="-128"/>
              </a:rPr>
              <a:t>| </a:t>
            </a:r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 i="1" baseline="-25000">
                <a:ea typeface="ＭＳ Ｐゴシック" charset="-128"/>
              </a:rPr>
              <a:t>i</a:t>
            </a:r>
            <a:r>
              <a:rPr lang="en-US" altLang="en-US" sz="2000">
                <a:ea typeface="ＭＳ Ｐゴシック" charset="-128"/>
              </a:rPr>
              <a:t>) = β</a:t>
            </a:r>
            <a:r>
              <a:rPr lang="en-US" altLang="en-US" sz="2000" baseline="-25000">
                <a:ea typeface="ＭＳ Ｐゴシック" charset="-128"/>
              </a:rPr>
              <a:t>0 </a:t>
            </a:r>
            <a:r>
              <a:rPr lang="en-US" altLang="en-US" sz="2000">
                <a:ea typeface="ＭＳ Ｐゴシック" charset="-128"/>
              </a:rPr>
              <a:t>+ β</a:t>
            </a:r>
            <a:r>
              <a:rPr lang="en-US" altLang="en-US" sz="2000" baseline="-25000">
                <a:ea typeface="ＭＳ Ｐゴシック" charset="-128"/>
              </a:rPr>
              <a:t>1</a:t>
            </a:r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 i="1" baseline="-25000">
                <a:ea typeface="ＭＳ Ｐゴシック" charset="-128"/>
              </a:rPr>
              <a:t>i</a:t>
            </a:r>
            <a:r>
              <a:rPr lang="en-US" altLang="en-US" sz="2000">
                <a:ea typeface="ＭＳ Ｐゴシック" charset="-128"/>
              </a:rPr>
              <a:t> is the same value </a:t>
            </a:r>
            <a:r>
              <a:rPr lang="en-US" altLang="en-US" sz="2000" i="1">
                <a:ea typeface="ＭＳ Ｐゴシック" charset="-128"/>
              </a:rPr>
              <a:t>σ</a:t>
            </a:r>
            <a:r>
              <a:rPr lang="en-US" altLang="en-US" sz="2000" baseline="30000">
                <a:ea typeface="ＭＳ Ｐゴシック" charset="-128"/>
              </a:rPr>
              <a:t>2</a:t>
            </a:r>
            <a:r>
              <a:rPr lang="en-US" altLang="en-US" sz="2000">
                <a:ea typeface="ＭＳ Ｐゴシック" charset="-128"/>
              </a:rPr>
              <a:t> (i.e. constant variance, </a:t>
            </a:r>
            <a:r>
              <a:rPr lang="en-US" altLang="en-US" sz="2000" i="1">
                <a:ea typeface="ＭＳ Ｐゴシック" charset="-128"/>
              </a:rPr>
              <a:t>homoskedasticity</a:t>
            </a:r>
            <a:r>
              <a:rPr lang="en-US" altLang="en-US" sz="2000">
                <a:ea typeface="ＭＳ Ｐゴシック" charset="-128"/>
              </a:rPr>
              <a:t>).</a:t>
            </a:r>
          </a:p>
          <a:p>
            <a:pPr marL="971550" lvl="1" indent="-514350">
              <a:buFont typeface="Calibri" charset="0"/>
              <a:buAutoNum type="arabicPeriod" startAt="2"/>
            </a:pPr>
            <a:r>
              <a:rPr lang="en-US" altLang="en-US" sz="2000">
                <a:ea typeface="ＭＳ Ｐゴシック" charset="-128"/>
              </a:rPr>
              <a:t>The distribution of </a:t>
            </a:r>
            <a:r>
              <a:rPr lang="en-US" altLang="en-US" sz="2000" i="1">
                <a:ea typeface="ＭＳ Ｐゴシック" charset="-128"/>
              </a:rPr>
              <a:t>Y</a:t>
            </a:r>
            <a:r>
              <a:rPr lang="en-US" altLang="en-US" sz="2000" i="1" baseline="-25000">
                <a:ea typeface="ＭＳ Ｐゴシック" charset="-128"/>
              </a:rPr>
              <a:t>i </a:t>
            </a:r>
            <a:r>
              <a:rPr lang="en-US" altLang="en-US" sz="2000">
                <a:ea typeface="ＭＳ Ｐゴシック" charset="-128"/>
              </a:rPr>
              <a:t>around its mean </a:t>
            </a:r>
            <a:r>
              <a:rPr lang="en-US" altLang="en-US" sz="2000" i="1">
                <a:ea typeface="ＭＳ Ｐゴシック" charset="-128"/>
              </a:rPr>
              <a:t>μ</a:t>
            </a:r>
            <a:r>
              <a:rPr lang="en-US" altLang="en-US" sz="2000">
                <a:ea typeface="ＭＳ Ｐゴシック" charset="-128"/>
              </a:rPr>
              <a:t>(</a:t>
            </a:r>
            <a:r>
              <a:rPr lang="en-US" altLang="en-US" sz="2000" i="1">
                <a:ea typeface="ＭＳ Ｐゴシック" charset="-128"/>
              </a:rPr>
              <a:t>Y</a:t>
            </a:r>
            <a:r>
              <a:rPr lang="en-US" altLang="en-US" sz="2000" i="1" baseline="-25000">
                <a:ea typeface="ＭＳ Ｐゴシック" charset="-128"/>
              </a:rPr>
              <a:t>i</a:t>
            </a:r>
            <a:r>
              <a:rPr lang="en-US" altLang="en-US" sz="2000">
                <a:ea typeface="ＭＳ Ｐゴシック" charset="-128"/>
              </a:rPr>
              <a:t>| </a:t>
            </a:r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 i="1" baseline="-25000">
                <a:ea typeface="ＭＳ Ｐゴシック" charset="-128"/>
              </a:rPr>
              <a:t>i</a:t>
            </a:r>
            <a:r>
              <a:rPr lang="en-US" altLang="en-US" sz="2000">
                <a:ea typeface="ＭＳ Ｐゴシック" charset="-128"/>
              </a:rPr>
              <a:t>) = β</a:t>
            </a:r>
            <a:r>
              <a:rPr lang="en-US" altLang="en-US" sz="2000" baseline="-25000">
                <a:ea typeface="ＭＳ Ｐゴシック" charset="-128"/>
              </a:rPr>
              <a:t>0 </a:t>
            </a:r>
            <a:r>
              <a:rPr lang="en-US" altLang="en-US" sz="2000">
                <a:ea typeface="ＭＳ Ｐゴシック" charset="-128"/>
              </a:rPr>
              <a:t>+ β</a:t>
            </a:r>
            <a:r>
              <a:rPr lang="en-US" altLang="en-US" sz="2000" baseline="-25000">
                <a:ea typeface="ＭＳ Ｐゴシック" charset="-128"/>
              </a:rPr>
              <a:t>1</a:t>
            </a:r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 i="1" baseline="-25000">
                <a:ea typeface="ＭＳ Ｐゴシック" charset="-128"/>
              </a:rPr>
              <a:t>i</a:t>
            </a:r>
            <a:r>
              <a:rPr lang="en-US" altLang="en-US" sz="2000">
                <a:ea typeface="ＭＳ Ｐゴシック" charset="-128"/>
              </a:rPr>
              <a:t> is Normal (i.e. the </a:t>
            </a:r>
            <a:r>
              <a:rPr lang="en-US" altLang="en-US" sz="2000" i="1">
                <a:ea typeface="ＭＳ Ｐゴシック" charset="-128"/>
              </a:rPr>
              <a:t>subpopulation </a:t>
            </a:r>
            <a:r>
              <a:rPr lang="en-US" altLang="en-US" sz="2000">
                <a:ea typeface="ＭＳ Ｐゴシック" charset="-128"/>
              </a:rPr>
              <a:t>(or group) corresponding to the value of </a:t>
            </a:r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 i="1" baseline="-25000">
                <a:ea typeface="ＭＳ Ｐゴシック" charset="-128"/>
              </a:rPr>
              <a:t>i</a:t>
            </a:r>
            <a:r>
              <a:rPr lang="en-US" altLang="en-US" sz="2000">
                <a:ea typeface="ＭＳ Ｐゴシック" charset="-128"/>
              </a:rPr>
              <a:t> is Normal with mean β</a:t>
            </a:r>
            <a:r>
              <a:rPr lang="en-US" altLang="en-US" sz="2000" baseline="-25000">
                <a:ea typeface="ＭＳ Ｐゴシック" charset="-128"/>
              </a:rPr>
              <a:t>0 </a:t>
            </a:r>
            <a:r>
              <a:rPr lang="en-US" altLang="en-US" sz="2000">
                <a:ea typeface="ＭＳ Ｐゴシック" charset="-128"/>
              </a:rPr>
              <a:t>+ β</a:t>
            </a:r>
            <a:r>
              <a:rPr lang="en-US" altLang="en-US" sz="2000" baseline="-25000">
                <a:ea typeface="ＭＳ Ｐゴシック" charset="-128"/>
              </a:rPr>
              <a:t>1</a:t>
            </a:r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 i="1" baseline="-25000">
                <a:ea typeface="ＭＳ Ｐゴシック" charset="-128"/>
              </a:rPr>
              <a:t>i</a:t>
            </a:r>
            <a:r>
              <a:rPr lang="en-US" altLang="en-US" sz="2000">
                <a:ea typeface="ＭＳ Ｐゴシック" charset="-128"/>
              </a:rPr>
              <a:t> and variance </a:t>
            </a:r>
            <a:r>
              <a:rPr lang="en-US" altLang="en-US" sz="2000" i="1">
                <a:ea typeface="ＭＳ Ｐゴシック" charset="-128"/>
              </a:rPr>
              <a:t>σ</a:t>
            </a:r>
            <a:r>
              <a:rPr lang="en-US" altLang="en-US" sz="2000" baseline="30000">
                <a:ea typeface="ＭＳ Ｐゴシック" charset="-128"/>
              </a:rPr>
              <a:t>2</a:t>
            </a:r>
            <a:r>
              <a:rPr lang="en-US" altLang="en-US" sz="2000">
                <a:ea typeface="ＭＳ Ｐゴシック" charset="-128"/>
              </a:rPr>
              <a:t>)</a:t>
            </a:r>
          </a:p>
          <a:p>
            <a:pPr marL="857250" lvl="2" indent="0" algn="ctr">
              <a:buFont typeface="Arial" charset="0"/>
              <a:buNone/>
            </a:pPr>
            <a:r>
              <a:rPr lang="en-US" altLang="en-US" sz="1600">
                <a:ea typeface="ＭＳ Ｐゴシック" charset="-128"/>
              </a:rPr>
              <a:t>	- OR -</a:t>
            </a:r>
          </a:p>
          <a:p>
            <a:pPr marL="857250" lvl="2" indent="0">
              <a:buFont typeface="Arial" charset="0"/>
              <a:buNone/>
            </a:pPr>
            <a:r>
              <a:rPr lang="en-US" altLang="en-US" sz="2000">
                <a:ea typeface="ＭＳ Ｐゴシック" charset="-128"/>
              </a:rPr>
              <a:t>	We have a reasonably large sample size </a:t>
            </a:r>
            <a:r>
              <a:rPr lang="en-US" altLang="en-US" sz="2000" i="1">
                <a:ea typeface="ＭＳ Ｐゴシック" charset="-128"/>
              </a:rPr>
              <a:t>n</a:t>
            </a:r>
            <a:r>
              <a:rPr lang="en-US" altLang="en-US" sz="2000">
                <a:ea typeface="ＭＳ Ｐゴシック" charset="-128"/>
              </a:rPr>
              <a:t>.  </a:t>
            </a:r>
          </a:p>
          <a:p>
            <a:pPr marL="857250" lvl="2" indent="0">
              <a:buFont typeface="Arial" charset="0"/>
              <a:buNone/>
            </a:pPr>
            <a:endParaRPr lang="en-US" altLang="en-US" sz="1600">
              <a:ea typeface="ＭＳ Ｐゴシック" charset="-128"/>
            </a:endParaRPr>
          </a:p>
          <a:p>
            <a:pPr marL="857250" lvl="2" indent="0">
              <a:buFont typeface="Calibri" charset="0"/>
              <a:buAutoNum type="arabicPeriod" startAt="4"/>
            </a:pPr>
            <a:endParaRPr lang="en-US" altLang="en-US" sz="2000">
              <a:ea typeface="ＭＳ Ｐゴシック" charset="-128"/>
            </a:endParaRPr>
          </a:p>
          <a:p>
            <a:pPr marL="857250" lvl="2" indent="0">
              <a:buFont typeface="Arial" charset="0"/>
              <a:buNone/>
            </a:pPr>
            <a:endParaRPr lang="en-US" altLang="en-US" sz="2000" i="1">
              <a:ea typeface="ＭＳ Ｐゴシック" charset="-128"/>
            </a:endParaRPr>
          </a:p>
          <a:p>
            <a:pPr marL="0" indent="0">
              <a:buFont typeface="Arial" charset="0"/>
              <a:buNone/>
            </a:pPr>
            <a:endParaRPr lang="en-US" altLang="en-US">
              <a:ea typeface="ＭＳ Ｐゴシック" charset="-128"/>
            </a:endParaRPr>
          </a:p>
          <a:p>
            <a:pPr marL="0" indent="0" algn="ctr">
              <a:buFont typeface="Arial" charset="0"/>
              <a:buNone/>
            </a:pPr>
            <a:r>
              <a:rPr lang="en-US" altLang="en-US" i="1">
                <a:ea typeface="ＭＳ Ｐゴシック" charset="-128"/>
              </a:rPr>
              <a:t> </a:t>
            </a:r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E3045C0A-7099-3C48-A848-05F413D73991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Linear Regression Inference Assumptions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586FEC73-1BBB-7746-B0C2-9431F8E6D7F1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6869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1774825"/>
            <a:ext cx="4279900" cy="508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Robustness to Violations of Assumptions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Linearity</a:t>
            </a:r>
          </a:p>
          <a:p>
            <a:pPr lvl="1"/>
            <a:r>
              <a:rPr lang="en-US" altLang="en-US">
                <a:ea typeface="ＭＳ Ｐゴシック" charset="-128"/>
              </a:rPr>
              <a:t>Consequences of violation of linearity depend on how non-linear the relationship is</a:t>
            </a:r>
          </a:p>
          <a:p>
            <a:pPr lvl="1"/>
            <a:r>
              <a:rPr lang="en-US" altLang="en-US">
                <a:ea typeface="ＭＳ Ｐゴシック" charset="-128"/>
              </a:rPr>
              <a:t>Also depends on the goal of analysis </a:t>
            </a:r>
          </a:p>
          <a:p>
            <a:pPr lvl="2"/>
            <a:r>
              <a:rPr lang="en-US" altLang="en-US">
                <a:ea typeface="ＭＳ Ｐゴシック" charset="-128"/>
              </a:rPr>
              <a:t>Textbook perspective: goal is to accurately model the mean of </a:t>
            </a:r>
            <a:r>
              <a:rPr lang="en-US" altLang="en-US" i="1">
                <a:ea typeface="ＭＳ Ｐゴシック" charset="-128"/>
              </a:rPr>
              <a:t>Y</a:t>
            </a:r>
            <a:r>
              <a:rPr lang="en-US" altLang="en-US">
                <a:ea typeface="ＭＳ Ｐゴシック" charset="-128"/>
              </a:rPr>
              <a:t> at each value of </a:t>
            </a:r>
            <a:r>
              <a:rPr lang="en-US" altLang="en-US" i="1">
                <a:ea typeface="ＭＳ Ｐゴシック" charset="-128"/>
              </a:rPr>
              <a:t>X</a:t>
            </a:r>
          </a:p>
          <a:p>
            <a:pPr lvl="2"/>
            <a:r>
              <a:rPr lang="en-US" altLang="en-US">
                <a:ea typeface="ＭＳ Ｐゴシック" charset="-128"/>
              </a:rPr>
              <a:t>My perspective: goal is to answer questions about a general trend in the mean values of </a:t>
            </a:r>
            <a:r>
              <a:rPr lang="en-US" altLang="en-US" i="1">
                <a:ea typeface="ＭＳ Ｐゴシック" charset="-128"/>
              </a:rPr>
              <a:t>Y</a:t>
            </a:r>
            <a:r>
              <a:rPr lang="en-US" altLang="en-US">
                <a:ea typeface="ＭＳ Ｐゴシック" charset="-128"/>
              </a:rPr>
              <a:t> as </a:t>
            </a:r>
            <a:r>
              <a:rPr lang="en-US" altLang="en-US" i="1">
                <a:ea typeface="ＭＳ Ｐゴシック" charset="-128"/>
              </a:rPr>
              <a:t>X </a:t>
            </a:r>
            <a:r>
              <a:rPr lang="en-US" altLang="en-US">
                <a:ea typeface="ＭＳ Ｐゴシック" charset="-128"/>
              </a:rPr>
              <a:t>changes</a:t>
            </a:r>
          </a:p>
          <a:p>
            <a:pPr lvl="3"/>
            <a:r>
              <a:rPr lang="en-US" altLang="en-US">
                <a:ea typeface="ＭＳ Ｐゴシック" charset="-128"/>
              </a:rPr>
              <a:t>In this case, violation of linearity is a less severe problem.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64D9E542-1164-4E49-B8EC-DB0B4973AF28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Robustness to Violations of Assumptions</a:t>
            </a: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Constant Variance</a:t>
            </a:r>
          </a:p>
          <a:p>
            <a:pPr lvl="1"/>
            <a:r>
              <a:rPr lang="en-US" altLang="en-US">
                <a:ea typeface="ＭＳ Ｐゴシック" charset="-128"/>
              </a:rPr>
              <a:t>Not robust to violations of constant variance</a:t>
            </a:r>
          </a:p>
          <a:p>
            <a:pPr lvl="1"/>
            <a:r>
              <a:rPr lang="en-US" altLang="en-US">
                <a:ea typeface="ＭＳ Ｐゴシック" charset="-128"/>
              </a:rPr>
              <a:t>…but there are alternatives if you are only interested in inference for the </a:t>
            </a:r>
            <a:r>
              <a:rPr lang="en-US" altLang="en-US" i="1">
                <a:ea typeface="ＭＳ Ｐゴシック" charset="-128"/>
              </a:rPr>
              <a:t>regression parameters</a:t>
            </a:r>
            <a:endParaRPr lang="en-US" altLang="en-US">
              <a:ea typeface="ＭＳ Ｐゴシック" charset="-128"/>
            </a:endParaRPr>
          </a:p>
          <a:p>
            <a:pPr lvl="2"/>
            <a:r>
              <a:rPr lang="en-US" altLang="en-US">
                <a:ea typeface="ＭＳ Ｐゴシック" charset="-128"/>
              </a:rPr>
              <a:t>‘Robust standard error’ estimates, also called ‘sandwich estimator’</a:t>
            </a:r>
          </a:p>
          <a:p>
            <a:pPr lvl="2"/>
            <a:r>
              <a:rPr lang="en-US" altLang="en-US">
                <a:ea typeface="ＭＳ Ｐゴシック" charset="-128"/>
              </a:rPr>
              <a:t>These don’t help if your goal is prediction at a given 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>
                <a:ea typeface="ＭＳ Ｐゴシック" charset="-128"/>
              </a:rPr>
              <a:t> value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7B8621F1-F083-824E-A4BB-66A40C42661A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Robustness to Violations of Assumptions</a:t>
            </a: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Independence of observations</a:t>
            </a:r>
          </a:p>
          <a:p>
            <a:pPr lvl="1"/>
            <a:r>
              <a:rPr lang="en-US" altLang="en-US">
                <a:ea typeface="ＭＳ Ｐゴシック" charset="-128"/>
              </a:rPr>
              <a:t>Not robust to violations of independence!</a:t>
            </a:r>
          </a:p>
          <a:p>
            <a:r>
              <a:rPr lang="en-US" altLang="en-US">
                <a:ea typeface="ＭＳ Ｐゴシック" charset="-128"/>
              </a:rPr>
              <a:t>Normality of subpopulations</a:t>
            </a:r>
          </a:p>
          <a:p>
            <a:pPr lvl="1"/>
            <a:r>
              <a:rPr lang="en-US" altLang="en-US">
                <a:ea typeface="ＭＳ Ｐゴシック" charset="-128"/>
              </a:rPr>
              <a:t>Inference for the regression parameters and the subpopulation means are very robust to departures from normality (CLT!)</a:t>
            </a:r>
          </a:p>
          <a:p>
            <a:pPr lvl="2"/>
            <a:r>
              <a:rPr lang="en-US" altLang="en-US">
                <a:ea typeface="ＭＳ Ｐゴシック" charset="-128"/>
              </a:rPr>
              <a:t>To the extent that I do not generally recommend a normal probability plot to explore this assumption</a:t>
            </a:r>
          </a:p>
          <a:p>
            <a:pPr lvl="1"/>
            <a:r>
              <a:rPr lang="en-US" altLang="en-US">
                <a:ea typeface="ＭＳ Ｐゴシック" charset="-128"/>
              </a:rPr>
              <a:t>However, prediction interval coverage will be less robust to violations of normality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31A242A1-7DF1-E546-9A9D-322101E7C78E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Plots to Assess Regression Assumptions</a:t>
            </a:r>
          </a:p>
        </p:txBody>
      </p:sp>
      <p:sp>
        <p:nvSpPr>
          <p:cNvPr id="409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>
                <a:ea typeface="ＭＳ Ｐゴシック" charset="-128"/>
              </a:rPr>
              <a:t>Predictor vs. Response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Assess general trend, linearity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Assess constant variance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Look for outliers</a:t>
            </a:r>
          </a:p>
          <a:p>
            <a:r>
              <a:rPr lang="en-US" altLang="en-US" sz="2800">
                <a:ea typeface="ＭＳ Ｐゴシック" charset="-128"/>
              </a:rPr>
              <a:t>Residual vs. Fitted value (or Residual vs. Predictor)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Assess linearity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Assess constant variance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Look for outliers</a:t>
            </a:r>
          </a:p>
          <a:p>
            <a:r>
              <a:rPr lang="en-US" altLang="en-US" sz="2800">
                <a:ea typeface="ＭＳ Ｐゴシック" charset="-128"/>
              </a:rPr>
              <a:t>Normal Probability plots (quantile-quantile plots or ‘</a:t>
            </a:r>
            <a:r>
              <a:rPr lang="en-US" altLang="ja-JP" sz="2800">
                <a:ea typeface="ＭＳ Ｐゴシック" charset="-128"/>
              </a:rPr>
              <a:t>qqplots</a:t>
            </a:r>
            <a:r>
              <a:rPr lang="en-US" altLang="en-US" sz="2800">
                <a:ea typeface="ＭＳ Ｐゴシック" charset="-128"/>
              </a:rPr>
              <a:t>’</a:t>
            </a:r>
            <a:r>
              <a:rPr lang="en-US" altLang="ja-JP" sz="2800">
                <a:ea typeface="ＭＳ Ｐゴシック" charset="-128"/>
              </a:rPr>
              <a:t>)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Assess normality of subpopulations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9EB323C8-0922-A842-B0C0-F8EEBEA0B10C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Plots to Assess Assumptions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9E828133-B75C-6541-81EF-3D850811F581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1989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463" y="1206500"/>
            <a:ext cx="4859337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Plots to Assess Assumptions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9BBFDA67-FF87-8B4F-A65A-2BDE5626DE2C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301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752600"/>
            <a:ext cx="6934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Plots to Assess Assumptions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21370BAA-9750-AD40-980A-D42CF71663D2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403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2432050"/>
            <a:ext cx="698500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Assumptions and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0B685B71-8766-224E-AD34-8FE6163BB7FC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7413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463" y="1531938"/>
            <a:ext cx="4579937" cy="532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Assumptions and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D8FA702D-21B9-534E-9456-02A569BD7A53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843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2171700"/>
            <a:ext cx="45212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5238750" y="2171700"/>
            <a:ext cx="1443038" cy="339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540000" y="4733925"/>
            <a:ext cx="288925" cy="1485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635000" y="2511425"/>
            <a:ext cx="1676400" cy="95250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Linear Trend?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Assumptions and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2953C9F5-F298-EF4F-AA76-8F5D87EE4B39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9461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2171700"/>
            <a:ext cx="45212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5238750" y="2171700"/>
            <a:ext cx="1443038" cy="339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540000" y="4733925"/>
            <a:ext cx="288925" cy="1485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635000" y="2511425"/>
            <a:ext cx="1676400" cy="95250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Linear Trend?</a:t>
            </a:r>
          </a:p>
        </p:txBody>
      </p:sp>
      <p:sp>
        <p:nvSpPr>
          <p:cNvPr id="13" name="Freeform 12"/>
          <p:cNvSpPr/>
          <p:nvPr/>
        </p:nvSpPr>
        <p:spPr>
          <a:xfrm>
            <a:off x="3260725" y="2684463"/>
            <a:ext cx="1227138" cy="1284287"/>
          </a:xfrm>
          <a:custGeom>
            <a:avLst/>
            <a:gdLst>
              <a:gd name="connsiteX0" fmla="*/ 0 w 1226656"/>
              <a:gd name="connsiteY0" fmla="*/ 1284296 h 1284296"/>
              <a:gd name="connsiteX1" fmla="*/ 1154500 w 1226656"/>
              <a:gd name="connsiteY1" fmla="*/ 72151 h 1284296"/>
              <a:gd name="connsiteX2" fmla="*/ 1154500 w 1226656"/>
              <a:gd name="connsiteY2" fmla="*/ 72151 h 1284296"/>
              <a:gd name="connsiteX3" fmla="*/ 1226656 w 1226656"/>
              <a:gd name="connsiteY3" fmla="*/ 0 h 128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6656" h="1284296">
                <a:moveTo>
                  <a:pt x="0" y="1284296"/>
                </a:moveTo>
                <a:lnTo>
                  <a:pt x="1154500" y="72151"/>
                </a:lnTo>
                <a:lnTo>
                  <a:pt x="1154500" y="72151"/>
                </a:lnTo>
                <a:lnTo>
                  <a:pt x="1226656" y="0"/>
                </a:lnTo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5368925" y="2727325"/>
            <a:ext cx="1168400" cy="1212850"/>
          </a:xfrm>
          <a:custGeom>
            <a:avLst/>
            <a:gdLst>
              <a:gd name="connsiteX0" fmla="*/ 0 w 1168931"/>
              <a:gd name="connsiteY0" fmla="*/ 1212145 h 1212145"/>
              <a:gd name="connsiteX1" fmla="*/ 14431 w 1168931"/>
              <a:gd name="connsiteY1" fmla="*/ 1139993 h 1212145"/>
              <a:gd name="connsiteX2" fmla="*/ 43293 w 1168931"/>
              <a:gd name="connsiteY2" fmla="*/ 1096702 h 1212145"/>
              <a:gd name="connsiteX3" fmla="*/ 57725 w 1168931"/>
              <a:gd name="connsiteY3" fmla="*/ 1053412 h 1212145"/>
              <a:gd name="connsiteX4" fmla="*/ 86587 w 1168931"/>
              <a:gd name="connsiteY4" fmla="*/ 1010121 h 1212145"/>
              <a:gd name="connsiteX5" fmla="*/ 129881 w 1168931"/>
              <a:gd name="connsiteY5" fmla="*/ 923539 h 1212145"/>
              <a:gd name="connsiteX6" fmla="*/ 187606 w 1168931"/>
              <a:gd name="connsiteY6" fmla="*/ 894678 h 1212145"/>
              <a:gd name="connsiteX7" fmla="*/ 216468 w 1168931"/>
              <a:gd name="connsiteY7" fmla="*/ 793666 h 1212145"/>
              <a:gd name="connsiteX8" fmla="*/ 245331 w 1168931"/>
              <a:gd name="connsiteY8" fmla="*/ 764806 h 1212145"/>
              <a:gd name="connsiteX9" fmla="*/ 331918 w 1168931"/>
              <a:gd name="connsiteY9" fmla="*/ 620503 h 1212145"/>
              <a:gd name="connsiteX10" fmla="*/ 360781 w 1168931"/>
              <a:gd name="connsiteY10" fmla="*/ 591642 h 1212145"/>
              <a:gd name="connsiteX11" fmla="*/ 418506 w 1168931"/>
              <a:gd name="connsiteY11" fmla="*/ 519490 h 1212145"/>
              <a:gd name="connsiteX12" fmla="*/ 461800 w 1168931"/>
              <a:gd name="connsiteY12" fmla="*/ 505060 h 1212145"/>
              <a:gd name="connsiteX13" fmla="*/ 533956 w 1168931"/>
              <a:gd name="connsiteY13" fmla="*/ 447339 h 1212145"/>
              <a:gd name="connsiteX14" fmla="*/ 562818 w 1168931"/>
              <a:gd name="connsiteY14" fmla="*/ 404048 h 1212145"/>
              <a:gd name="connsiteX15" fmla="*/ 591681 w 1168931"/>
              <a:gd name="connsiteY15" fmla="*/ 375187 h 1212145"/>
              <a:gd name="connsiteX16" fmla="*/ 620543 w 1168931"/>
              <a:gd name="connsiteY16" fmla="*/ 331897 h 1212145"/>
              <a:gd name="connsiteX17" fmla="*/ 663837 w 1168931"/>
              <a:gd name="connsiteY17" fmla="*/ 303036 h 1212145"/>
              <a:gd name="connsiteX18" fmla="*/ 735993 w 1168931"/>
              <a:gd name="connsiteY18" fmla="*/ 245315 h 1212145"/>
              <a:gd name="connsiteX19" fmla="*/ 764856 w 1168931"/>
              <a:gd name="connsiteY19" fmla="*/ 202024 h 1212145"/>
              <a:gd name="connsiteX20" fmla="*/ 851443 w 1168931"/>
              <a:gd name="connsiteY20" fmla="*/ 158733 h 1212145"/>
              <a:gd name="connsiteX21" fmla="*/ 880306 w 1168931"/>
              <a:gd name="connsiteY21" fmla="*/ 129872 h 1212145"/>
              <a:gd name="connsiteX22" fmla="*/ 966893 w 1168931"/>
              <a:gd name="connsiteY22" fmla="*/ 101012 h 1212145"/>
              <a:gd name="connsiteX23" fmla="*/ 1082343 w 1168931"/>
              <a:gd name="connsiteY23" fmla="*/ 43291 h 1212145"/>
              <a:gd name="connsiteX24" fmla="*/ 1125637 w 1168931"/>
              <a:gd name="connsiteY24" fmla="*/ 28860 h 1212145"/>
              <a:gd name="connsiteX25" fmla="*/ 1168931 w 1168931"/>
              <a:gd name="connsiteY25" fmla="*/ 0 h 121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168931" h="1212145">
                <a:moveTo>
                  <a:pt x="0" y="1212145"/>
                </a:moveTo>
                <a:cubicBezTo>
                  <a:pt x="4810" y="1188094"/>
                  <a:pt x="5819" y="1162958"/>
                  <a:pt x="14431" y="1139993"/>
                </a:cubicBezTo>
                <a:cubicBezTo>
                  <a:pt x="20521" y="1123754"/>
                  <a:pt x="35536" y="1112214"/>
                  <a:pt x="43293" y="1096702"/>
                </a:cubicBezTo>
                <a:cubicBezTo>
                  <a:pt x="50096" y="1083097"/>
                  <a:pt x="50922" y="1067017"/>
                  <a:pt x="57725" y="1053412"/>
                </a:cubicBezTo>
                <a:cubicBezTo>
                  <a:pt x="65482" y="1037900"/>
                  <a:pt x="78831" y="1025633"/>
                  <a:pt x="86587" y="1010121"/>
                </a:cubicBezTo>
                <a:cubicBezTo>
                  <a:pt x="104880" y="973536"/>
                  <a:pt x="94430" y="953080"/>
                  <a:pt x="129881" y="923539"/>
                </a:cubicBezTo>
                <a:cubicBezTo>
                  <a:pt x="146408" y="909767"/>
                  <a:pt x="168364" y="904298"/>
                  <a:pt x="187606" y="894678"/>
                </a:cubicBezTo>
                <a:cubicBezTo>
                  <a:pt x="190301" y="883897"/>
                  <a:pt x="207596" y="808452"/>
                  <a:pt x="216468" y="793666"/>
                </a:cubicBezTo>
                <a:cubicBezTo>
                  <a:pt x="223468" y="782000"/>
                  <a:pt x="235710" y="774426"/>
                  <a:pt x="245331" y="764806"/>
                </a:cubicBezTo>
                <a:cubicBezTo>
                  <a:pt x="268107" y="719255"/>
                  <a:pt x="297086" y="655333"/>
                  <a:pt x="331918" y="620503"/>
                </a:cubicBezTo>
                <a:cubicBezTo>
                  <a:pt x="341539" y="610883"/>
                  <a:pt x="352281" y="602266"/>
                  <a:pt x="360781" y="591642"/>
                </a:cubicBezTo>
                <a:cubicBezTo>
                  <a:pt x="378934" y="568953"/>
                  <a:pt x="391701" y="535572"/>
                  <a:pt x="418506" y="519490"/>
                </a:cubicBezTo>
                <a:cubicBezTo>
                  <a:pt x="431550" y="511664"/>
                  <a:pt x="447369" y="509870"/>
                  <a:pt x="461800" y="505060"/>
                </a:cubicBezTo>
                <a:cubicBezTo>
                  <a:pt x="544512" y="380997"/>
                  <a:pt x="434378" y="526996"/>
                  <a:pt x="533956" y="447339"/>
                </a:cubicBezTo>
                <a:cubicBezTo>
                  <a:pt x="547499" y="436505"/>
                  <a:pt x="551983" y="417591"/>
                  <a:pt x="562818" y="404048"/>
                </a:cubicBezTo>
                <a:cubicBezTo>
                  <a:pt x="571318" y="393424"/>
                  <a:pt x="583181" y="385811"/>
                  <a:pt x="591681" y="375187"/>
                </a:cubicBezTo>
                <a:cubicBezTo>
                  <a:pt x="602516" y="361645"/>
                  <a:pt x="608279" y="344160"/>
                  <a:pt x="620543" y="331897"/>
                </a:cubicBezTo>
                <a:cubicBezTo>
                  <a:pt x="632807" y="319633"/>
                  <a:pt x="649406" y="312656"/>
                  <a:pt x="663837" y="303036"/>
                </a:cubicBezTo>
                <a:cubicBezTo>
                  <a:pt x="746547" y="178976"/>
                  <a:pt x="636416" y="324970"/>
                  <a:pt x="735993" y="245315"/>
                </a:cubicBezTo>
                <a:cubicBezTo>
                  <a:pt x="749536" y="234481"/>
                  <a:pt x="752592" y="214287"/>
                  <a:pt x="764856" y="202024"/>
                </a:cubicBezTo>
                <a:cubicBezTo>
                  <a:pt x="792833" y="174049"/>
                  <a:pt x="816230" y="170470"/>
                  <a:pt x="851443" y="158733"/>
                </a:cubicBezTo>
                <a:cubicBezTo>
                  <a:pt x="861064" y="149113"/>
                  <a:pt x="868137" y="135956"/>
                  <a:pt x="880306" y="129872"/>
                </a:cubicBezTo>
                <a:cubicBezTo>
                  <a:pt x="907518" y="116267"/>
                  <a:pt x="966893" y="101012"/>
                  <a:pt x="966893" y="101012"/>
                </a:cubicBezTo>
                <a:cubicBezTo>
                  <a:pt x="1017270" y="50639"/>
                  <a:pt x="982847" y="76454"/>
                  <a:pt x="1082343" y="43291"/>
                </a:cubicBezTo>
                <a:cubicBezTo>
                  <a:pt x="1096774" y="38481"/>
                  <a:pt x="1112980" y="37298"/>
                  <a:pt x="1125637" y="28860"/>
                </a:cubicBezTo>
                <a:lnTo>
                  <a:pt x="1168931" y="0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3217863" y="5122863"/>
            <a:ext cx="1227137" cy="1009650"/>
          </a:xfrm>
          <a:custGeom>
            <a:avLst/>
            <a:gdLst>
              <a:gd name="connsiteX0" fmla="*/ 0 w 1226657"/>
              <a:gd name="connsiteY0" fmla="*/ 1010121 h 1010121"/>
              <a:gd name="connsiteX1" fmla="*/ 86588 w 1226657"/>
              <a:gd name="connsiteY1" fmla="*/ 995691 h 1010121"/>
              <a:gd name="connsiteX2" fmla="*/ 202038 w 1226657"/>
              <a:gd name="connsiteY2" fmla="*/ 966831 h 1010121"/>
              <a:gd name="connsiteX3" fmla="*/ 245332 w 1226657"/>
              <a:gd name="connsiteY3" fmla="*/ 937970 h 1010121"/>
              <a:gd name="connsiteX4" fmla="*/ 288625 w 1226657"/>
              <a:gd name="connsiteY4" fmla="*/ 923540 h 1010121"/>
              <a:gd name="connsiteX5" fmla="*/ 317488 w 1226657"/>
              <a:gd name="connsiteY5" fmla="*/ 894679 h 1010121"/>
              <a:gd name="connsiteX6" fmla="*/ 360782 w 1226657"/>
              <a:gd name="connsiteY6" fmla="*/ 880249 h 1010121"/>
              <a:gd name="connsiteX7" fmla="*/ 476232 w 1226657"/>
              <a:gd name="connsiteY7" fmla="*/ 851388 h 1010121"/>
              <a:gd name="connsiteX8" fmla="*/ 606113 w 1226657"/>
              <a:gd name="connsiteY8" fmla="*/ 822528 h 1010121"/>
              <a:gd name="connsiteX9" fmla="*/ 750425 w 1226657"/>
              <a:gd name="connsiteY9" fmla="*/ 779237 h 1010121"/>
              <a:gd name="connsiteX10" fmla="*/ 793719 w 1226657"/>
              <a:gd name="connsiteY10" fmla="*/ 764806 h 1010121"/>
              <a:gd name="connsiteX11" fmla="*/ 851444 w 1226657"/>
              <a:gd name="connsiteY11" fmla="*/ 678225 h 1010121"/>
              <a:gd name="connsiteX12" fmla="*/ 880307 w 1226657"/>
              <a:gd name="connsiteY12" fmla="*/ 634934 h 1010121"/>
              <a:gd name="connsiteX13" fmla="*/ 923600 w 1226657"/>
              <a:gd name="connsiteY13" fmla="*/ 548352 h 1010121"/>
              <a:gd name="connsiteX14" fmla="*/ 966894 w 1226657"/>
              <a:gd name="connsiteY14" fmla="*/ 533922 h 1010121"/>
              <a:gd name="connsiteX15" fmla="*/ 981325 w 1226657"/>
              <a:gd name="connsiteY15" fmla="*/ 490631 h 1010121"/>
              <a:gd name="connsiteX16" fmla="*/ 1082344 w 1226657"/>
              <a:gd name="connsiteY16" fmla="*/ 375188 h 1010121"/>
              <a:gd name="connsiteX17" fmla="*/ 1111207 w 1226657"/>
              <a:gd name="connsiteY17" fmla="*/ 274176 h 1010121"/>
              <a:gd name="connsiteX18" fmla="*/ 1140069 w 1226657"/>
              <a:gd name="connsiteY18" fmla="*/ 187594 h 1010121"/>
              <a:gd name="connsiteX19" fmla="*/ 1154500 w 1226657"/>
              <a:gd name="connsiteY19" fmla="*/ 144303 h 1010121"/>
              <a:gd name="connsiteX20" fmla="*/ 1168932 w 1226657"/>
              <a:gd name="connsiteY20" fmla="*/ 101013 h 1010121"/>
              <a:gd name="connsiteX21" fmla="*/ 1183363 w 1226657"/>
              <a:gd name="connsiteY21" fmla="*/ 57722 h 1010121"/>
              <a:gd name="connsiteX22" fmla="*/ 1226657 w 1226657"/>
              <a:gd name="connsiteY22" fmla="*/ 0 h 1010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26657" h="1010121">
                <a:moveTo>
                  <a:pt x="0" y="1010121"/>
                </a:moveTo>
                <a:cubicBezTo>
                  <a:pt x="28863" y="1005311"/>
                  <a:pt x="57977" y="1001821"/>
                  <a:pt x="86588" y="995691"/>
                </a:cubicBezTo>
                <a:cubicBezTo>
                  <a:pt x="125375" y="987380"/>
                  <a:pt x="202038" y="966831"/>
                  <a:pt x="202038" y="966831"/>
                </a:cubicBezTo>
                <a:cubicBezTo>
                  <a:pt x="216469" y="957211"/>
                  <a:pt x="229819" y="945726"/>
                  <a:pt x="245332" y="937970"/>
                </a:cubicBezTo>
                <a:cubicBezTo>
                  <a:pt x="258938" y="931168"/>
                  <a:pt x="275581" y="931366"/>
                  <a:pt x="288625" y="923540"/>
                </a:cubicBezTo>
                <a:cubicBezTo>
                  <a:pt x="300292" y="916540"/>
                  <a:pt x="305821" y="901679"/>
                  <a:pt x="317488" y="894679"/>
                </a:cubicBezTo>
                <a:cubicBezTo>
                  <a:pt x="330532" y="886853"/>
                  <a:pt x="346106" y="884251"/>
                  <a:pt x="360782" y="880249"/>
                </a:cubicBezTo>
                <a:cubicBezTo>
                  <a:pt x="399052" y="869812"/>
                  <a:pt x="437749" y="861008"/>
                  <a:pt x="476232" y="851388"/>
                </a:cubicBezTo>
                <a:cubicBezTo>
                  <a:pt x="617019" y="816194"/>
                  <a:pt x="441215" y="859170"/>
                  <a:pt x="606113" y="822528"/>
                </a:cubicBezTo>
                <a:cubicBezTo>
                  <a:pt x="671532" y="807991"/>
                  <a:pt x="678493" y="803213"/>
                  <a:pt x="750425" y="779237"/>
                </a:cubicBezTo>
                <a:lnTo>
                  <a:pt x="793719" y="764806"/>
                </a:lnTo>
                <a:lnTo>
                  <a:pt x="851444" y="678225"/>
                </a:lnTo>
                <a:lnTo>
                  <a:pt x="880307" y="634934"/>
                </a:lnTo>
                <a:cubicBezTo>
                  <a:pt x="889814" y="606416"/>
                  <a:pt x="898168" y="568696"/>
                  <a:pt x="923600" y="548352"/>
                </a:cubicBezTo>
                <a:cubicBezTo>
                  <a:pt x="935479" y="538850"/>
                  <a:pt x="952463" y="538732"/>
                  <a:pt x="966894" y="533922"/>
                </a:cubicBezTo>
                <a:cubicBezTo>
                  <a:pt x="971704" y="519492"/>
                  <a:pt x="972198" y="502799"/>
                  <a:pt x="981325" y="490631"/>
                </a:cubicBezTo>
                <a:cubicBezTo>
                  <a:pt x="1037751" y="415402"/>
                  <a:pt x="1048888" y="442096"/>
                  <a:pt x="1082344" y="375188"/>
                </a:cubicBezTo>
                <a:cubicBezTo>
                  <a:pt x="1094466" y="350945"/>
                  <a:pt x="1104273" y="297287"/>
                  <a:pt x="1111207" y="274176"/>
                </a:cubicBezTo>
                <a:cubicBezTo>
                  <a:pt x="1119949" y="245037"/>
                  <a:pt x="1130448" y="216455"/>
                  <a:pt x="1140069" y="187594"/>
                </a:cubicBezTo>
                <a:lnTo>
                  <a:pt x="1154500" y="144303"/>
                </a:lnTo>
                <a:lnTo>
                  <a:pt x="1168932" y="101013"/>
                </a:lnTo>
                <a:cubicBezTo>
                  <a:pt x="1173743" y="86583"/>
                  <a:pt x="1174925" y="70378"/>
                  <a:pt x="1183363" y="57722"/>
                </a:cubicBezTo>
                <a:cubicBezTo>
                  <a:pt x="1215999" y="8771"/>
                  <a:pt x="1199961" y="26694"/>
                  <a:pt x="1226657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5354638" y="4862513"/>
            <a:ext cx="1168400" cy="1284287"/>
          </a:xfrm>
          <a:custGeom>
            <a:avLst/>
            <a:gdLst>
              <a:gd name="connsiteX0" fmla="*/ 0 w 1168931"/>
              <a:gd name="connsiteY0" fmla="*/ 1284380 h 1284380"/>
              <a:gd name="connsiteX1" fmla="*/ 43294 w 1168931"/>
              <a:gd name="connsiteY1" fmla="*/ 1212228 h 1284380"/>
              <a:gd name="connsiteX2" fmla="*/ 72157 w 1168931"/>
              <a:gd name="connsiteY2" fmla="*/ 1168937 h 1284380"/>
              <a:gd name="connsiteX3" fmla="*/ 101019 w 1168931"/>
              <a:gd name="connsiteY3" fmla="*/ 1067925 h 1284380"/>
              <a:gd name="connsiteX4" fmla="*/ 158744 w 1168931"/>
              <a:gd name="connsiteY4" fmla="*/ 981343 h 1284380"/>
              <a:gd name="connsiteX5" fmla="*/ 187607 w 1168931"/>
              <a:gd name="connsiteY5" fmla="*/ 938053 h 1284380"/>
              <a:gd name="connsiteX6" fmla="*/ 230900 w 1168931"/>
              <a:gd name="connsiteY6" fmla="*/ 909192 h 1284380"/>
              <a:gd name="connsiteX7" fmla="*/ 317488 w 1168931"/>
              <a:gd name="connsiteY7" fmla="*/ 793750 h 1284380"/>
              <a:gd name="connsiteX8" fmla="*/ 375213 w 1168931"/>
              <a:gd name="connsiteY8" fmla="*/ 678307 h 1284380"/>
              <a:gd name="connsiteX9" fmla="*/ 432938 w 1168931"/>
              <a:gd name="connsiteY9" fmla="*/ 606156 h 1284380"/>
              <a:gd name="connsiteX10" fmla="*/ 447369 w 1168931"/>
              <a:gd name="connsiteY10" fmla="*/ 548434 h 1284380"/>
              <a:gd name="connsiteX11" fmla="*/ 476232 w 1168931"/>
              <a:gd name="connsiteY11" fmla="*/ 519574 h 1284380"/>
              <a:gd name="connsiteX12" fmla="*/ 548388 w 1168931"/>
              <a:gd name="connsiteY12" fmla="*/ 447422 h 1284380"/>
              <a:gd name="connsiteX13" fmla="*/ 591681 w 1168931"/>
              <a:gd name="connsiteY13" fmla="*/ 404131 h 1284380"/>
              <a:gd name="connsiteX14" fmla="*/ 620544 w 1168931"/>
              <a:gd name="connsiteY14" fmla="*/ 360841 h 1284380"/>
              <a:gd name="connsiteX15" fmla="*/ 663838 w 1168931"/>
              <a:gd name="connsiteY15" fmla="*/ 346410 h 1284380"/>
              <a:gd name="connsiteX16" fmla="*/ 707131 w 1168931"/>
              <a:gd name="connsiteY16" fmla="*/ 317550 h 1284380"/>
              <a:gd name="connsiteX17" fmla="*/ 793719 w 1168931"/>
              <a:gd name="connsiteY17" fmla="*/ 288689 h 1284380"/>
              <a:gd name="connsiteX18" fmla="*/ 837013 w 1168931"/>
              <a:gd name="connsiteY18" fmla="*/ 259828 h 1284380"/>
              <a:gd name="connsiteX19" fmla="*/ 880306 w 1168931"/>
              <a:gd name="connsiteY19" fmla="*/ 245398 h 1284380"/>
              <a:gd name="connsiteX20" fmla="*/ 952463 w 1168931"/>
              <a:gd name="connsiteY20" fmla="*/ 187677 h 1284380"/>
              <a:gd name="connsiteX21" fmla="*/ 1010188 w 1168931"/>
              <a:gd name="connsiteY21" fmla="*/ 129956 h 1284380"/>
              <a:gd name="connsiteX22" fmla="*/ 1082344 w 1168931"/>
              <a:gd name="connsiteY22" fmla="*/ 72235 h 1284380"/>
              <a:gd name="connsiteX23" fmla="*/ 1125638 w 1168931"/>
              <a:gd name="connsiteY23" fmla="*/ 43374 h 1284380"/>
              <a:gd name="connsiteX24" fmla="*/ 1168931 w 1168931"/>
              <a:gd name="connsiteY24" fmla="*/ 83 h 128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168931" h="1284380">
                <a:moveTo>
                  <a:pt x="0" y="1284380"/>
                </a:moveTo>
                <a:cubicBezTo>
                  <a:pt x="14431" y="1260329"/>
                  <a:pt x="28428" y="1236012"/>
                  <a:pt x="43294" y="1212228"/>
                </a:cubicBezTo>
                <a:cubicBezTo>
                  <a:pt x="52487" y="1197521"/>
                  <a:pt x="65325" y="1184878"/>
                  <a:pt x="72157" y="1168937"/>
                </a:cubicBezTo>
                <a:cubicBezTo>
                  <a:pt x="86169" y="1136245"/>
                  <a:pt x="83467" y="1099516"/>
                  <a:pt x="101019" y="1067925"/>
                </a:cubicBezTo>
                <a:cubicBezTo>
                  <a:pt x="117865" y="1037604"/>
                  <a:pt x="139502" y="1010204"/>
                  <a:pt x="158744" y="981343"/>
                </a:cubicBezTo>
                <a:cubicBezTo>
                  <a:pt x="168365" y="966913"/>
                  <a:pt x="173176" y="947673"/>
                  <a:pt x="187607" y="938053"/>
                </a:cubicBezTo>
                <a:lnTo>
                  <a:pt x="230900" y="909192"/>
                </a:lnTo>
                <a:cubicBezTo>
                  <a:pt x="296172" y="811290"/>
                  <a:pt x="264096" y="847136"/>
                  <a:pt x="317488" y="793750"/>
                </a:cubicBezTo>
                <a:cubicBezTo>
                  <a:pt x="350653" y="694261"/>
                  <a:pt x="324838" y="728679"/>
                  <a:pt x="375213" y="678307"/>
                </a:cubicBezTo>
                <a:cubicBezTo>
                  <a:pt x="422390" y="536783"/>
                  <a:pt x="345904" y="736699"/>
                  <a:pt x="432938" y="606156"/>
                </a:cubicBezTo>
                <a:cubicBezTo>
                  <a:pt x="443940" y="589654"/>
                  <a:pt x="438499" y="566173"/>
                  <a:pt x="447369" y="548434"/>
                </a:cubicBezTo>
                <a:cubicBezTo>
                  <a:pt x="453454" y="536265"/>
                  <a:pt x="467732" y="530198"/>
                  <a:pt x="476232" y="519574"/>
                </a:cubicBezTo>
                <a:cubicBezTo>
                  <a:pt x="560900" y="413746"/>
                  <a:pt x="444476" y="534011"/>
                  <a:pt x="548388" y="447422"/>
                </a:cubicBezTo>
                <a:cubicBezTo>
                  <a:pt x="564066" y="434357"/>
                  <a:pt x="578616" y="419808"/>
                  <a:pt x="591681" y="404131"/>
                </a:cubicBezTo>
                <a:cubicBezTo>
                  <a:pt x="602784" y="390808"/>
                  <a:pt x="607001" y="371675"/>
                  <a:pt x="620544" y="360841"/>
                </a:cubicBezTo>
                <a:cubicBezTo>
                  <a:pt x="632423" y="351339"/>
                  <a:pt x="650232" y="353213"/>
                  <a:pt x="663838" y="346410"/>
                </a:cubicBezTo>
                <a:cubicBezTo>
                  <a:pt x="679351" y="338654"/>
                  <a:pt x="691282" y="324593"/>
                  <a:pt x="707131" y="317550"/>
                </a:cubicBezTo>
                <a:cubicBezTo>
                  <a:pt x="734933" y="305194"/>
                  <a:pt x="793719" y="288689"/>
                  <a:pt x="793719" y="288689"/>
                </a:cubicBezTo>
                <a:cubicBezTo>
                  <a:pt x="808150" y="279069"/>
                  <a:pt x="821500" y="267584"/>
                  <a:pt x="837013" y="259828"/>
                </a:cubicBezTo>
                <a:cubicBezTo>
                  <a:pt x="850619" y="253026"/>
                  <a:pt x="868428" y="254900"/>
                  <a:pt x="880306" y="245398"/>
                </a:cubicBezTo>
                <a:cubicBezTo>
                  <a:pt x="973557" y="170802"/>
                  <a:pt x="843643" y="223947"/>
                  <a:pt x="952463" y="187677"/>
                </a:cubicBezTo>
                <a:cubicBezTo>
                  <a:pt x="983948" y="93225"/>
                  <a:pt x="940219" y="185928"/>
                  <a:pt x="1010188" y="129956"/>
                </a:cubicBezTo>
                <a:cubicBezTo>
                  <a:pt x="1103440" y="55359"/>
                  <a:pt x="973521" y="108506"/>
                  <a:pt x="1082344" y="72235"/>
                </a:cubicBezTo>
                <a:cubicBezTo>
                  <a:pt x="1096775" y="62615"/>
                  <a:pt x="1113374" y="55638"/>
                  <a:pt x="1125638" y="43374"/>
                </a:cubicBezTo>
                <a:cubicBezTo>
                  <a:pt x="1172934" y="-3919"/>
                  <a:pt x="1132784" y="83"/>
                  <a:pt x="1168931" y="83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594100" y="2265363"/>
            <a:ext cx="561975" cy="288925"/>
          </a:xfrm>
          <a:prstGeom prst="round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38813" y="2273300"/>
            <a:ext cx="561975" cy="288925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94100" y="4445000"/>
            <a:ext cx="561975" cy="288925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38813" y="4452938"/>
            <a:ext cx="561975" cy="288925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Assumptions and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6FB9288D-25AD-0240-9419-62956D4468E7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0485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513" y="2171700"/>
            <a:ext cx="45212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5238750" y="2171700"/>
            <a:ext cx="1443038" cy="339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540000" y="4733925"/>
            <a:ext cx="288925" cy="1485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635000" y="2511425"/>
            <a:ext cx="1676400" cy="95250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Constant Variance?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Assumptions and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00E8D42C-0C8B-6940-9705-C2A1CD230E0A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1509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513" y="2171700"/>
            <a:ext cx="45212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5238750" y="2171700"/>
            <a:ext cx="1443038" cy="339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540000" y="4733925"/>
            <a:ext cx="288925" cy="1485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635000" y="2511425"/>
            <a:ext cx="1676400" cy="95250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Constant Variance?</a:t>
            </a:r>
          </a:p>
        </p:txBody>
      </p:sp>
      <p:sp>
        <p:nvSpPr>
          <p:cNvPr id="8" name="Freeform 7"/>
          <p:cNvSpPr/>
          <p:nvPr/>
        </p:nvSpPr>
        <p:spPr>
          <a:xfrm>
            <a:off x="3463925" y="2876550"/>
            <a:ext cx="1062038" cy="1120775"/>
          </a:xfrm>
          <a:custGeom>
            <a:avLst/>
            <a:gdLst>
              <a:gd name="connsiteX0" fmla="*/ 0 w 1062370"/>
              <a:gd name="connsiteY0" fmla="*/ 1121125 h 1121125"/>
              <a:gd name="connsiteX1" fmla="*/ 1053481 w 1062370"/>
              <a:gd name="connsiteY1" fmla="*/ 9992 h 1121125"/>
              <a:gd name="connsiteX2" fmla="*/ 533956 w 1062370"/>
              <a:gd name="connsiteY2" fmla="*/ 543913 h 112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2370" h="1121125">
                <a:moveTo>
                  <a:pt x="0" y="1121125"/>
                </a:moveTo>
                <a:lnTo>
                  <a:pt x="1053481" y="9992"/>
                </a:lnTo>
                <a:cubicBezTo>
                  <a:pt x="1142474" y="-86210"/>
                  <a:pt x="533956" y="543913"/>
                  <a:pt x="533956" y="543913"/>
                </a:cubicBezTo>
              </a:path>
            </a:pathLst>
          </a:cu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3270250" y="2652713"/>
            <a:ext cx="1062038" cy="1122362"/>
          </a:xfrm>
          <a:custGeom>
            <a:avLst/>
            <a:gdLst>
              <a:gd name="connsiteX0" fmla="*/ 0 w 1062370"/>
              <a:gd name="connsiteY0" fmla="*/ 1121125 h 1121125"/>
              <a:gd name="connsiteX1" fmla="*/ 1053481 w 1062370"/>
              <a:gd name="connsiteY1" fmla="*/ 9992 h 1121125"/>
              <a:gd name="connsiteX2" fmla="*/ 533956 w 1062370"/>
              <a:gd name="connsiteY2" fmla="*/ 543913 h 112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2370" h="1121125">
                <a:moveTo>
                  <a:pt x="0" y="1121125"/>
                </a:moveTo>
                <a:lnTo>
                  <a:pt x="1053481" y="9992"/>
                </a:lnTo>
                <a:cubicBezTo>
                  <a:pt x="1142474" y="-86210"/>
                  <a:pt x="533956" y="543913"/>
                  <a:pt x="533956" y="543913"/>
                </a:cubicBezTo>
              </a:path>
            </a:pathLst>
          </a:cu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5410200" y="2921000"/>
            <a:ext cx="1193800" cy="1092200"/>
          </a:xfrm>
          <a:custGeom>
            <a:avLst/>
            <a:gdLst>
              <a:gd name="connsiteX0" fmla="*/ 0 w 1194006"/>
              <a:gd name="connsiteY0" fmla="*/ 1092200 h 1092200"/>
              <a:gd name="connsiteX1" fmla="*/ 76200 w 1194006"/>
              <a:gd name="connsiteY1" fmla="*/ 965200 h 1092200"/>
              <a:gd name="connsiteX2" fmla="*/ 177800 w 1194006"/>
              <a:gd name="connsiteY2" fmla="*/ 812800 h 1092200"/>
              <a:gd name="connsiteX3" fmla="*/ 228600 w 1194006"/>
              <a:gd name="connsiteY3" fmla="*/ 711200 h 1092200"/>
              <a:gd name="connsiteX4" fmla="*/ 304800 w 1194006"/>
              <a:gd name="connsiteY4" fmla="*/ 533400 h 1092200"/>
              <a:gd name="connsiteX5" fmla="*/ 381000 w 1194006"/>
              <a:gd name="connsiteY5" fmla="*/ 482600 h 1092200"/>
              <a:gd name="connsiteX6" fmla="*/ 431800 w 1194006"/>
              <a:gd name="connsiteY6" fmla="*/ 406400 h 1092200"/>
              <a:gd name="connsiteX7" fmla="*/ 508000 w 1194006"/>
              <a:gd name="connsiteY7" fmla="*/ 381000 h 1092200"/>
              <a:gd name="connsiteX8" fmla="*/ 584200 w 1194006"/>
              <a:gd name="connsiteY8" fmla="*/ 330200 h 1092200"/>
              <a:gd name="connsiteX9" fmla="*/ 660400 w 1194006"/>
              <a:gd name="connsiteY9" fmla="*/ 254000 h 1092200"/>
              <a:gd name="connsiteX10" fmla="*/ 736600 w 1194006"/>
              <a:gd name="connsiteY10" fmla="*/ 228600 h 1092200"/>
              <a:gd name="connsiteX11" fmla="*/ 812800 w 1194006"/>
              <a:gd name="connsiteY11" fmla="*/ 177800 h 1092200"/>
              <a:gd name="connsiteX12" fmla="*/ 889000 w 1194006"/>
              <a:gd name="connsiteY12" fmla="*/ 152400 h 1092200"/>
              <a:gd name="connsiteX13" fmla="*/ 965200 w 1194006"/>
              <a:gd name="connsiteY13" fmla="*/ 101600 h 1092200"/>
              <a:gd name="connsiteX14" fmla="*/ 1117600 w 1194006"/>
              <a:gd name="connsiteY14" fmla="*/ 50800 h 1092200"/>
              <a:gd name="connsiteX15" fmla="*/ 1193800 w 1194006"/>
              <a:gd name="connsiteY15" fmla="*/ 0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94006" h="1092200">
                <a:moveTo>
                  <a:pt x="0" y="1092200"/>
                </a:moveTo>
                <a:cubicBezTo>
                  <a:pt x="25400" y="1049867"/>
                  <a:pt x="49695" y="1006850"/>
                  <a:pt x="76200" y="965200"/>
                </a:cubicBezTo>
                <a:cubicBezTo>
                  <a:pt x="108978" y="913691"/>
                  <a:pt x="150496" y="867408"/>
                  <a:pt x="177800" y="812800"/>
                </a:cubicBezTo>
                <a:cubicBezTo>
                  <a:pt x="194733" y="778933"/>
                  <a:pt x="215305" y="746653"/>
                  <a:pt x="228600" y="711200"/>
                </a:cubicBezTo>
                <a:cubicBezTo>
                  <a:pt x="263576" y="617930"/>
                  <a:pt x="232736" y="605464"/>
                  <a:pt x="304800" y="533400"/>
                </a:cubicBezTo>
                <a:cubicBezTo>
                  <a:pt x="326386" y="511814"/>
                  <a:pt x="355600" y="499533"/>
                  <a:pt x="381000" y="482600"/>
                </a:cubicBezTo>
                <a:cubicBezTo>
                  <a:pt x="397933" y="457200"/>
                  <a:pt x="407962" y="425470"/>
                  <a:pt x="431800" y="406400"/>
                </a:cubicBezTo>
                <a:cubicBezTo>
                  <a:pt x="452707" y="389674"/>
                  <a:pt x="484053" y="392974"/>
                  <a:pt x="508000" y="381000"/>
                </a:cubicBezTo>
                <a:cubicBezTo>
                  <a:pt x="535304" y="367348"/>
                  <a:pt x="560749" y="349743"/>
                  <a:pt x="584200" y="330200"/>
                </a:cubicBezTo>
                <a:cubicBezTo>
                  <a:pt x="611795" y="307204"/>
                  <a:pt x="630512" y="273925"/>
                  <a:pt x="660400" y="254000"/>
                </a:cubicBezTo>
                <a:cubicBezTo>
                  <a:pt x="682677" y="239148"/>
                  <a:pt x="712653" y="240574"/>
                  <a:pt x="736600" y="228600"/>
                </a:cubicBezTo>
                <a:cubicBezTo>
                  <a:pt x="763904" y="214948"/>
                  <a:pt x="785496" y="191452"/>
                  <a:pt x="812800" y="177800"/>
                </a:cubicBezTo>
                <a:cubicBezTo>
                  <a:pt x="836747" y="165826"/>
                  <a:pt x="865053" y="164374"/>
                  <a:pt x="889000" y="152400"/>
                </a:cubicBezTo>
                <a:cubicBezTo>
                  <a:pt x="916304" y="138748"/>
                  <a:pt x="937304" y="113998"/>
                  <a:pt x="965200" y="101600"/>
                </a:cubicBezTo>
                <a:cubicBezTo>
                  <a:pt x="1014133" y="79852"/>
                  <a:pt x="1066800" y="67733"/>
                  <a:pt x="1117600" y="50800"/>
                </a:cubicBezTo>
                <a:cubicBezTo>
                  <a:pt x="1201832" y="22723"/>
                  <a:pt x="1193800" y="52174"/>
                  <a:pt x="1193800" y="0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3251200" y="4826000"/>
            <a:ext cx="941388" cy="1193800"/>
          </a:xfrm>
          <a:custGeom>
            <a:avLst/>
            <a:gdLst>
              <a:gd name="connsiteX0" fmla="*/ 0 w 941672"/>
              <a:gd name="connsiteY0" fmla="*/ 1193800 h 1193800"/>
              <a:gd name="connsiteX1" fmla="*/ 228600 w 941672"/>
              <a:gd name="connsiteY1" fmla="*/ 1168400 h 1193800"/>
              <a:gd name="connsiteX2" fmla="*/ 381000 w 941672"/>
              <a:gd name="connsiteY2" fmla="*/ 1092200 h 1193800"/>
              <a:gd name="connsiteX3" fmla="*/ 457200 w 941672"/>
              <a:gd name="connsiteY3" fmla="*/ 1016000 h 1193800"/>
              <a:gd name="connsiteX4" fmla="*/ 533400 w 941672"/>
              <a:gd name="connsiteY4" fmla="*/ 965200 h 1193800"/>
              <a:gd name="connsiteX5" fmla="*/ 584200 w 941672"/>
              <a:gd name="connsiteY5" fmla="*/ 889000 h 1193800"/>
              <a:gd name="connsiteX6" fmla="*/ 609600 w 941672"/>
              <a:gd name="connsiteY6" fmla="*/ 812800 h 1193800"/>
              <a:gd name="connsiteX7" fmla="*/ 762000 w 941672"/>
              <a:gd name="connsiteY7" fmla="*/ 584200 h 1193800"/>
              <a:gd name="connsiteX8" fmla="*/ 812800 w 941672"/>
              <a:gd name="connsiteY8" fmla="*/ 508000 h 1193800"/>
              <a:gd name="connsiteX9" fmla="*/ 889000 w 941672"/>
              <a:gd name="connsiteY9" fmla="*/ 355600 h 1193800"/>
              <a:gd name="connsiteX10" fmla="*/ 939800 w 941672"/>
              <a:gd name="connsiteY10" fmla="*/ 127000 h 1193800"/>
              <a:gd name="connsiteX11" fmla="*/ 939800 w 941672"/>
              <a:gd name="connsiteY11" fmla="*/ 0 h 119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1672" h="1193800">
                <a:moveTo>
                  <a:pt x="0" y="1193800"/>
                </a:moveTo>
                <a:cubicBezTo>
                  <a:pt x="76200" y="1185333"/>
                  <a:pt x="152974" y="1181004"/>
                  <a:pt x="228600" y="1168400"/>
                </a:cubicBezTo>
                <a:cubicBezTo>
                  <a:pt x="285878" y="1158854"/>
                  <a:pt x="337117" y="1128769"/>
                  <a:pt x="381000" y="1092200"/>
                </a:cubicBezTo>
                <a:cubicBezTo>
                  <a:pt x="408595" y="1069204"/>
                  <a:pt x="429605" y="1038996"/>
                  <a:pt x="457200" y="1016000"/>
                </a:cubicBezTo>
                <a:cubicBezTo>
                  <a:pt x="480651" y="996457"/>
                  <a:pt x="508000" y="982133"/>
                  <a:pt x="533400" y="965200"/>
                </a:cubicBezTo>
                <a:cubicBezTo>
                  <a:pt x="550333" y="939800"/>
                  <a:pt x="570548" y="916304"/>
                  <a:pt x="584200" y="889000"/>
                </a:cubicBezTo>
                <a:cubicBezTo>
                  <a:pt x="596174" y="865053"/>
                  <a:pt x="596597" y="836205"/>
                  <a:pt x="609600" y="812800"/>
                </a:cubicBezTo>
                <a:lnTo>
                  <a:pt x="762000" y="584200"/>
                </a:lnTo>
                <a:cubicBezTo>
                  <a:pt x="778933" y="558800"/>
                  <a:pt x="803147" y="536960"/>
                  <a:pt x="812800" y="508000"/>
                </a:cubicBezTo>
                <a:cubicBezTo>
                  <a:pt x="847853" y="402840"/>
                  <a:pt x="823348" y="454077"/>
                  <a:pt x="889000" y="355600"/>
                </a:cubicBezTo>
                <a:cubicBezTo>
                  <a:pt x="903142" y="299032"/>
                  <a:pt x="934426" y="180744"/>
                  <a:pt x="939800" y="127000"/>
                </a:cubicBezTo>
                <a:cubicBezTo>
                  <a:pt x="944012" y="84877"/>
                  <a:pt x="939800" y="42333"/>
                  <a:pt x="939800" y="0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3449638" y="5700713"/>
            <a:ext cx="1117600" cy="482600"/>
          </a:xfrm>
          <a:custGeom>
            <a:avLst/>
            <a:gdLst>
              <a:gd name="connsiteX0" fmla="*/ 0 w 1117600"/>
              <a:gd name="connsiteY0" fmla="*/ 482600 h 482600"/>
              <a:gd name="connsiteX1" fmla="*/ 127000 w 1117600"/>
              <a:gd name="connsiteY1" fmla="*/ 457200 h 482600"/>
              <a:gd name="connsiteX2" fmla="*/ 203200 w 1117600"/>
              <a:gd name="connsiteY2" fmla="*/ 431800 h 482600"/>
              <a:gd name="connsiteX3" fmla="*/ 304800 w 1117600"/>
              <a:gd name="connsiteY3" fmla="*/ 406400 h 482600"/>
              <a:gd name="connsiteX4" fmla="*/ 508000 w 1117600"/>
              <a:gd name="connsiteY4" fmla="*/ 330200 h 482600"/>
              <a:gd name="connsiteX5" fmla="*/ 736600 w 1117600"/>
              <a:gd name="connsiteY5" fmla="*/ 254000 h 482600"/>
              <a:gd name="connsiteX6" fmla="*/ 812800 w 1117600"/>
              <a:gd name="connsiteY6" fmla="*/ 228600 h 482600"/>
              <a:gd name="connsiteX7" fmla="*/ 889000 w 1117600"/>
              <a:gd name="connsiteY7" fmla="*/ 203200 h 482600"/>
              <a:gd name="connsiteX8" fmla="*/ 914400 w 1117600"/>
              <a:gd name="connsiteY8" fmla="*/ 127000 h 482600"/>
              <a:gd name="connsiteX9" fmla="*/ 1092200 w 1117600"/>
              <a:gd name="connsiteY9" fmla="*/ 76200 h 482600"/>
              <a:gd name="connsiteX10" fmla="*/ 1117600 w 1117600"/>
              <a:gd name="connsiteY10" fmla="*/ 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7600" h="482600">
                <a:moveTo>
                  <a:pt x="0" y="482600"/>
                </a:moveTo>
                <a:cubicBezTo>
                  <a:pt x="42333" y="474133"/>
                  <a:pt x="85117" y="467671"/>
                  <a:pt x="127000" y="457200"/>
                </a:cubicBezTo>
                <a:cubicBezTo>
                  <a:pt x="152975" y="450706"/>
                  <a:pt x="177456" y="439155"/>
                  <a:pt x="203200" y="431800"/>
                </a:cubicBezTo>
                <a:cubicBezTo>
                  <a:pt x="236766" y="422210"/>
                  <a:pt x="270933" y="414867"/>
                  <a:pt x="304800" y="406400"/>
                </a:cubicBezTo>
                <a:cubicBezTo>
                  <a:pt x="441889" y="315007"/>
                  <a:pt x="315756" y="385127"/>
                  <a:pt x="508000" y="330200"/>
                </a:cubicBezTo>
                <a:cubicBezTo>
                  <a:pt x="585231" y="308134"/>
                  <a:pt x="660400" y="279400"/>
                  <a:pt x="736600" y="254000"/>
                </a:cubicBezTo>
                <a:lnTo>
                  <a:pt x="812800" y="228600"/>
                </a:lnTo>
                <a:lnTo>
                  <a:pt x="889000" y="203200"/>
                </a:lnTo>
                <a:cubicBezTo>
                  <a:pt x="897467" y="177800"/>
                  <a:pt x="895468" y="145932"/>
                  <a:pt x="914400" y="127000"/>
                </a:cubicBezTo>
                <a:cubicBezTo>
                  <a:pt x="926546" y="114854"/>
                  <a:pt x="1091321" y="76420"/>
                  <a:pt x="1092200" y="76200"/>
                </a:cubicBezTo>
                <a:lnTo>
                  <a:pt x="1117600" y="0"/>
                </a:ln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5311775" y="2624138"/>
            <a:ext cx="1193800" cy="1092200"/>
          </a:xfrm>
          <a:custGeom>
            <a:avLst/>
            <a:gdLst>
              <a:gd name="connsiteX0" fmla="*/ 0 w 1194006"/>
              <a:gd name="connsiteY0" fmla="*/ 1092200 h 1092200"/>
              <a:gd name="connsiteX1" fmla="*/ 76200 w 1194006"/>
              <a:gd name="connsiteY1" fmla="*/ 965200 h 1092200"/>
              <a:gd name="connsiteX2" fmla="*/ 177800 w 1194006"/>
              <a:gd name="connsiteY2" fmla="*/ 812800 h 1092200"/>
              <a:gd name="connsiteX3" fmla="*/ 228600 w 1194006"/>
              <a:gd name="connsiteY3" fmla="*/ 711200 h 1092200"/>
              <a:gd name="connsiteX4" fmla="*/ 304800 w 1194006"/>
              <a:gd name="connsiteY4" fmla="*/ 533400 h 1092200"/>
              <a:gd name="connsiteX5" fmla="*/ 381000 w 1194006"/>
              <a:gd name="connsiteY5" fmla="*/ 482600 h 1092200"/>
              <a:gd name="connsiteX6" fmla="*/ 431800 w 1194006"/>
              <a:gd name="connsiteY6" fmla="*/ 406400 h 1092200"/>
              <a:gd name="connsiteX7" fmla="*/ 508000 w 1194006"/>
              <a:gd name="connsiteY7" fmla="*/ 381000 h 1092200"/>
              <a:gd name="connsiteX8" fmla="*/ 584200 w 1194006"/>
              <a:gd name="connsiteY8" fmla="*/ 330200 h 1092200"/>
              <a:gd name="connsiteX9" fmla="*/ 660400 w 1194006"/>
              <a:gd name="connsiteY9" fmla="*/ 254000 h 1092200"/>
              <a:gd name="connsiteX10" fmla="*/ 736600 w 1194006"/>
              <a:gd name="connsiteY10" fmla="*/ 228600 h 1092200"/>
              <a:gd name="connsiteX11" fmla="*/ 812800 w 1194006"/>
              <a:gd name="connsiteY11" fmla="*/ 177800 h 1092200"/>
              <a:gd name="connsiteX12" fmla="*/ 889000 w 1194006"/>
              <a:gd name="connsiteY12" fmla="*/ 152400 h 1092200"/>
              <a:gd name="connsiteX13" fmla="*/ 965200 w 1194006"/>
              <a:gd name="connsiteY13" fmla="*/ 101600 h 1092200"/>
              <a:gd name="connsiteX14" fmla="*/ 1117600 w 1194006"/>
              <a:gd name="connsiteY14" fmla="*/ 50800 h 1092200"/>
              <a:gd name="connsiteX15" fmla="*/ 1193800 w 1194006"/>
              <a:gd name="connsiteY15" fmla="*/ 0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94006" h="1092200">
                <a:moveTo>
                  <a:pt x="0" y="1092200"/>
                </a:moveTo>
                <a:cubicBezTo>
                  <a:pt x="25400" y="1049867"/>
                  <a:pt x="49695" y="1006850"/>
                  <a:pt x="76200" y="965200"/>
                </a:cubicBezTo>
                <a:cubicBezTo>
                  <a:pt x="108978" y="913691"/>
                  <a:pt x="150496" y="867408"/>
                  <a:pt x="177800" y="812800"/>
                </a:cubicBezTo>
                <a:cubicBezTo>
                  <a:pt x="194733" y="778933"/>
                  <a:pt x="215305" y="746653"/>
                  <a:pt x="228600" y="711200"/>
                </a:cubicBezTo>
                <a:cubicBezTo>
                  <a:pt x="263576" y="617930"/>
                  <a:pt x="232736" y="605464"/>
                  <a:pt x="304800" y="533400"/>
                </a:cubicBezTo>
                <a:cubicBezTo>
                  <a:pt x="326386" y="511814"/>
                  <a:pt x="355600" y="499533"/>
                  <a:pt x="381000" y="482600"/>
                </a:cubicBezTo>
                <a:cubicBezTo>
                  <a:pt x="397933" y="457200"/>
                  <a:pt x="407962" y="425470"/>
                  <a:pt x="431800" y="406400"/>
                </a:cubicBezTo>
                <a:cubicBezTo>
                  <a:pt x="452707" y="389674"/>
                  <a:pt x="484053" y="392974"/>
                  <a:pt x="508000" y="381000"/>
                </a:cubicBezTo>
                <a:cubicBezTo>
                  <a:pt x="535304" y="367348"/>
                  <a:pt x="560749" y="349743"/>
                  <a:pt x="584200" y="330200"/>
                </a:cubicBezTo>
                <a:cubicBezTo>
                  <a:pt x="611795" y="307204"/>
                  <a:pt x="630512" y="273925"/>
                  <a:pt x="660400" y="254000"/>
                </a:cubicBezTo>
                <a:cubicBezTo>
                  <a:pt x="682677" y="239148"/>
                  <a:pt x="712653" y="240574"/>
                  <a:pt x="736600" y="228600"/>
                </a:cubicBezTo>
                <a:cubicBezTo>
                  <a:pt x="763904" y="214948"/>
                  <a:pt x="785496" y="191452"/>
                  <a:pt x="812800" y="177800"/>
                </a:cubicBezTo>
                <a:cubicBezTo>
                  <a:pt x="836747" y="165826"/>
                  <a:pt x="865053" y="164374"/>
                  <a:pt x="889000" y="152400"/>
                </a:cubicBezTo>
                <a:cubicBezTo>
                  <a:pt x="916304" y="138748"/>
                  <a:pt x="937304" y="113998"/>
                  <a:pt x="965200" y="101600"/>
                </a:cubicBezTo>
                <a:cubicBezTo>
                  <a:pt x="1014133" y="79852"/>
                  <a:pt x="1066800" y="67733"/>
                  <a:pt x="1117600" y="50800"/>
                </a:cubicBezTo>
                <a:cubicBezTo>
                  <a:pt x="1201832" y="22723"/>
                  <a:pt x="1193800" y="52174"/>
                  <a:pt x="1193800" y="0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5511800" y="5156200"/>
            <a:ext cx="1143000" cy="1016000"/>
          </a:xfrm>
          <a:custGeom>
            <a:avLst/>
            <a:gdLst>
              <a:gd name="connsiteX0" fmla="*/ 0 w 1143000"/>
              <a:gd name="connsiteY0" fmla="*/ 1016000 h 1016000"/>
              <a:gd name="connsiteX1" fmla="*/ 76200 w 1143000"/>
              <a:gd name="connsiteY1" fmla="*/ 863600 h 1016000"/>
              <a:gd name="connsiteX2" fmla="*/ 101600 w 1143000"/>
              <a:gd name="connsiteY2" fmla="*/ 787400 h 1016000"/>
              <a:gd name="connsiteX3" fmla="*/ 177800 w 1143000"/>
              <a:gd name="connsiteY3" fmla="*/ 736600 h 1016000"/>
              <a:gd name="connsiteX4" fmla="*/ 304800 w 1143000"/>
              <a:gd name="connsiteY4" fmla="*/ 508000 h 1016000"/>
              <a:gd name="connsiteX5" fmla="*/ 381000 w 1143000"/>
              <a:gd name="connsiteY5" fmla="*/ 457200 h 1016000"/>
              <a:gd name="connsiteX6" fmla="*/ 457200 w 1143000"/>
              <a:gd name="connsiteY6" fmla="*/ 381000 h 1016000"/>
              <a:gd name="connsiteX7" fmla="*/ 609600 w 1143000"/>
              <a:gd name="connsiteY7" fmla="*/ 279400 h 1016000"/>
              <a:gd name="connsiteX8" fmla="*/ 711200 w 1143000"/>
              <a:gd name="connsiteY8" fmla="*/ 203200 h 1016000"/>
              <a:gd name="connsiteX9" fmla="*/ 812800 w 1143000"/>
              <a:gd name="connsiteY9" fmla="*/ 152400 h 1016000"/>
              <a:gd name="connsiteX10" fmla="*/ 1117600 w 1143000"/>
              <a:gd name="connsiteY10" fmla="*/ 0 h 1016000"/>
              <a:gd name="connsiteX11" fmla="*/ 1143000 w 1143000"/>
              <a:gd name="connsiteY11" fmla="*/ 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3000" h="1016000">
                <a:moveTo>
                  <a:pt x="0" y="1016000"/>
                </a:moveTo>
                <a:cubicBezTo>
                  <a:pt x="25400" y="965200"/>
                  <a:pt x="53133" y="915501"/>
                  <a:pt x="76200" y="863600"/>
                </a:cubicBezTo>
                <a:cubicBezTo>
                  <a:pt x="87074" y="839134"/>
                  <a:pt x="84874" y="808307"/>
                  <a:pt x="101600" y="787400"/>
                </a:cubicBezTo>
                <a:cubicBezTo>
                  <a:pt x="120670" y="763562"/>
                  <a:pt x="152400" y="753533"/>
                  <a:pt x="177800" y="736600"/>
                </a:cubicBezTo>
                <a:cubicBezTo>
                  <a:pt x="204269" y="657194"/>
                  <a:pt x="229938" y="557908"/>
                  <a:pt x="304800" y="508000"/>
                </a:cubicBezTo>
                <a:cubicBezTo>
                  <a:pt x="330200" y="491067"/>
                  <a:pt x="357549" y="476743"/>
                  <a:pt x="381000" y="457200"/>
                </a:cubicBezTo>
                <a:cubicBezTo>
                  <a:pt x="408595" y="434204"/>
                  <a:pt x="428846" y="403053"/>
                  <a:pt x="457200" y="381000"/>
                </a:cubicBezTo>
                <a:cubicBezTo>
                  <a:pt x="505393" y="343516"/>
                  <a:pt x="560757" y="316032"/>
                  <a:pt x="609600" y="279400"/>
                </a:cubicBezTo>
                <a:cubicBezTo>
                  <a:pt x="643467" y="254000"/>
                  <a:pt x="675301" y="225637"/>
                  <a:pt x="711200" y="203200"/>
                </a:cubicBezTo>
                <a:cubicBezTo>
                  <a:pt x="743309" y="183132"/>
                  <a:pt x="780332" y="171881"/>
                  <a:pt x="812800" y="152400"/>
                </a:cubicBezTo>
                <a:cubicBezTo>
                  <a:pt x="898415" y="101031"/>
                  <a:pt x="1004931" y="0"/>
                  <a:pt x="1117600" y="0"/>
                </a:cubicBezTo>
                <a:lnTo>
                  <a:pt x="1143000" y="0"/>
                </a:ln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5308600" y="4800600"/>
            <a:ext cx="685800" cy="1244600"/>
          </a:xfrm>
          <a:custGeom>
            <a:avLst/>
            <a:gdLst>
              <a:gd name="connsiteX0" fmla="*/ 0 w 685800"/>
              <a:gd name="connsiteY0" fmla="*/ 1244600 h 1244600"/>
              <a:gd name="connsiteX1" fmla="*/ 127000 w 685800"/>
              <a:gd name="connsiteY1" fmla="*/ 939800 h 1244600"/>
              <a:gd name="connsiteX2" fmla="*/ 177800 w 685800"/>
              <a:gd name="connsiteY2" fmla="*/ 762000 h 1244600"/>
              <a:gd name="connsiteX3" fmla="*/ 228600 w 685800"/>
              <a:gd name="connsiteY3" fmla="*/ 660400 h 1244600"/>
              <a:gd name="connsiteX4" fmla="*/ 279400 w 685800"/>
              <a:gd name="connsiteY4" fmla="*/ 508000 h 1244600"/>
              <a:gd name="connsiteX5" fmla="*/ 355600 w 685800"/>
              <a:gd name="connsiteY5" fmla="*/ 355600 h 1244600"/>
              <a:gd name="connsiteX6" fmla="*/ 431800 w 685800"/>
              <a:gd name="connsiteY6" fmla="*/ 304800 h 1244600"/>
              <a:gd name="connsiteX7" fmla="*/ 533400 w 685800"/>
              <a:gd name="connsiteY7" fmla="*/ 177800 h 1244600"/>
              <a:gd name="connsiteX8" fmla="*/ 584200 w 685800"/>
              <a:gd name="connsiteY8" fmla="*/ 101600 h 1244600"/>
              <a:gd name="connsiteX9" fmla="*/ 685800 w 685800"/>
              <a:gd name="connsiteY9" fmla="*/ 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5800" h="1244600">
                <a:moveTo>
                  <a:pt x="0" y="1244600"/>
                </a:moveTo>
                <a:cubicBezTo>
                  <a:pt x="85853" y="987040"/>
                  <a:pt x="31645" y="1082832"/>
                  <a:pt x="127000" y="939800"/>
                </a:cubicBezTo>
                <a:cubicBezTo>
                  <a:pt x="139889" y="888243"/>
                  <a:pt x="155936" y="813015"/>
                  <a:pt x="177800" y="762000"/>
                </a:cubicBezTo>
                <a:cubicBezTo>
                  <a:pt x="192715" y="727197"/>
                  <a:pt x="214538" y="695556"/>
                  <a:pt x="228600" y="660400"/>
                </a:cubicBezTo>
                <a:cubicBezTo>
                  <a:pt x="248487" y="610682"/>
                  <a:pt x="262467" y="558800"/>
                  <a:pt x="279400" y="508000"/>
                </a:cubicBezTo>
                <a:cubicBezTo>
                  <a:pt x="300058" y="446025"/>
                  <a:pt x="306361" y="404839"/>
                  <a:pt x="355600" y="355600"/>
                </a:cubicBezTo>
                <a:cubicBezTo>
                  <a:pt x="377186" y="334014"/>
                  <a:pt x="406400" y="321733"/>
                  <a:pt x="431800" y="304800"/>
                </a:cubicBezTo>
                <a:cubicBezTo>
                  <a:pt x="481249" y="156454"/>
                  <a:pt x="418510" y="292690"/>
                  <a:pt x="533400" y="177800"/>
                </a:cubicBezTo>
                <a:cubicBezTo>
                  <a:pt x="554986" y="156214"/>
                  <a:pt x="562614" y="123186"/>
                  <a:pt x="584200" y="101600"/>
                </a:cubicBezTo>
                <a:cubicBezTo>
                  <a:pt x="706803" y="-21003"/>
                  <a:pt x="627739" y="116122"/>
                  <a:pt x="685800" y="0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3594100" y="2222500"/>
            <a:ext cx="561975" cy="288925"/>
          </a:xfrm>
          <a:prstGeom prst="round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3413" y="2230438"/>
            <a:ext cx="561975" cy="288925"/>
          </a:xfrm>
          <a:prstGeom prst="round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94100" y="4445000"/>
            <a:ext cx="561975" cy="288925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3413" y="4452938"/>
            <a:ext cx="561975" cy="288925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Assumptions and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C28CB10A-4B1A-4146-AB07-2E4DC2E62A6F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2533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2171700"/>
            <a:ext cx="45212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635000" y="2511425"/>
            <a:ext cx="1676400" cy="151447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Remedy?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Log Transform may improve these issues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67325" y="2171700"/>
            <a:ext cx="1341438" cy="33972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611438" y="4762500"/>
            <a:ext cx="193675" cy="135572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Assumptions and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BDE2666C-569A-B745-B0B1-787C2E0B3537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355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2171700"/>
            <a:ext cx="45212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635000" y="2511425"/>
            <a:ext cx="1676400" cy="151447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Remedy?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Log Transform may improve these issues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19638" y="2171700"/>
            <a:ext cx="2438400" cy="455295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7300913" y="2770188"/>
            <a:ext cx="1676400" cy="26987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Log Transform </a:t>
            </a:r>
            <a:r>
              <a:rPr lang="en-US" i="1" dirty="0">
                <a:solidFill>
                  <a:srgbClr val="000000"/>
                </a:solidFill>
              </a:rPr>
              <a:t>Predictor 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i="1" dirty="0">
                <a:solidFill>
                  <a:srgbClr val="000000"/>
                </a:solidFill>
              </a:rPr>
              <a:t>X</a:t>
            </a:r>
            <a:r>
              <a:rPr lang="en-US" dirty="0">
                <a:solidFill>
                  <a:srgbClr val="000000"/>
                </a:solidFill>
              </a:rPr>
              <a:t>) when: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(1) The curve is non-linear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1438" y="4762500"/>
            <a:ext cx="193675" cy="135572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Assumptions and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F54270E8-09FB-5644-A4FA-A6EBAFDE671E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4581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2171700"/>
            <a:ext cx="45212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635000" y="2511425"/>
            <a:ext cx="1676400" cy="151447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Remedy?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Log Transform may improve these issues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52688" y="4502150"/>
            <a:ext cx="4705350" cy="222250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7300913" y="2352675"/>
            <a:ext cx="1676400" cy="419893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0000"/>
                </a:solidFill>
              </a:rPr>
              <a:t>Log Transform </a:t>
            </a:r>
            <a:r>
              <a:rPr lang="en-US" altLang="en-US" sz="1800" i="1">
                <a:solidFill>
                  <a:srgbClr val="000000"/>
                </a:solidFill>
              </a:rPr>
              <a:t>Response </a:t>
            </a:r>
            <a:r>
              <a:rPr lang="en-US" altLang="en-US" sz="1800">
                <a:solidFill>
                  <a:srgbClr val="000000"/>
                </a:solidFill>
              </a:rPr>
              <a:t>(</a:t>
            </a:r>
            <a:r>
              <a:rPr lang="en-US" altLang="en-US" sz="1800" i="1">
                <a:solidFill>
                  <a:srgbClr val="000000"/>
                </a:solidFill>
              </a:rPr>
              <a:t>Y</a:t>
            </a:r>
            <a:r>
              <a:rPr lang="en-US" altLang="en-US" sz="1800">
                <a:solidFill>
                  <a:srgbClr val="000000"/>
                </a:solidFill>
              </a:rPr>
              <a:t>) when: </a:t>
            </a:r>
          </a:p>
          <a:p>
            <a:pPr algn="ctr" eaLnBrk="1" hangingPunct="1">
              <a:buFontTx/>
              <a:buAutoNum type="arabicParenBoth"/>
            </a:pPr>
            <a:r>
              <a:rPr lang="en-US" altLang="en-US" sz="1800">
                <a:solidFill>
                  <a:srgbClr val="000000"/>
                </a:solidFill>
              </a:rPr>
              <a:t>The curve is non-linear</a:t>
            </a:r>
          </a:p>
          <a:p>
            <a:pPr algn="ctr" eaLnBrk="1" hangingPunct="1">
              <a:buFontTx/>
              <a:buAutoNum type="arabicParenBoth"/>
            </a:pPr>
            <a:r>
              <a:rPr lang="en-US" altLang="en-US" sz="1800">
                <a:solidFill>
                  <a:srgbClr val="000000"/>
                </a:solidFill>
              </a:rPr>
              <a:t>The spread increases as  </a:t>
            </a:r>
            <a:r>
              <a:rPr lang="en-US" altLang="en-US" sz="1800" i="1">
                <a:solidFill>
                  <a:srgbClr val="000000"/>
                </a:solidFill>
              </a:rPr>
              <a:t>μ</a:t>
            </a:r>
            <a:r>
              <a:rPr lang="en-US" altLang="en-US" sz="1800">
                <a:solidFill>
                  <a:srgbClr val="000000"/>
                </a:solidFill>
              </a:rPr>
              <a:t>(</a:t>
            </a:r>
            <a:r>
              <a:rPr lang="en-US" altLang="en-US" sz="1800" i="1">
                <a:solidFill>
                  <a:srgbClr val="000000"/>
                </a:solidFill>
              </a:rPr>
              <a:t>Y</a:t>
            </a:r>
            <a:r>
              <a:rPr lang="en-US" altLang="en-US" sz="1800">
                <a:solidFill>
                  <a:srgbClr val="000000"/>
                </a:solidFill>
              </a:rPr>
              <a:t>| </a:t>
            </a:r>
            <a:r>
              <a:rPr lang="en-US" altLang="en-US" sz="1800" i="1">
                <a:solidFill>
                  <a:srgbClr val="000000"/>
                </a:solidFill>
              </a:rPr>
              <a:t>X</a:t>
            </a:r>
            <a:r>
              <a:rPr lang="en-US" altLang="en-US" sz="1800">
                <a:solidFill>
                  <a:srgbClr val="000000"/>
                </a:solidFill>
              </a:rPr>
              <a:t>) increases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Assumptions and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AFEAE621-CF8F-2B40-9814-7CEEF75B4CEF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560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2171700"/>
            <a:ext cx="45212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Assumptions and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8609D2F8-696D-EF42-AF5B-4AAC64DECEF3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6629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2171700"/>
            <a:ext cx="45212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331788" y="2171700"/>
            <a:ext cx="2092325" cy="410527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How to decide whether to transform </a:t>
            </a:r>
            <a:r>
              <a:rPr lang="en-US" i="1" dirty="0">
                <a:solidFill>
                  <a:srgbClr val="000000"/>
                </a:solidFill>
              </a:rPr>
              <a:t>X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i="1" dirty="0">
                <a:solidFill>
                  <a:srgbClr val="000000"/>
                </a:solidFill>
              </a:rPr>
              <a:t>Y</a:t>
            </a:r>
            <a:r>
              <a:rPr lang="en-US" dirty="0">
                <a:solidFill>
                  <a:srgbClr val="000000"/>
                </a:solidFill>
              </a:rPr>
              <a:t>, or both?</a:t>
            </a:r>
          </a:p>
          <a:p>
            <a:pPr algn="ctr">
              <a:defRPr/>
            </a:pPr>
            <a:endParaRPr lang="en-US" dirty="0">
              <a:solidFill>
                <a:srgbClr val="000000"/>
              </a:solidFill>
            </a:endParaRP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Textbook: </a:t>
            </a:r>
            <a:r>
              <a:rPr lang="en-US" i="1" dirty="0">
                <a:solidFill>
                  <a:srgbClr val="000000"/>
                </a:solidFill>
              </a:rPr>
              <a:t>Consider plots with all combinations, and choose the one that looks most linear and has most constant spread.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Assumptions and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043D6620-AFD3-3646-BDD3-78CE15932FA5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7653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2171700"/>
            <a:ext cx="45212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331788" y="2171700"/>
            <a:ext cx="2092325" cy="410527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How to decide whether to transform </a:t>
            </a:r>
            <a:r>
              <a:rPr lang="en-US" i="1" dirty="0">
                <a:solidFill>
                  <a:srgbClr val="000000"/>
                </a:solidFill>
              </a:rPr>
              <a:t>X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i="1" dirty="0">
                <a:solidFill>
                  <a:srgbClr val="000000"/>
                </a:solidFill>
              </a:rPr>
              <a:t>Y</a:t>
            </a:r>
            <a:r>
              <a:rPr lang="en-US" dirty="0">
                <a:solidFill>
                  <a:srgbClr val="000000"/>
                </a:solidFill>
              </a:rPr>
              <a:t>, or both?</a:t>
            </a:r>
          </a:p>
          <a:p>
            <a:pPr algn="ctr">
              <a:defRPr/>
            </a:pPr>
            <a:endParaRPr lang="en-US" dirty="0">
              <a:solidFill>
                <a:srgbClr val="000000"/>
              </a:solidFill>
            </a:endParaRP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Textbook: </a:t>
            </a:r>
            <a:r>
              <a:rPr lang="en-US" i="1" dirty="0">
                <a:solidFill>
                  <a:srgbClr val="000000"/>
                </a:solidFill>
              </a:rPr>
              <a:t>Consider plots with all combinations, and choose the one that looks most linear and has most constant spread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5725" y="4575175"/>
            <a:ext cx="2208213" cy="2120900"/>
          </a:xfrm>
          <a:prstGeom prst="roundRect">
            <a:avLst/>
          </a:prstGeom>
          <a:noFill/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Regression: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Interpretation after Log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>
                <a:ea typeface="ＭＳ Ｐゴシック" charset="-128"/>
              </a:rPr>
              <a:t>Log Transform </a:t>
            </a:r>
            <a:r>
              <a:rPr lang="en-US" altLang="en-US" sz="2800" i="1" dirty="0">
                <a:ea typeface="ＭＳ Ｐゴシック" charset="-128"/>
              </a:rPr>
              <a:t>Y</a:t>
            </a:r>
            <a:r>
              <a:rPr lang="en-US" altLang="en-US" sz="2800" dirty="0">
                <a:ea typeface="ＭＳ Ｐゴシック" charset="-128"/>
              </a:rPr>
              <a:t>:</a:t>
            </a:r>
          </a:p>
          <a:p>
            <a:pPr algn="ctr">
              <a:buFont typeface="Arial" charset="0"/>
              <a:buNone/>
            </a:pPr>
            <a:r>
              <a:rPr lang="en-US" altLang="en-US" sz="2800" i="1" dirty="0" err="1">
                <a:ea typeface="ＭＳ Ｐゴシック" charset="-128"/>
              </a:rPr>
              <a:t>μ</a:t>
            </a:r>
            <a:r>
              <a:rPr lang="en-US" altLang="en-US" sz="2800" dirty="0">
                <a:ea typeface="ＭＳ Ｐゴシック" charset="-128"/>
              </a:rPr>
              <a:t>(log(</a:t>
            </a:r>
            <a:r>
              <a:rPr lang="en-US" altLang="en-US" sz="2800" i="1" dirty="0">
                <a:ea typeface="ＭＳ Ｐゴシック" charset="-128"/>
              </a:rPr>
              <a:t>Y</a:t>
            </a:r>
            <a:r>
              <a:rPr lang="en-US" altLang="en-US" sz="2800" dirty="0">
                <a:ea typeface="ＭＳ Ｐゴシック" charset="-128"/>
              </a:rPr>
              <a:t>)| 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 = β</a:t>
            </a:r>
            <a:r>
              <a:rPr lang="en-US" altLang="en-US" sz="2800" baseline="-25000" dirty="0">
                <a:ea typeface="ＭＳ Ｐゴシック" charset="-128"/>
              </a:rPr>
              <a:t>0 </a:t>
            </a:r>
            <a:r>
              <a:rPr lang="en-US" altLang="en-US" sz="2800" dirty="0">
                <a:ea typeface="ＭＳ Ｐゴシック" charset="-128"/>
              </a:rPr>
              <a:t>+ β</a:t>
            </a:r>
            <a:r>
              <a:rPr lang="en-US" altLang="en-US" sz="2800" baseline="-25000" dirty="0">
                <a:ea typeface="ＭＳ Ｐゴシック" charset="-128"/>
              </a:rPr>
              <a:t>1</a:t>
            </a:r>
            <a:r>
              <a:rPr lang="en-US" altLang="en-US" sz="2800" i="1" dirty="0">
                <a:ea typeface="ＭＳ Ｐゴシック" charset="-128"/>
              </a:rPr>
              <a:t>X</a:t>
            </a:r>
          </a:p>
          <a:p>
            <a:pPr algn="ctr">
              <a:buFont typeface="Arial" charset="0"/>
              <a:buNone/>
            </a:pPr>
            <a:r>
              <a:rPr lang="en-US" altLang="en-US" sz="2800" dirty="0" err="1">
                <a:ea typeface="ＭＳ Ｐゴシック" charset="-128"/>
              </a:rPr>
              <a:t>exp</a:t>
            </a:r>
            <a:r>
              <a:rPr lang="en-US" altLang="en-US" sz="2800" dirty="0">
                <a:ea typeface="ＭＳ Ｐゴシック" charset="-128"/>
              </a:rPr>
              <a:t>(</a:t>
            </a:r>
            <a:r>
              <a:rPr lang="en-US" altLang="en-US" sz="2800" i="1" dirty="0" err="1">
                <a:ea typeface="ＭＳ Ｐゴシック" charset="-128"/>
              </a:rPr>
              <a:t>μ</a:t>
            </a:r>
            <a:r>
              <a:rPr lang="en-US" altLang="en-US" sz="2800" dirty="0">
                <a:ea typeface="ＭＳ Ｐゴシック" charset="-128"/>
              </a:rPr>
              <a:t>(log(</a:t>
            </a:r>
            <a:r>
              <a:rPr lang="en-US" altLang="en-US" sz="2800" i="1" dirty="0">
                <a:ea typeface="ＭＳ Ｐゴシック" charset="-128"/>
              </a:rPr>
              <a:t>Y</a:t>
            </a:r>
            <a:r>
              <a:rPr lang="en-US" altLang="en-US" sz="2800" dirty="0">
                <a:ea typeface="ＭＳ Ｐゴシック" charset="-128"/>
              </a:rPr>
              <a:t>)| 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)) = </a:t>
            </a:r>
            <a:r>
              <a:rPr lang="en-US" altLang="en-US" sz="2800" dirty="0" err="1">
                <a:ea typeface="ＭＳ Ｐゴシック" charset="-128"/>
              </a:rPr>
              <a:t>exp</a:t>
            </a:r>
            <a:r>
              <a:rPr lang="en-US" altLang="en-US" sz="2800" dirty="0">
                <a:ea typeface="ＭＳ Ｐゴシック" charset="-128"/>
              </a:rPr>
              <a:t>(β</a:t>
            </a:r>
            <a:r>
              <a:rPr lang="en-US" altLang="en-US" sz="2800" baseline="-25000" dirty="0">
                <a:ea typeface="ＭＳ Ｐゴシック" charset="-128"/>
              </a:rPr>
              <a:t>0 </a:t>
            </a:r>
            <a:r>
              <a:rPr lang="en-US" altLang="en-US" sz="2800" dirty="0">
                <a:ea typeface="ＭＳ Ｐゴシック" charset="-128"/>
              </a:rPr>
              <a:t>+ β</a:t>
            </a:r>
            <a:r>
              <a:rPr lang="en-US" altLang="en-US" sz="2800" baseline="-25000" dirty="0">
                <a:ea typeface="ＭＳ Ｐゴシック" charset="-128"/>
              </a:rPr>
              <a:t>1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</a:t>
            </a:r>
          </a:p>
          <a:p>
            <a:pPr algn="ctr">
              <a:buFont typeface="Arial" charset="0"/>
              <a:buNone/>
            </a:pPr>
            <a:r>
              <a:rPr lang="en-US" altLang="en-US" sz="2800" dirty="0">
                <a:ea typeface="ＭＳ Ｐゴシック" charset="-128"/>
              </a:rPr>
              <a:t>Geometric Mean (</a:t>
            </a:r>
            <a:r>
              <a:rPr lang="en-US" altLang="en-US" sz="2800" i="1" dirty="0">
                <a:ea typeface="ＭＳ Ｐゴシック" charset="-128"/>
              </a:rPr>
              <a:t>Y</a:t>
            </a:r>
            <a:r>
              <a:rPr lang="en-US" altLang="en-US" sz="2800" dirty="0">
                <a:ea typeface="ＭＳ Ｐゴシック" charset="-128"/>
              </a:rPr>
              <a:t> | 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 = </a:t>
            </a:r>
            <a:r>
              <a:rPr lang="en-US" altLang="en-US" sz="2800" dirty="0" err="1">
                <a:ea typeface="ＭＳ Ｐゴシック" charset="-128"/>
              </a:rPr>
              <a:t>exp</a:t>
            </a:r>
            <a:r>
              <a:rPr lang="en-US" altLang="en-US" sz="2800" dirty="0">
                <a:ea typeface="ＭＳ Ｐゴシック" charset="-128"/>
              </a:rPr>
              <a:t>(β</a:t>
            </a:r>
            <a:r>
              <a:rPr lang="en-US" altLang="en-US" sz="2800" baseline="-25000" dirty="0">
                <a:ea typeface="ＭＳ Ｐゴシック" charset="-128"/>
              </a:rPr>
              <a:t>0</a:t>
            </a:r>
            <a:r>
              <a:rPr lang="en-US" altLang="en-US" sz="2800" dirty="0">
                <a:ea typeface="ＭＳ Ｐゴシック" charset="-128"/>
              </a:rPr>
              <a:t>)</a:t>
            </a:r>
            <a:r>
              <a:rPr lang="en-US" altLang="en-US" sz="2800" dirty="0" err="1">
                <a:ea typeface="ＭＳ Ｐゴシック" charset="-128"/>
              </a:rPr>
              <a:t>exp</a:t>
            </a:r>
            <a:r>
              <a:rPr lang="en-US" altLang="en-US" sz="2800" dirty="0">
                <a:ea typeface="ＭＳ Ｐゴシック" charset="-128"/>
              </a:rPr>
              <a:t>(β</a:t>
            </a:r>
            <a:r>
              <a:rPr lang="en-US" altLang="en-US" sz="2800" baseline="-25000" dirty="0">
                <a:ea typeface="ＭＳ Ｐゴシック" charset="-128"/>
              </a:rPr>
              <a:t>1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</a:t>
            </a:r>
          </a:p>
          <a:p>
            <a:pPr algn="ctr">
              <a:buFont typeface="Arial" charset="0"/>
              <a:buNone/>
            </a:pPr>
            <a:endParaRPr lang="en-US" altLang="en-US" sz="2800" dirty="0">
              <a:ea typeface="ＭＳ Ｐゴシック" charset="-128"/>
            </a:endParaRPr>
          </a:p>
          <a:p>
            <a:pPr lvl="1"/>
            <a:r>
              <a:rPr lang="en-US" altLang="en-US" sz="2400" dirty="0">
                <a:ea typeface="ＭＳ Ｐゴシック" charset="-128"/>
              </a:rPr>
              <a:t>The mean of the log-transformed variable, </a:t>
            </a:r>
            <a:r>
              <a:rPr lang="en-US" altLang="en-US" sz="2400" i="1" dirty="0" err="1">
                <a:ea typeface="ＭＳ Ｐゴシック" charset="-128"/>
              </a:rPr>
              <a:t>μ</a:t>
            </a:r>
            <a:r>
              <a:rPr lang="en-US" altLang="en-US" sz="2400" dirty="0">
                <a:ea typeface="ＭＳ Ｐゴシック" charset="-128"/>
              </a:rPr>
              <a:t>(log(</a:t>
            </a:r>
            <a:r>
              <a:rPr lang="en-US" altLang="en-US" sz="2400" i="1" dirty="0">
                <a:ea typeface="ＭＳ Ｐゴシック" charset="-128"/>
              </a:rPr>
              <a:t>Y</a:t>
            </a:r>
            <a:r>
              <a:rPr lang="en-US" altLang="en-US" sz="2400" dirty="0">
                <a:ea typeface="ＭＳ Ｐゴシック" charset="-128"/>
              </a:rPr>
              <a:t>)), is equal to the log of the </a:t>
            </a:r>
            <a:r>
              <a:rPr lang="en-US" altLang="en-US" sz="2400" i="1" dirty="0">
                <a:ea typeface="ＭＳ Ｐゴシック" charset="-128"/>
              </a:rPr>
              <a:t>geometric mean</a:t>
            </a:r>
            <a:r>
              <a:rPr lang="en-US" altLang="en-US" sz="2400" dirty="0">
                <a:ea typeface="ＭＳ Ｐゴシック" charset="-128"/>
              </a:rPr>
              <a:t> of the original variable.</a:t>
            </a:r>
          </a:p>
          <a:p>
            <a:pPr lvl="1"/>
            <a:r>
              <a:rPr lang="en-US" altLang="en-US" sz="2400" dirty="0">
                <a:ea typeface="ＭＳ Ｐゴシック" charset="-128"/>
              </a:rPr>
              <a:t>We can therefore interpret this model as ‘a 1-unit increase in </a:t>
            </a:r>
            <a:r>
              <a:rPr lang="en-US" altLang="en-US" sz="2400" i="1" dirty="0">
                <a:ea typeface="ＭＳ Ｐゴシック" charset="-128"/>
              </a:rPr>
              <a:t>X</a:t>
            </a:r>
            <a:r>
              <a:rPr lang="en-US" altLang="en-US" sz="2400" dirty="0">
                <a:ea typeface="ＭＳ Ｐゴシック" charset="-128"/>
              </a:rPr>
              <a:t> is associated with a multiplicative increase of </a:t>
            </a:r>
            <a:r>
              <a:rPr lang="en-US" altLang="en-US" sz="2400" dirty="0" err="1">
                <a:ea typeface="ＭＳ Ｐゴシック" charset="-128"/>
              </a:rPr>
              <a:t>exp</a:t>
            </a:r>
            <a:r>
              <a:rPr lang="en-US" altLang="en-US" sz="2400" dirty="0">
                <a:ea typeface="ＭＳ Ｐゴシック" charset="-128"/>
              </a:rPr>
              <a:t>(β</a:t>
            </a:r>
            <a:r>
              <a:rPr lang="en-US" altLang="en-US" sz="2400" baseline="-25000" dirty="0">
                <a:ea typeface="ＭＳ Ｐゴシック" charset="-128"/>
              </a:rPr>
              <a:t>1</a:t>
            </a:r>
            <a:r>
              <a:rPr lang="en-US" altLang="en-US" sz="2400" dirty="0">
                <a:ea typeface="ＭＳ Ｐゴシック" charset="-128"/>
              </a:rPr>
              <a:t>) in the Geometric mean of </a:t>
            </a:r>
            <a:r>
              <a:rPr lang="en-US" altLang="en-US" sz="2400" i="1" dirty="0">
                <a:ea typeface="ＭＳ Ｐゴシック" charset="-128"/>
              </a:rPr>
              <a:t>Y</a:t>
            </a:r>
            <a:r>
              <a:rPr lang="en-US" altLang="en-US" sz="2400" dirty="0">
                <a:ea typeface="ＭＳ Ｐゴシック" charset="-128"/>
              </a:rPr>
              <a:t>’.</a:t>
            </a:r>
          </a:p>
          <a:p>
            <a:pPr lvl="1">
              <a:buFont typeface="Arial" charset="0"/>
              <a:buNone/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3F5FE3EE-5E0A-D649-A172-55D0A1761B95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Regression: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Interpretation after Log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>
                <a:ea typeface="ＭＳ Ｐゴシック" charset="-128"/>
              </a:rPr>
              <a:t>Log Transform </a:t>
            </a:r>
            <a:r>
              <a:rPr lang="en-US" altLang="en-US" sz="2800" i="1" dirty="0">
                <a:ea typeface="ＭＳ Ｐゴシック" charset="-128"/>
              </a:rPr>
              <a:t>Y</a:t>
            </a:r>
            <a:r>
              <a:rPr lang="en-US" altLang="en-US" sz="2800" dirty="0">
                <a:ea typeface="ＭＳ Ｐゴシック" charset="-128"/>
              </a:rPr>
              <a:t>:</a:t>
            </a:r>
          </a:p>
          <a:p>
            <a:pPr algn="ctr">
              <a:buFont typeface="Arial" charset="0"/>
              <a:buNone/>
            </a:pPr>
            <a:r>
              <a:rPr lang="en-US" altLang="en-US" sz="2800" i="1" dirty="0" err="1">
                <a:ea typeface="ＭＳ Ｐゴシック" charset="-128"/>
              </a:rPr>
              <a:t>μ</a:t>
            </a:r>
            <a:r>
              <a:rPr lang="en-US" altLang="en-US" sz="2800" dirty="0">
                <a:ea typeface="ＭＳ Ｐゴシック" charset="-128"/>
              </a:rPr>
              <a:t>(log(</a:t>
            </a:r>
            <a:r>
              <a:rPr lang="en-US" altLang="en-US" sz="2800" i="1" dirty="0">
                <a:ea typeface="ＭＳ Ｐゴシック" charset="-128"/>
              </a:rPr>
              <a:t>Y</a:t>
            </a:r>
            <a:r>
              <a:rPr lang="en-US" altLang="en-US" sz="2800" dirty="0">
                <a:ea typeface="ＭＳ Ｐゴシック" charset="-128"/>
              </a:rPr>
              <a:t>)| 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 = β</a:t>
            </a:r>
            <a:r>
              <a:rPr lang="en-US" altLang="en-US" sz="2800" baseline="-25000" dirty="0">
                <a:ea typeface="ＭＳ Ｐゴシック" charset="-128"/>
              </a:rPr>
              <a:t>0 </a:t>
            </a:r>
            <a:r>
              <a:rPr lang="en-US" altLang="en-US" sz="2800" dirty="0">
                <a:ea typeface="ＭＳ Ｐゴシック" charset="-128"/>
              </a:rPr>
              <a:t>+ β</a:t>
            </a:r>
            <a:r>
              <a:rPr lang="en-US" altLang="en-US" sz="2800" baseline="-25000" dirty="0">
                <a:ea typeface="ＭＳ Ｐゴシック" charset="-128"/>
              </a:rPr>
              <a:t>1</a:t>
            </a:r>
            <a:r>
              <a:rPr lang="en-US" altLang="en-US" sz="2800" i="1" dirty="0">
                <a:ea typeface="ＭＳ Ｐゴシック" charset="-128"/>
              </a:rPr>
              <a:t>X</a:t>
            </a:r>
          </a:p>
          <a:p>
            <a:pPr algn="ctr">
              <a:buFont typeface="Arial" charset="0"/>
              <a:buNone/>
            </a:pPr>
            <a:r>
              <a:rPr lang="en-US" altLang="en-US" sz="2800" dirty="0" err="1">
                <a:ea typeface="ＭＳ Ｐゴシック" charset="-128"/>
              </a:rPr>
              <a:t>exp</a:t>
            </a:r>
            <a:r>
              <a:rPr lang="en-US" altLang="en-US" sz="2800" dirty="0">
                <a:ea typeface="ＭＳ Ｐゴシック" charset="-128"/>
              </a:rPr>
              <a:t>(</a:t>
            </a:r>
            <a:r>
              <a:rPr lang="en-US" altLang="en-US" sz="2800" i="1" dirty="0" err="1">
                <a:ea typeface="ＭＳ Ｐゴシック" charset="-128"/>
              </a:rPr>
              <a:t>μ</a:t>
            </a:r>
            <a:r>
              <a:rPr lang="en-US" altLang="en-US" sz="2800" dirty="0">
                <a:ea typeface="ＭＳ Ｐゴシック" charset="-128"/>
              </a:rPr>
              <a:t>(log(</a:t>
            </a:r>
            <a:r>
              <a:rPr lang="en-US" altLang="en-US" sz="2800" i="1" dirty="0">
                <a:ea typeface="ＭＳ Ｐゴシック" charset="-128"/>
              </a:rPr>
              <a:t>Y</a:t>
            </a:r>
            <a:r>
              <a:rPr lang="en-US" altLang="en-US" sz="2800" dirty="0">
                <a:ea typeface="ＭＳ Ｐゴシック" charset="-128"/>
              </a:rPr>
              <a:t>)| 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)) = </a:t>
            </a:r>
            <a:r>
              <a:rPr lang="en-US" altLang="en-US" sz="2800" dirty="0" err="1">
                <a:ea typeface="ＭＳ Ｐゴシック" charset="-128"/>
              </a:rPr>
              <a:t>exp</a:t>
            </a:r>
            <a:r>
              <a:rPr lang="en-US" altLang="en-US" sz="2800" dirty="0">
                <a:ea typeface="ＭＳ Ｐゴシック" charset="-128"/>
              </a:rPr>
              <a:t>(β</a:t>
            </a:r>
            <a:r>
              <a:rPr lang="en-US" altLang="en-US" sz="2800" baseline="-25000" dirty="0">
                <a:ea typeface="ＭＳ Ｐゴシック" charset="-128"/>
              </a:rPr>
              <a:t>0 </a:t>
            </a:r>
            <a:r>
              <a:rPr lang="en-US" altLang="en-US" sz="2800" dirty="0">
                <a:ea typeface="ＭＳ Ｐゴシック" charset="-128"/>
              </a:rPr>
              <a:t>+ β</a:t>
            </a:r>
            <a:r>
              <a:rPr lang="en-US" altLang="en-US" sz="2800" baseline="-25000" dirty="0">
                <a:ea typeface="ＭＳ Ｐゴシック" charset="-128"/>
              </a:rPr>
              <a:t>1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</a:t>
            </a:r>
          </a:p>
          <a:p>
            <a:pPr algn="ctr">
              <a:buFont typeface="Arial" charset="0"/>
              <a:buNone/>
            </a:pPr>
            <a:r>
              <a:rPr lang="en-US" altLang="en-US" sz="2800" dirty="0">
                <a:ea typeface="ＭＳ Ｐゴシック" charset="-128"/>
              </a:rPr>
              <a:t>Geometric Mean (</a:t>
            </a:r>
            <a:r>
              <a:rPr lang="en-US" altLang="en-US" sz="2800" i="1" dirty="0">
                <a:ea typeface="ＭＳ Ｐゴシック" charset="-128"/>
              </a:rPr>
              <a:t>Y</a:t>
            </a:r>
            <a:r>
              <a:rPr lang="en-US" altLang="en-US" sz="2800" dirty="0">
                <a:ea typeface="ＭＳ Ｐゴシック" charset="-128"/>
              </a:rPr>
              <a:t> | 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 = </a:t>
            </a:r>
            <a:r>
              <a:rPr lang="en-US" altLang="en-US" sz="2800" dirty="0" err="1">
                <a:ea typeface="ＭＳ Ｐゴシック" charset="-128"/>
              </a:rPr>
              <a:t>exp</a:t>
            </a:r>
            <a:r>
              <a:rPr lang="en-US" altLang="en-US" sz="2800" dirty="0">
                <a:ea typeface="ＭＳ Ｐゴシック" charset="-128"/>
              </a:rPr>
              <a:t>(β</a:t>
            </a:r>
            <a:r>
              <a:rPr lang="en-US" altLang="en-US" sz="2800" baseline="-25000" dirty="0">
                <a:ea typeface="ＭＳ Ｐゴシック" charset="-128"/>
              </a:rPr>
              <a:t>0</a:t>
            </a:r>
            <a:r>
              <a:rPr lang="en-US" altLang="en-US" sz="2800" dirty="0">
                <a:ea typeface="ＭＳ Ｐゴシック" charset="-128"/>
              </a:rPr>
              <a:t>)</a:t>
            </a:r>
            <a:r>
              <a:rPr lang="en-US" altLang="en-US" sz="2800" dirty="0" err="1">
                <a:ea typeface="ＭＳ Ｐゴシック" charset="-128"/>
              </a:rPr>
              <a:t>exp</a:t>
            </a:r>
            <a:r>
              <a:rPr lang="en-US" altLang="en-US" sz="2800" dirty="0">
                <a:ea typeface="ＭＳ Ｐゴシック" charset="-128"/>
              </a:rPr>
              <a:t>(β</a:t>
            </a:r>
            <a:r>
              <a:rPr lang="en-US" altLang="en-US" sz="2800" baseline="-25000" dirty="0">
                <a:ea typeface="ＭＳ Ｐゴシック" charset="-128"/>
              </a:rPr>
              <a:t>1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</a:t>
            </a:r>
          </a:p>
          <a:p>
            <a:pPr algn="ctr">
              <a:buFont typeface="Arial" charset="0"/>
              <a:buNone/>
            </a:pPr>
            <a:endParaRPr lang="en-US" altLang="en-US" sz="2800" dirty="0">
              <a:ea typeface="ＭＳ Ｐゴシック" charset="-128"/>
            </a:endParaRPr>
          </a:p>
          <a:p>
            <a:pPr lvl="1"/>
            <a:r>
              <a:rPr lang="en-US" altLang="en-US" sz="2400" dirty="0">
                <a:ea typeface="ＭＳ Ｐゴシック" charset="-128"/>
              </a:rPr>
              <a:t>Textbook interpretation: </a:t>
            </a:r>
            <a:r>
              <a:rPr lang="en-US" altLang="en-US" sz="2400" i="1" dirty="0">
                <a:ea typeface="ＭＳ Ｐゴシック" charset="-128"/>
              </a:rPr>
              <a:t>IF</a:t>
            </a:r>
            <a:r>
              <a:rPr lang="en-US" altLang="en-US" sz="2400" dirty="0">
                <a:ea typeface="ＭＳ Ｐゴシック" charset="-128"/>
              </a:rPr>
              <a:t> the mean of log(</a:t>
            </a:r>
            <a:r>
              <a:rPr lang="en-US" altLang="en-US" sz="2400" i="1" dirty="0">
                <a:ea typeface="ＭＳ Ｐゴシック" charset="-128"/>
              </a:rPr>
              <a:t>Y</a:t>
            </a:r>
            <a:r>
              <a:rPr lang="en-US" altLang="en-US" sz="2400" dirty="0">
                <a:ea typeface="ＭＳ Ｐゴシック" charset="-128"/>
              </a:rPr>
              <a:t> | </a:t>
            </a:r>
            <a:r>
              <a:rPr lang="en-US" altLang="en-US" sz="2400" i="1" dirty="0">
                <a:ea typeface="ＭＳ Ｐゴシック" charset="-128"/>
              </a:rPr>
              <a:t>X</a:t>
            </a:r>
            <a:r>
              <a:rPr lang="en-US" altLang="en-US" sz="2400" dirty="0">
                <a:ea typeface="ＭＳ Ｐゴシック" charset="-128"/>
              </a:rPr>
              <a:t>) is equal to the median of log(</a:t>
            </a:r>
            <a:r>
              <a:rPr lang="en-US" altLang="en-US" sz="2400" i="1" dirty="0">
                <a:ea typeface="ＭＳ Ｐゴシック" charset="-128"/>
              </a:rPr>
              <a:t>Y</a:t>
            </a:r>
            <a:r>
              <a:rPr lang="en-US" altLang="en-US" sz="2400" dirty="0">
                <a:ea typeface="ＭＳ Ｐゴシック" charset="-128"/>
              </a:rPr>
              <a:t> | </a:t>
            </a:r>
            <a:r>
              <a:rPr lang="en-US" altLang="en-US" sz="2400" i="1" dirty="0">
                <a:ea typeface="ＭＳ Ｐゴシック" charset="-128"/>
              </a:rPr>
              <a:t>X</a:t>
            </a:r>
            <a:r>
              <a:rPr lang="en-US" altLang="en-US" sz="2400" dirty="0">
                <a:ea typeface="ＭＳ Ｐゴシック" charset="-128"/>
              </a:rPr>
              <a:t>), we can interpret this as ‘a 1-unit increase in </a:t>
            </a:r>
            <a:r>
              <a:rPr lang="en-US" altLang="en-US" sz="2400" i="1" dirty="0">
                <a:ea typeface="ＭＳ Ｐゴシック" charset="-128"/>
              </a:rPr>
              <a:t>X</a:t>
            </a:r>
            <a:r>
              <a:rPr lang="en-US" altLang="en-US" sz="2400" dirty="0">
                <a:ea typeface="ＭＳ Ｐゴシック" charset="-128"/>
              </a:rPr>
              <a:t> is associated with a multiplicative increase of </a:t>
            </a:r>
            <a:r>
              <a:rPr lang="en-US" altLang="en-US" sz="2400" dirty="0" err="1">
                <a:ea typeface="ＭＳ Ｐゴシック" charset="-128"/>
              </a:rPr>
              <a:t>exp</a:t>
            </a:r>
            <a:r>
              <a:rPr lang="en-US" altLang="en-US" sz="2400" dirty="0">
                <a:ea typeface="ＭＳ Ｐゴシック" charset="-128"/>
              </a:rPr>
              <a:t>(β</a:t>
            </a:r>
            <a:r>
              <a:rPr lang="en-US" altLang="en-US" sz="2400" baseline="-25000" dirty="0">
                <a:ea typeface="ＭＳ Ｐゴシック" charset="-128"/>
              </a:rPr>
              <a:t>1</a:t>
            </a:r>
            <a:r>
              <a:rPr lang="en-US" altLang="en-US" sz="2400" dirty="0">
                <a:ea typeface="ＭＳ Ｐゴシック" charset="-128"/>
              </a:rPr>
              <a:t>) in the median of </a:t>
            </a:r>
            <a:r>
              <a:rPr lang="en-US" altLang="en-US" sz="2400" i="1" dirty="0">
                <a:ea typeface="ＭＳ Ｐゴシック" charset="-128"/>
              </a:rPr>
              <a:t>Y</a:t>
            </a:r>
            <a:r>
              <a:rPr lang="en-US" altLang="en-US" sz="2400" dirty="0">
                <a:ea typeface="ＭＳ Ｐゴシック" charset="-128"/>
              </a:rPr>
              <a:t>’.</a:t>
            </a:r>
          </a:p>
          <a:p>
            <a:pPr lvl="1"/>
            <a:endParaRPr lang="en-US" altLang="en-US" dirty="0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8DB969AC-FBB2-3444-9920-A1CCFC175C4C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Regression: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Interpretation after Log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>
                <a:ea typeface="ＭＳ Ｐゴシック" charset="-128"/>
              </a:rPr>
              <a:t>Log Transform 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:</a:t>
            </a:r>
          </a:p>
          <a:p>
            <a:pPr algn="ctr">
              <a:buFont typeface="Arial" charset="0"/>
              <a:buNone/>
            </a:pPr>
            <a:r>
              <a:rPr lang="en-US" altLang="en-US" sz="2800" i="1" dirty="0" err="1">
                <a:ea typeface="ＭＳ Ｐゴシック" charset="-128"/>
              </a:rPr>
              <a:t>μ</a:t>
            </a:r>
            <a:r>
              <a:rPr lang="en-US" altLang="en-US" sz="2800" dirty="0">
                <a:ea typeface="ＭＳ Ｐゴシック" charset="-128"/>
              </a:rPr>
              <a:t>(</a:t>
            </a:r>
            <a:r>
              <a:rPr lang="en-US" altLang="en-US" sz="2800" i="1" dirty="0">
                <a:ea typeface="ＭＳ Ｐゴシック" charset="-128"/>
              </a:rPr>
              <a:t>Y</a:t>
            </a:r>
            <a:r>
              <a:rPr lang="en-US" altLang="en-US" sz="2800" dirty="0">
                <a:ea typeface="ＭＳ Ｐゴシック" charset="-128"/>
              </a:rPr>
              <a:t>| 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 = β</a:t>
            </a:r>
            <a:r>
              <a:rPr lang="en-US" altLang="en-US" sz="2800" baseline="-25000" dirty="0">
                <a:ea typeface="ＭＳ Ｐゴシック" charset="-128"/>
              </a:rPr>
              <a:t>0 </a:t>
            </a:r>
            <a:r>
              <a:rPr lang="en-US" altLang="en-US" sz="2800" dirty="0">
                <a:ea typeface="ＭＳ Ｐゴシック" charset="-128"/>
              </a:rPr>
              <a:t>+ β</a:t>
            </a:r>
            <a:r>
              <a:rPr lang="en-US" altLang="en-US" sz="2800" baseline="-25000" dirty="0">
                <a:ea typeface="ＭＳ Ｐゴシック" charset="-128"/>
              </a:rPr>
              <a:t>1</a:t>
            </a:r>
            <a:r>
              <a:rPr lang="en-US" altLang="en-US" sz="2800" dirty="0">
                <a:ea typeface="ＭＳ Ｐゴシック" charset="-128"/>
              </a:rPr>
              <a:t>log(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</a:t>
            </a:r>
          </a:p>
          <a:p>
            <a:pPr algn="ctr">
              <a:buFont typeface="Arial" charset="0"/>
              <a:buNone/>
            </a:pPr>
            <a:endParaRPr lang="en-US" altLang="en-US" sz="2800" dirty="0">
              <a:ea typeface="ＭＳ Ｐゴシック" charset="-128"/>
            </a:endParaRPr>
          </a:p>
          <a:p>
            <a:pPr lvl="1"/>
            <a:r>
              <a:rPr lang="en-US" altLang="en-US" sz="2400" dirty="0">
                <a:ea typeface="ＭＳ Ｐゴシック" charset="-128"/>
              </a:rPr>
              <a:t>We can interpret this model as ‘a 1-unit increase in log(</a:t>
            </a:r>
            <a:r>
              <a:rPr lang="en-US" altLang="en-US" sz="2400" i="1" dirty="0">
                <a:ea typeface="ＭＳ Ｐゴシック" charset="-128"/>
              </a:rPr>
              <a:t>X</a:t>
            </a:r>
            <a:r>
              <a:rPr lang="en-US" altLang="en-US" sz="2400" dirty="0">
                <a:ea typeface="ＭＳ Ｐゴシック" charset="-128"/>
              </a:rPr>
              <a:t>) is associated with an increase of β</a:t>
            </a:r>
            <a:r>
              <a:rPr lang="en-US" altLang="en-US" sz="2400" baseline="-25000" dirty="0">
                <a:ea typeface="ＭＳ Ｐゴシック" charset="-128"/>
              </a:rPr>
              <a:t>1</a:t>
            </a:r>
            <a:r>
              <a:rPr lang="en-US" altLang="en-US" sz="2400" dirty="0">
                <a:ea typeface="ＭＳ Ｐゴシック" charset="-128"/>
              </a:rPr>
              <a:t> in the mean of </a:t>
            </a:r>
            <a:r>
              <a:rPr lang="en-US" altLang="en-US" sz="2400" i="1" dirty="0">
                <a:ea typeface="ＭＳ Ｐゴシック" charset="-128"/>
              </a:rPr>
              <a:t>Y</a:t>
            </a:r>
            <a:r>
              <a:rPr lang="en-US" altLang="en-US" sz="2400" dirty="0">
                <a:ea typeface="ＭＳ Ｐゴシック" charset="-128"/>
              </a:rPr>
              <a:t>’.</a:t>
            </a:r>
          </a:p>
          <a:p>
            <a:pPr lvl="1"/>
            <a:r>
              <a:rPr lang="en-US" altLang="en-US" sz="2400" dirty="0">
                <a:ea typeface="ＭＳ Ｐゴシック" charset="-128"/>
              </a:rPr>
              <a:t>Note that a 1-unit increase in log(</a:t>
            </a:r>
            <a:r>
              <a:rPr lang="en-US" altLang="en-US" sz="2400" i="1" dirty="0">
                <a:ea typeface="ＭＳ Ｐゴシック" charset="-128"/>
              </a:rPr>
              <a:t>X</a:t>
            </a:r>
            <a:r>
              <a:rPr lang="en-US" altLang="en-US" sz="2400" dirty="0">
                <a:ea typeface="ＭＳ Ｐゴシック" charset="-128"/>
              </a:rPr>
              <a:t>) is equivalent to a multiplicative increase of </a:t>
            </a:r>
            <a:r>
              <a:rPr lang="en-US" altLang="en-US" sz="2400" dirty="0" err="1">
                <a:ea typeface="ＭＳ Ｐゴシック" charset="-128"/>
              </a:rPr>
              <a:t>exp</a:t>
            </a:r>
            <a:r>
              <a:rPr lang="en-US" altLang="en-US" sz="2400" dirty="0">
                <a:ea typeface="ＭＳ Ｐゴシック" charset="-128"/>
              </a:rPr>
              <a:t>(1) = </a:t>
            </a:r>
            <a:r>
              <a:rPr lang="en-US" altLang="en-US" sz="2400" i="1" dirty="0">
                <a:ea typeface="ＭＳ Ｐゴシック" charset="-128"/>
              </a:rPr>
              <a:t>e</a:t>
            </a:r>
            <a:r>
              <a:rPr lang="en-US" altLang="en-US" sz="2400" dirty="0">
                <a:ea typeface="ＭＳ Ｐゴシック" charset="-128"/>
              </a:rPr>
              <a:t> in </a:t>
            </a:r>
            <a:r>
              <a:rPr lang="en-US" altLang="en-US" sz="2400" i="1" dirty="0">
                <a:ea typeface="ＭＳ Ｐゴシック" charset="-128"/>
              </a:rPr>
              <a:t>X</a:t>
            </a:r>
            <a:r>
              <a:rPr lang="en-US" altLang="en-US" sz="2400" dirty="0">
                <a:ea typeface="ＭＳ Ｐゴシック" charset="-128"/>
              </a:rPr>
              <a:t>.</a:t>
            </a:r>
          </a:p>
          <a:p>
            <a:pPr lvl="1"/>
            <a:r>
              <a:rPr lang="en-US" altLang="en-US" sz="2400" dirty="0">
                <a:ea typeface="ＭＳ Ｐゴシック" charset="-128"/>
              </a:rPr>
              <a:t>Therefore, equivalently, ‘a doubling of </a:t>
            </a:r>
            <a:r>
              <a:rPr lang="en-US" altLang="en-US" sz="2400" i="1" dirty="0">
                <a:ea typeface="ＭＳ Ｐゴシック" charset="-128"/>
              </a:rPr>
              <a:t>X</a:t>
            </a:r>
            <a:r>
              <a:rPr lang="en-US" altLang="en-US" sz="2400" dirty="0">
                <a:ea typeface="ＭＳ Ｐゴシック" charset="-128"/>
              </a:rPr>
              <a:t> is associated with an increase of β</a:t>
            </a:r>
            <a:r>
              <a:rPr lang="en-US" altLang="en-US" sz="2400" baseline="-25000" dirty="0">
                <a:ea typeface="ＭＳ Ｐゴシック" charset="-128"/>
              </a:rPr>
              <a:t>1</a:t>
            </a:r>
            <a:r>
              <a:rPr lang="en-US" altLang="en-US" sz="2400" dirty="0">
                <a:ea typeface="ＭＳ Ｐゴシック" charset="-128"/>
              </a:rPr>
              <a:t>log(2) in the mean of </a:t>
            </a:r>
            <a:r>
              <a:rPr lang="en-US" altLang="en-US" sz="2400" i="1" dirty="0">
                <a:ea typeface="ＭＳ Ｐゴシック" charset="-128"/>
              </a:rPr>
              <a:t>Y</a:t>
            </a:r>
            <a:r>
              <a:rPr lang="en-US" altLang="en-US" sz="2400" dirty="0">
                <a:ea typeface="ＭＳ Ｐゴシック" charset="-128"/>
              </a:rPr>
              <a:t>.’</a:t>
            </a:r>
          </a:p>
          <a:p>
            <a:pPr lvl="1">
              <a:buFont typeface="Arial" charset="0"/>
              <a:buNone/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8978EC09-2B05-8E4F-81EA-0ED646DCA71D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Regression: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Interpretation after Log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>
                <a:ea typeface="ＭＳ Ｐゴシック" charset="-128"/>
              </a:rPr>
              <a:t>Log Transform </a:t>
            </a:r>
            <a:r>
              <a:rPr lang="en-US" altLang="en-US" sz="2800" i="1" dirty="0">
                <a:ea typeface="ＭＳ Ｐゴシック" charset="-128"/>
              </a:rPr>
              <a:t>X </a:t>
            </a:r>
            <a:r>
              <a:rPr lang="en-US" altLang="en-US" sz="2800" dirty="0">
                <a:ea typeface="ＭＳ Ｐゴシック" charset="-128"/>
              </a:rPr>
              <a:t>and </a:t>
            </a:r>
            <a:r>
              <a:rPr lang="en-US" altLang="en-US" sz="2800" i="1" dirty="0">
                <a:ea typeface="ＭＳ Ｐゴシック" charset="-128"/>
              </a:rPr>
              <a:t>Y</a:t>
            </a:r>
            <a:r>
              <a:rPr lang="en-US" altLang="en-US" sz="2800" dirty="0">
                <a:ea typeface="ＭＳ Ｐゴシック" charset="-128"/>
              </a:rPr>
              <a:t>:</a:t>
            </a:r>
          </a:p>
          <a:p>
            <a:pPr algn="ctr">
              <a:buFont typeface="Arial" charset="0"/>
              <a:buNone/>
            </a:pPr>
            <a:r>
              <a:rPr lang="en-US" altLang="en-US" sz="2800" i="1" dirty="0" err="1">
                <a:ea typeface="ＭＳ Ｐゴシック" charset="-128"/>
              </a:rPr>
              <a:t>μ</a:t>
            </a:r>
            <a:r>
              <a:rPr lang="en-US" altLang="en-US" sz="2800" dirty="0">
                <a:ea typeface="ＭＳ Ｐゴシック" charset="-128"/>
              </a:rPr>
              <a:t>(log(</a:t>
            </a:r>
            <a:r>
              <a:rPr lang="en-US" altLang="en-US" sz="2800" i="1" dirty="0">
                <a:ea typeface="ＭＳ Ｐゴシック" charset="-128"/>
              </a:rPr>
              <a:t>Y</a:t>
            </a:r>
            <a:r>
              <a:rPr lang="en-US" altLang="en-US" sz="2800" dirty="0">
                <a:ea typeface="ＭＳ Ｐゴシック" charset="-128"/>
              </a:rPr>
              <a:t>)| 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 = β</a:t>
            </a:r>
            <a:r>
              <a:rPr lang="en-US" altLang="en-US" sz="2800" baseline="-25000" dirty="0">
                <a:ea typeface="ＭＳ Ｐゴシック" charset="-128"/>
              </a:rPr>
              <a:t>0 </a:t>
            </a:r>
            <a:r>
              <a:rPr lang="en-US" altLang="en-US" sz="2800" dirty="0">
                <a:ea typeface="ＭＳ Ｐゴシック" charset="-128"/>
              </a:rPr>
              <a:t>+ β</a:t>
            </a:r>
            <a:r>
              <a:rPr lang="en-US" altLang="en-US" sz="2800" baseline="-25000" dirty="0">
                <a:ea typeface="ＭＳ Ｐゴシック" charset="-128"/>
              </a:rPr>
              <a:t>1</a:t>
            </a:r>
            <a:r>
              <a:rPr lang="en-US" altLang="en-US" sz="2800" dirty="0">
                <a:ea typeface="ＭＳ Ｐゴシック" charset="-128"/>
              </a:rPr>
              <a:t>log(</a:t>
            </a:r>
            <a:r>
              <a:rPr lang="en-US" altLang="en-US" sz="2800" i="1" dirty="0"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)</a:t>
            </a:r>
          </a:p>
          <a:p>
            <a:pPr algn="ctr">
              <a:buFont typeface="Arial" charset="0"/>
              <a:buNone/>
            </a:pPr>
            <a:endParaRPr lang="en-US" altLang="en-US" sz="2800" dirty="0">
              <a:ea typeface="ＭＳ Ｐゴシック" charset="-128"/>
            </a:endParaRPr>
          </a:p>
          <a:p>
            <a:pPr lvl="1"/>
            <a:r>
              <a:rPr lang="en-US" altLang="en-US" sz="2400" dirty="0">
                <a:ea typeface="ＭＳ Ｐゴシック" charset="-128"/>
              </a:rPr>
              <a:t>We can interpret this model as ‘a 1-unit increase in log(</a:t>
            </a:r>
            <a:r>
              <a:rPr lang="en-US" altLang="en-US" sz="2400" i="1" dirty="0">
                <a:ea typeface="ＭＳ Ｐゴシック" charset="-128"/>
              </a:rPr>
              <a:t>X</a:t>
            </a:r>
            <a:r>
              <a:rPr lang="en-US" altLang="en-US" sz="2400" dirty="0">
                <a:ea typeface="ＭＳ Ｐゴシック" charset="-128"/>
              </a:rPr>
              <a:t>) is associated with a multiplicative increase of </a:t>
            </a:r>
            <a:r>
              <a:rPr lang="en-US" altLang="en-US" sz="2400" dirty="0" err="1">
                <a:ea typeface="ＭＳ Ｐゴシック" charset="-128"/>
              </a:rPr>
              <a:t>exp</a:t>
            </a:r>
            <a:r>
              <a:rPr lang="en-US" altLang="en-US" sz="2400" dirty="0">
                <a:ea typeface="ＭＳ Ｐゴシック" charset="-128"/>
              </a:rPr>
              <a:t>(β</a:t>
            </a:r>
            <a:r>
              <a:rPr lang="en-US" altLang="en-US" sz="2400" baseline="-25000" dirty="0">
                <a:ea typeface="ＭＳ Ｐゴシック" charset="-128"/>
              </a:rPr>
              <a:t>1</a:t>
            </a:r>
            <a:r>
              <a:rPr lang="en-US" altLang="en-US" sz="2400" dirty="0">
                <a:ea typeface="ＭＳ Ｐゴシック" charset="-128"/>
              </a:rPr>
              <a:t>) in the Geometric mean of </a:t>
            </a:r>
            <a:r>
              <a:rPr lang="en-US" altLang="en-US" sz="2400" i="1" dirty="0">
                <a:ea typeface="ＭＳ Ｐゴシック" charset="-128"/>
              </a:rPr>
              <a:t>Y</a:t>
            </a:r>
            <a:r>
              <a:rPr lang="en-US" altLang="en-US" sz="2400" dirty="0">
                <a:ea typeface="ＭＳ Ｐゴシック" charset="-128"/>
              </a:rPr>
              <a:t>’.</a:t>
            </a:r>
          </a:p>
          <a:p>
            <a:pPr lvl="1">
              <a:buFont typeface="Arial" charset="0"/>
              <a:buNone/>
            </a:pPr>
            <a:endParaRPr lang="en-US" altLang="en-US" sz="2400" dirty="0">
              <a:ea typeface="ＭＳ Ｐゴシック" charset="-128"/>
            </a:endParaRPr>
          </a:p>
          <a:p>
            <a:pPr lvl="1"/>
            <a:endParaRPr lang="en-US" altLang="en-US" sz="2400" dirty="0">
              <a:ea typeface="ＭＳ Ｐゴシック" charset="-128"/>
            </a:endParaRPr>
          </a:p>
          <a:p>
            <a:pPr>
              <a:buFont typeface="Arial" charset="0"/>
              <a:buNone/>
            </a:pPr>
            <a:endParaRPr lang="en-US" altLang="en-US" sz="2800" dirty="0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795B9F7E-56E1-2C45-8444-150547803578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Simple Linear Regression: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Interpretation after Log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Note that in all cases, the interpretation of the model (i.e., </a:t>
            </a:r>
            <a:r>
              <a:rPr lang="en-US" sz="2800" i="1" dirty="0"/>
              <a:t>the question answered</a:t>
            </a:r>
            <a:r>
              <a:rPr lang="en-US" sz="2800" dirty="0"/>
              <a:t>) changes.</a:t>
            </a:r>
          </a:p>
          <a:p>
            <a:pPr lvl="1">
              <a:defRPr/>
            </a:pPr>
            <a:r>
              <a:rPr lang="en-US" sz="2400" dirty="0"/>
              <a:t>And you have added some subjectivity to your analysis by looking at the data to decide on the analysis method.</a:t>
            </a:r>
          </a:p>
          <a:p>
            <a:pPr lvl="1">
              <a:defRPr/>
            </a:pPr>
            <a:r>
              <a:rPr lang="en-US" sz="2400" i="1" dirty="0"/>
              <a:t>p</a:t>
            </a:r>
            <a:r>
              <a:rPr lang="en-US" sz="2400" dirty="0"/>
              <a:t>-values are therefore less valid</a:t>
            </a:r>
          </a:p>
          <a:p>
            <a:pPr lvl="1">
              <a:defRPr/>
            </a:pPr>
            <a:r>
              <a:rPr lang="en-US" sz="2400" dirty="0"/>
              <a:t>Confirmatory analysis on a new data-set should be performed if you would like to get more valid </a:t>
            </a:r>
            <a:r>
              <a:rPr lang="en-US" sz="2400" i="1" dirty="0"/>
              <a:t>p</a:t>
            </a:r>
            <a:r>
              <a:rPr lang="en-US" sz="2400" dirty="0"/>
              <a:t>-values.</a:t>
            </a:r>
          </a:p>
          <a:p>
            <a:pPr marL="457200" lvl="1" indent="0">
              <a:buFont typeface="Arial" charset="0"/>
              <a:buNone/>
              <a:defRPr/>
            </a:pPr>
            <a:endParaRPr lang="en-US" sz="2400" dirty="0"/>
          </a:p>
          <a:p>
            <a:pPr marL="457200" lvl="1" indent="0">
              <a:buFont typeface="Arial" charset="0"/>
              <a:buNone/>
              <a:defRPr/>
            </a:pPr>
            <a:endParaRPr lang="en-US" sz="2400" dirty="0"/>
          </a:p>
          <a:p>
            <a:pPr lvl="1">
              <a:defRPr/>
            </a:pPr>
            <a:endParaRPr lang="en-US" sz="2400" dirty="0"/>
          </a:p>
          <a:p>
            <a:pPr marL="0" indent="0">
              <a:buFont typeface="Arial" charset="0"/>
              <a:buNone/>
              <a:defRPr/>
            </a:pP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49E9B1D2-38D3-494E-872D-745EA961820F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Assessment of Linear Fit using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When you have </a:t>
            </a:r>
            <a:r>
              <a:rPr lang="en-US" altLang="en-US" b="1" dirty="0">
                <a:solidFill>
                  <a:srgbClr val="FF0000"/>
                </a:solidFill>
                <a:ea typeface="ＭＳ Ｐゴシック" charset="-128"/>
              </a:rPr>
              <a:t>multiple observations at some or all values of </a:t>
            </a:r>
            <a:r>
              <a:rPr lang="en-US" altLang="en-US" b="1" i="1" dirty="0">
                <a:solidFill>
                  <a:srgbClr val="FF0000"/>
                </a:solidFill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 in your dataset, you can compare the simple linear regression model </a:t>
            </a:r>
          </a:p>
          <a:p>
            <a:pPr algn="ctr">
              <a:buFont typeface="Arial" charset="0"/>
              <a:buNone/>
            </a:pPr>
            <a:r>
              <a:rPr lang="en-US" altLang="en-US" i="1" dirty="0" err="1">
                <a:ea typeface="ＭＳ Ｐゴシック" charset="-128"/>
              </a:rPr>
              <a:t>μ</a:t>
            </a:r>
            <a:r>
              <a:rPr lang="en-US" altLang="en-US" dirty="0">
                <a:ea typeface="ＭＳ Ｐゴシック" charset="-128"/>
              </a:rPr>
              <a:t>(</a:t>
            </a:r>
            <a:r>
              <a:rPr lang="en-US" altLang="en-US" i="1" dirty="0">
                <a:ea typeface="ＭＳ Ｐゴシック" charset="-128"/>
              </a:rPr>
              <a:t>Y</a:t>
            </a:r>
            <a:r>
              <a:rPr lang="en-US" altLang="en-US" dirty="0">
                <a:ea typeface="ＭＳ Ｐゴシック" charset="-128"/>
              </a:rPr>
              <a:t>| 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) = β</a:t>
            </a:r>
            <a:r>
              <a:rPr lang="en-US" altLang="en-US" baseline="-25000" dirty="0">
                <a:ea typeface="ＭＳ Ｐゴシック" charset="-128"/>
              </a:rPr>
              <a:t>0 </a:t>
            </a:r>
            <a:r>
              <a:rPr lang="en-US" altLang="en-US" dirty="0">
                <a:ea typeface="ＭＳ Ｐゴシック" charset="-128"/>
              </a:rPr>
              <a:t>+ β</a:t>
            </a:r>
            <a:r>
              <a:rPr lang="en-US" altLang="en-US" baseline="-25000" dirty="0">
                <a:ea typeface="ＭＳ Ｐゴシック" charset="-128"/>
              </a:rPr>
              <a:t>1</a:t>
            </a:r>
            <a:r>
              <a:rPr lang="en-US" altLang="en-US" i="1" dirty="0">
                <a:ea typeface="ＭＳ Ｐゴシック" charset="-128"/>
              </a:rPr>
              <a:t>X</a:t>
            </a:r>
          </a:p>
          <a:p>
            <a:pPr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	to the separate means model</a:t>
            </a:r>
          </a:p>
          <a:p>
            <a:pPr algn="ctr">
              <a:buFont typeface="Arial" charset="0"/>
              <a:buNone/>
            </a:pPr>
            <a:r>
              <a:rPr lang="en-US" altLang="en-US" i="1" dirty="0" err="1">
                <a:ea typeface="ＭＳ Ｐゴシック" charset="-128"/>
              </a:rPr>
              <a:t>μ</a:t>
            </a:r>
            <a:r>
              <a:rPr lang="en-US" altLang="en-US" dirty="0">
                <a:ea typeface="ＭＳ Ｐゴシック" charset="-128"/>
              </a:rPr>
              <a:t>(</a:t>
            </a:r>
            <a:r>
              <a:rPr lang="en-US" altLang="en-US" i="1" dirty="0">
                <a:ea typeface="ＭＳ Ｐゴシック" charset="-128"/>
              </a:rPr>
              <a:t>Y</a:t>
            </a:r>
            <a:r>
              <a:rPr lang="en-US" altLang="en-US" dirty="0">
                <a:ea typeface="ＭＳ Ｐゴシック" charset="-128"/>
              </a:rPr>
              <a:t>| 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) = </a:t>
            </a:r>
            <a:r>
              <a:rPr lang="en-US" altLang="en-US" i="1" dirty="0" err="1">
                <a:ea typeface="ＭＳ Ｐゴシック" charset="-128"/>
              </a:rPr>
              <a:t>μ</a:t>
            </a:r>
            <a:r>
              <a:rPr lang="en-US" altLang="en-US" i="1" baseline="-25000" dirty="0" err="1">
                <a:ea typeface="ＭＳ Ｐゴシック" charset="-128"/>
              </a:rPr>
              <a:t>X</a:t>
            </a:r>
            <a:endParaRPr lang="en-US" altLang="en-US" i="1" dirty="0">
              <a:ea typeface="ＭＳ Ｐゴシック" charset="-128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	by performing an Extra-sum-of-squares </a:t>
            </a:r>
            <a:r>
              <a:rPr lang="en-US" altLang="en-US" i="1" dirty="0">
                <a:ea typeface="ＭＳ Ｐゴシック" charset="-128"/>
              </a:rPr>
              <a:t>F</a:t>
            </a:r>
            <a:r>
              <a:rPr lang="en-US" altLang="en-US" dirty="0">
                <a:ea typeface="ＭＳ Ｐゴシック" charset="-128"/>
              </a:rPr>
              <a:t>-test called a ‘Lack of Fit Test’</a:t>
            </a: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58C7F889-0E43-EF42-A072-6035D4C33C11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373878" y="4862700"/>
            <a:ext cx="2365442" cy="52642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3065835" y="3599235"/>
            <a:ext cx="3062591" cy="7003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Assessment of Linear Fit using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When you have </a:t>
            </a:r>
            <a:r>
              <a:rPr lang="en-US" altLang="en-US" b="1" dirty="0">
                <a:solidFill>
                  <a:srgbClr val="FF0000"/>
                </a:solidFill>
                <a:ea typeface="ＭＳ Ｐゴシック" charset="-128"/>
              </a:rPr>
              <a:t>multiple observations at some or all values of </a:t>
            </a:r>
            <a:r>
              <a:rPr lang="en-US" altLang="en-US" b="1" i="1" dirty="0">
                <a:solidFill>
                  <a:srgbClr val="FF0000"/>
                </a:solidFill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 in your dataset, you can compare the simple linear regression model </a:t>
            </a:r>
          </a:p>
          <a:p>
            <a:pPr algn="ctr">
              <a:buFont typeface="Arial" charset="0"/>
              <a:buNone/>
            </a:pPr>
            <a:r>
              <a:rPr lang="en-US" altLang="en-US" i="1" dirty="0" err="1">
                <a:ea typeface="ＭＳ Ｐゴシック" charset="-128"/>
              </a:rPr>
              <a:t>μ</a:t>
            </a:r>
            <a:r>
              <a:rPr lang="en-US" altLang="en-US" dirty="0">
                <a:ea typeface="ＭＳ Ｐゴシック" charset="-128"/>
              </a:rPr>
              <a:t>(</a:t>
            </a:r>
            <a:r>
              <a:rPr lang="en-US" altLang="en-US" i="1" dirty="0">
                <a:ea typeface="ＭＳ Ｐゴシック" charset="-128"/>
              </a:rPr>
              <a:t>Y</a:t>
            </a:r>
            <a:r>
              <a:rPr lang="en-US" altLang="en-US" dirty="0">
                <a:ea typeface="ＭＳ Ｐゴシック" charset="-128"/>
              </a:rPr>
              <a:t>| 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) = β</a:t>
            </a:r>
            <a:r>
              <a:rPr lang="en-US" altLang="en-US" baseline="-25000" dirty="0">
                <a:ea typeface="ＭＳ Ｐゴシック" charset="-128"/>
              </a:rPr>
              <a:t>0 </a:t>
            </a:r>
            <a:r>
              <a:rPr lang="en-US" altLang="en-US" dirty="0">
                <a:ea typeface="ＭＳ Ｐゴシック" charset="-128"/>
              </a:rPr>
              <a:t>+ β</a:t>
            </a:r>
            <a:r>
              <a:rPr lang="en-US" altLang="en-US" baseline="-25000" dirty="0">
                <a:ea typeface="ＭＳ Ｐゴシック" charset="-128"/>
              </a:rPr>
              <a:t>1</a:t>
            </a:r>
            <a:r>
              <a:rPr lang="en-US" altLang="en-US" i="1" dirty="0">
                <a:ea typeface="ＭＳ Ｐゴシック" charset="-128"/>
              </a:rPr>
              <a:t>X</a:t>
            </a:r>
          </a:p>
          <a:p>
            <a:pPr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	to the separate means model</a:t>
            </a:r>
          </a:p>
          <a:p>
            <a:pPr algn="ctr">
              <a:buFont typeface="Arial" charset="0"/>
              <a:buNone/>
            </a:pPr>
            <a:r>
              <a:rPr lang="en-US" altLang="en-US" i="1" dirty="0" err="1">
                <a:ea typeface="ＭＳ Ｐゴシック" charset="-128"/>
              </a:rPr>
              <a:t>μ</a:t>
            </a:r>
            <a:r>
              <a:rPr lang="en-US" altLang="en-US" dirty="0">
                <a:ea typeface="ＭＳ Ｐゴシック" charset="-128"/>
              </a:rPr>
              <a:t>(</a:t>
            </a:r>
            <a:r>
              <a:rPr lang="en-US" altLang="en-US" i="1" dirty="0">
                <a:ea typeface="ＭＳ Ｐゴシック" charset="-128"/>
              </a:rPr>
              <a:t>Y</a:t>
            </a:r>
            <a:r>
              <a:rPr lang="en-US" altLang="en-US" dirty="0">
                <a:ea typeface="ＭＳ Ｐゴシック" charset="-128"/>
              </a:rPr>
              <a:t>| 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) = </a:t>
            </a:r>
            <a:r>
              <a:rPr lang="en-US" altLang="en-US" i="1" dirty="0" err="1">
                <a:ea typeface="ＭＳ Ｐゴシック" charset="-128"/>
              </a:rPr>
              <a:t>μ</a:t>
            </a:r>
            <a:r>
              <a:rPr lang="en-US" altLang="en-US" i="1" baseline="-25000" dirty="0" err="1">
                <a:ea typeface="ＭＳ Ｐゴシック" charset="-128"/>
              </a:rPr>
              <a:t>X</a:t>
            </a:r>
            <a:endParaRPr lang="en-US" altLang="en-US" i="1" dirty="0">
              <a:ea typeface="ＭＳ Ｐゴシック" charset="-128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	by performing an Extra-sum-of-squares </a:t>
            </a:r>
            <a:r>
              <a:rPr lang="en-US" altLang="en-US" i="1" dirty="0">
                <a:ea typeface="ＭＳ Ｐゴシック" charset="-128"/>
              </a:rPr>
              <a:t>F</a:t>
            </a:r>
            <a:r>
              <a:rPr lang="en-US" altLang="en-US" dirty="0">
                <a:ea typeface="ＭＳ Ｐゴシック" charset="-128"/>
              </a:rPr>
              <a:t>-test called a ‘Lack of Fit Test’</a:t>
            </a: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58C7F889-0E43-EF42-A072-6035D4C33C11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Line Callout 1 6"/>
          <p:cNvSpPr/>
          <p:nvPr/>
        </p:nvSpPr>
        <p:spPr>
          <a:xfrm>
            <a:off x="6692630" y="3496301"/>
            <a:ext cx="1994170" cy="544749"/>
          </a:xfrm>
          <a:prstGeom prst="borderCallout1">
            <a:avLst>
              <a:gd name="adj1" fmla="val 50893"/>
              <a:gd name="adj2" fmla="val 1423"/>
              <a:gd name="adj3" fmla="val 80358"/>
              <a:gd name="adj4" fmla="val -27601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Less flexible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6692630" y="4590325"/>
            <a:ext cx="1994170" cy="544749"/>
          </a:xfrm>
          <a:prstGeom prst="borderCallout1">
            <a:avLst>
              <a:gd name="adj1" fmla="val 54464"/>
              <a:gd name="adj2" fmla="val -1504"/>
              <a:gd name="adj3" fmla="val 105358"/>
              <a:gd name="adj4" fmla="val -48089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More </a:t>
            </a:r>
            <a:r>
              <a:rPr lang="en-US" dirty="0">
                <a:solidFill>
                  <a:schemeClr val="tx1"/>
                </a:solidFill>
              </a:rPr>
              <a:t>flexible</a:t>
            </a:r>
          </a:p>
        </p:txBody>
      </p:sp>
    </p:spTree>
    <p:extLst>
      <p:ext uri="{BB962C8B-B14F-4D97-AF65-F5344CB8AC3E}">
        <p14:creationId xmlns:p14="http://schemas.microsoft.com/office/powerpoint/2010/main" val="19296343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Assessment of Linear Fit using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Example: Insulating Fluid breakdown time under different voltages</a:t>
            </a:r>
          </a:p>
          <a:p>
            <a:pPr lvl="1">
              <a:defRPr/>
            </a:pPr>
            <a:r>
              <a:rPr lang="en-US" dirty="0"/>
              <a:t>Under uniform conditions, batches of insulating fluid were exposed to constant voltages until the insulating properties of the fluid were destroyed.</a:t>
            </a:r>
          </a:p>
          <a:p>
            <a:pPr lvl="1">
              <a:defRPr/>
            </a:pPr>
            <a:r>
              <a:rPr lang="en-US" dirty="0"/>
              <a:t>Seven different voltages were explored: 26, 28, 30, 32, 35, 36, 38 kV</a:t>
            </a:r>
          </a:p>
          <a:p>
            <a:pPr marL="457200" lvl="1" indent="0">
              <a:buFont typeface="Arial" charset="0"/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27E26901-CB4C-8248-8AA1-B9EC72A723FC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Assessment of Linear Fit using ANOVA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BA6F348E-32C5-B44A-850F-6ABA19812DA4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5845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1592263"/>
            <a:ext cx="6577012" cy="524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Assessment of Linear Fit using ANOVA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7CD016BA-82E4-494A-B2D8-917A9587954D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686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1679575"/>
            <a:ext cx="7535863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Assessment of Linear Fit using ANOVA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E34F90A8-D6BA-994C-8590-7F7618947C87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789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950" y="1473200"/>
            <a:ext cx="4475163" cy="538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Assessment of Linear Fit using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>
                <a:ea typeface="ＭＳ Ｐゴシック" charset="-128"/>
              </a:rPr>
              <a:t>The lack-of-fit (i.e., </a:t>
            </a:r>
            <a:r>
              <a:rPr lang="en-US" altLang="en-US" sz="2400" i="1">
                <a:ea typeface="ＭＳ Ｐゴシック" charset="-128"/>
              </a:rPr>
              <a:t>lack-of-linear-fit</a:t>
            </a:r>
            <a:r>
              <a:rPr lang="en-US" altLang="en-US" sz="2400">
                <a:ea typeface="ＭＳ Ｐゴシック" charset="-128"/>
              </a:rPr>
              <a:t>) </a:t>
            </a:r>
            <a:r>
              <a:rPr lang="en-US" altLang="en-US" sz="2400" i="1">
                <a:ea typeface="ＭＳ Ｐゴシック" charset="-128"/>
              </a:rPr>
              <a:t>F</a:t>
            </a:r>
            <a:r>
              <a:rPr lang="en-US" altLang="en-US" sz="2400">
                <a:ea typeface="ＭＳ Ｐゴシック" charset="-128"/>
              </a:rPr>
              <a:t>-statistic is</a:t>
            </a:r>
          </a:p>
          <a:p>
            <a:endParaRPr lang="en-US" altLang="en-US" sz="2800">
              <a:ea typeface="ＭＳ Ｐゴシック" charset="-128"/>
            </a:endParaRPr>
          </a:p>
          <a:p>
            <a:endParaRPr lang="en-US" altLang="en-US" sz="2800">
              <a:ea typeface="ＭＳ Ｐゴシック" charset="-128"/>
            </a:endParaRPr>
          </a:p>
          <a:p>
            <a:pPr lvl="1"/>
            <a:r>
              <a:rPr lang="en-US" altLang="en-US" sz="2000" i="1">
                <a:ea typeface="ＭＳ Ｐゴシック" charset="-128"/>
              </a:rPr>
              <a:t>SSR</a:t>
            </a:r>
            <a:r>
              <a:rPr lang="en-US" altLang="en-US" sz="2000" i="1" baseline="-25000">
                <a:ea typeface="ＭＳ Ｐゴシック" charset="-128"/>
              </a:rPr>
              <a:t>LR</a:t>
            </a:r>
            <a:r>
              <a:rPr lang="en-US" altLang="en-US" sz="2000">
                <a:ea typeface="ＭＳ Ｐゴシック" charset="-128"/>
              </a:rPr>
              <a:t> = Sum of squared residuals for the linear regression model</a:t>
            </a:r>
          </a:p>
          <a:p>
            <a:pPr lvl="1"/>
            <a:r>
              <a:rPr lang="en-US" altLang="en-US" sz="2000" i="1">
                <a:ea typeface="ＭＳ Ｐゴシック" charset="-128"/>
              </a:rPr>
              <a:t>SSR</a:t>
            </a:r>
            <a:r>
              <a:rPr lang="en-US" altLang="en-US" sz="2000" i="1" baseline="-25000">
                <a:ea typeface="ＭＳ Ｐゴシック" charset="-128"/>
              </a:rPr>
              <a:t>SM</a:t>
            </a:r>
            <a:r>
              <a:rPr lang="en-US" altLang="en-US" sz="2000">
                <a:ea typeface="ＭＳ Ｐゴシック" charset="-128"/>
              </a:rPr>
              <a:t> = Sum of squared residuals for the separate  means model</a:t>
            </a:r>
          </a:p>
          <a:p>
            <a:pPr lvl="1"/>
            <a:r>
              <a:rPr lang="en-US" altLang="en-US" sz="2000" i="1">
                <a:ea typeface="ＭＳ Ｐゴシック" charset="-128"/>
              </a:rPr>
              <a:t>df</a:t>
            </a:r>
            <a:r>
              <a:rPr lang="en-US" altLang="en-US" sz="2000" i="1" baseline="-25000">
                <a:ea typeface="ＭＳ Ｐゴシック" charset="-128"/>
              </a:rPr>
              <a:t>LR</a:t>
            </a:r>
            <a:r>
              <a:rPr lang="en-US" altLang="en-US" sz="2000">
                <a:ea typeface="ＭＳ Ｐゴシック" charset="-128"/>
              </a:rPr>
              <a:t> = (</a:t>
            </a:r>
            <a:r>
              <a:rPr lang="en-US" altLang="en-US" sz="2000" i="1">
                <a:ea typeface="ＭＳ Ｐゴシック" charset="-128"/>
              </a:rPr>
              <a:t>n</a:t>
            </a:r>
            <a:r>
              <a:rPr lang="en-US" altLang="en-US" sz="2000">
                <a:ea typeface="ＭＳ Ｐゴシック" charset="-128"/>
              </a:rPr>
              <a:t> – 2) = Degrees of freedom for the linear regression model</a:t>
            </a:r>
          </a:p>
          <a:p>
            <a:pPr lvl="1"/>
            <a:r>
              <a:rPr lang="en-US" altLang="en-US" sz="2000" i="1">
                <a:ea typeface="ＭＳ Ｐゴシック" charset="-128"/>
              </a:rPr>
              <a:t>df</a:t>
            </a:r>
            <a:r>
              <a:rPr lang="en-US" altLang="en-US" sz="2000" i="1" baseline="-25000">
                <a:ea typeface="ＭＳ Ｐゴシック" charset="-128"/>
              </a:rPr>
              <a:t>SM</a:t>
            </a:r>
            <a:r>
              <a:rPr lang="en-US" altLang="en-US" sz="2000">
                <a:ea typeface="ＭＳ Ｐゴシック" charset="-128"/>
              </a:rPr>
              <a:t> = (</a:t>
            </a:r>
            <a:r>
              <a:rPr lang="en-US" altLang="en-US" sz="2000" i="1">
                <a:ea typeface="ＭＳ Ｐゴシック" charset="-128"/>
              </a:rPr>
              <a:t>n</a:t>
            </a:r>
            <a:r>
              <a:rPr lang="en-US" altLang="en-US" sz="2000">
                <a:ea typeface="ＭＳ Ｐゴシック" charset="-128"/>
              </a:rPr>
              <a:t> – </a:t>
            </a:r>
            <a:r>
              <a:rPr lang="en-US" altLang="en-US" sz="2000" i="1">
                <a:ea typeface="ＭＳ Ｐゴシック" charset="-128"/>
              </a:rPr>
              <a:t>M</a:t>
            </a:r>
            <a:r>
              <a:rPr lang="en-US" altLang="en-US" sz="2000">
                <a:ea typeface="ＭＳ Ｐゴシック" charset="-128"/>
              </a:rPr>
              <a:t>) = Degrees of freedom for the separate means model</a:t>
            </a:r>
          </a:p>
          <a:p>
            <a:r>
              <a:rPr lang="en-US" altLang="en-US" sz="2000">
                <a:ea typeface="ＭＳ Ｐゴシック" charset="-128"/>
              </a:rPr>
              <a:t>Hypothesis tested: </a:t>
            </a:r>
          </a:p>
          <a:p>
            <a:pPr algn="ctr">
              <a:buFont typeface="Arial" charset="0"/>
              <a:buNone/>
            </a:pPr>
            <a:r>
              <a:rPr lang="en-US" altLang="en-US" sz="2000" i="1">
                <a:ea typeface="ＭＳ Ｐゴシック" charset="-128"/>
              </a:rPr>
              <a:t>H</a:t>
            </a:r>
            <a:r>
              <a:rPr lang="en-US" altLang="en-US" sz="2000" baseline="-25000">
                <a:ea typeface="ＭＳ Ｐゴシック" charset="-128"/>
              </a:rPr>
              <a:t>0</a:t>
            </a:r>
            <a:r>
              <a:rPr lang="en-US" altLang="en-US" sz="2000">
                <a:ea typeface="ＭＳ Ｐゴシック" charset="-128"/>
              </a:rPr>
              <a:t>: Linear Model is Adequate</a:t>
            </a:r>
          </a:p>
          <a:p>
            <a:pPr algn="ctr">
              <a:buFont typeface="Arial" charset="0"/>
              <a:buNone/>
            </a:pPr>
            <a:r>
              <a:rPr lang="en-US" altLang="en-US" sz="2000">
                <a:ea typeface="ＭＳ Ｐゴシック" charset="-128"/>
              </a:rPr>
              <a:t>vs.</a:t>
            </a:r>
          </a:p>
          <a:p>
            <a:pPr algn="ctr">
              <a:buFont typeface="Arial" charset="0"/>
              <a:buNone/>
            </a:pPr>
            <a:r>
              <a:rPr lang="en-US" altLang="en-US" sz="2000" i="1">
                <a:ea typeface="ＭＳ Ｐゴシック" charset="-128"/>
              </a:rPr>
              <a:t>H</a:t>
            </a:r>
            <a:r>
              <a:rPr lang="en-US" altLang="en-US" sz="2000" baseline="-25000">
                <a:ea typeface="ＭＳ Ｐゴシック" charset="-128"/>
              </a:rPr>
              <a:t>A</a:t>
            </a:r>
            <a:r>
              <a:rPr lang="en-US" altLang="en-US" sz="2000">
                <a:ea typeface="ＭＳ Ｐゴシック" charset="-128"/>
              </a:rPr>
              <a:t>: Linear Model is NOT Adequate </a:t>
            </a:r>
          </a:p>
          <a:p>
            <a:pPr algn="ctr">
              <a:buFont typeface="Arial" charset="0"/>
              <a:buNone/>
            </a:pPr>
            <a:r>
              <a:rPr lang="en-US" altLang="en-US" sz="2000">
                <a:ea typeface="ＭＳ Ｐゴシック" charset="-128"/>
              </a:rPr>
              <a:t>(i.e. we need the greater flexibility of the separate means model)</a:t>
            </a:r>
            <a:endParaRPr lang="en-US" altLang="en-US" sz="2000" i="1">
              <a:ea typeface="ＭＳ Ｐゴシック" charset="-128"/>
            </a:endParaRPr>
          </a:p>
          <a:p>
            <a:pPr lvl="1">
              <a:buFont typeface="Arial" charset="0"/>
              <a:buNone/>
            </a:pPr>
            <a:endParaRPr lang="en-US" altLang="en-US" sz="2400">
              <a:ea typeface="ＭＳ Ｐゴシック" charset="-128"/>
            </a:endParaRPr>
          </a:p>
          <a:p>
            <a:pPr lvl="1"/>
            <a:endParaRPr lang="en-US" altLang="en-US" i="1">
              <a:ea typeface="ＭＳ Ｐゴシック" charset="-128"/>
            </a:endParaRPr>
          </a:p>
          <a:p>
            <a:pPr>
              <a:buFont typeface="Arial" charset="0"/>
              <a:buNone/>
            </a:pPr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72FB3A51-D3D4-A943-BF32-046BA10DFCFC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2794000" y="2193925"/>
          <a:ext cx="356552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500" imgH="546100" progId="Equation.3">
                  <p:embed/>
                </p:oleObj>
              </mc:Choice>
              <mc:Fallback>
                <p:oleObj name="Equation" r:id="rId2" imgW="1968500" imgH="546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2193925"/>
                        <a:ext cx="3565525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Assessment of Linear Fit using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>
                <a:ea typeface="ＭＳ Ｐゴシック" charset="-128"/>
              </a:rPr>
              <a:t>Compare the lack-of-fit </a:t>
            </a:r>
            <a:r>
              <a:rPr lang="en-US" altLang="en-US" sz="2800" i="1">
                <a:ea typeface="ＭＳ Ｐゴシック" charset="-128"/>
              </a:rPr>
              <a:t>F</a:t>
            </a:r>
            <a:r>
              <a:rPr lang="en-US" altLang="en-US" sz="2800">
                <a:ea typeface="ＭＳ Ｐゴシック" charset="-128"/>
              </a:rPr>
              <a:t> statistic to an </a:t>
            </a:r>
            <a:r>
              <a:rPr lang="en-US" altLang="en-US" sz="2800" i="1">
                <a:ea typeface="ＭＳ Ｐゴシック" charset="-128"/>
              </a:rPr>
              <a:t>F</a:t>
            </a:r>
            <a:r>
              <a:rPr lang="en-US" altLang="en-US" sz="2800">
                <a:ea typeface="ＭＳ Ｐゴシック" charset="-128"/>
              </a:rPr>
              <a:t> distribution with </a:t>
            </a:r>
          </a:p>
          <a:p>
            <a:pPr lvl="1"/>
            <a:r>
              <a:rPr lang="en-US" altLang="en-US" sz="2000">
                <a:ea typeface="ＭＳ Ｐゴシック" charset="-128"/>
              </a:rPr>
              <a:t>(</a:t>
            </a:r>
            <a:r>
              <a:rPr lang="en-US" altLang="en-US" sz="2000" i="1">
                <a:ea typeface="ＭＳ Ｐゴシック" charset="-128"/>
              </a:rPr>
              <a:t>df</a:t>
            </a:r>
            <a:r>
              <a:rPr lang="en-US" altLang="en-US" sz="2000" i="1" baseline="-25000">
                <a:ea typeface="ＭＳ Ｐゴシック" charset="-128"/>
              </a:rPr>
              <a:t>LR</a:t>
            </a:r>
            <a:r>
              <a:rPr lang="en-US" altLang="en-US" sz="2000" i="1">
                <a:ea typeface="ＭＳ Ｐゴシック" charset="-128"/>
              </a:rPr>
              <a:t> – df</a:t>
            </a:r>
            <a:r>
              <a:rPr lang="en-US" altLang="en-US" sz="2000" i="1" baseline="-25000">
                <a:ea typeface="ＭＳ Ｐゴシック" charset="-128"/>
              </a:rPr>
              <a:t>SM</a:t>
            </a:r>
            <a:r>
              <a:rPr lang="en-US" altLang="en-US" sz="2000">
                <a:ea typeface="ＭＳ Ｐゴシック" charset="-128"/>
              </a:rPr>
              <a:t>) numerator degrees of freedom</a:t>
            </a:r>
          </a:p>
          <a:p>
            <a:pPr lvl="1"/>
            <a:r>
              <a:rPr lang="en-US" altLang="en-US" sz="2000" i="1">
                <a:ea typeface="ＭＳ Ｐゴシック" charset="-128"/>
              </a:rPr>
              <a:t>df</a:t>
            </a:r>
            <a:r>
              <a:rPr lang="en-US" altLang="en-US" sz="2000" i="1" baseline="-25000">
                <a:ea typeface="ＭＳ Ｐゴシック" charset="-128"/>
              </a:rPr>
              <a:t>SM</a:t>
            </a:r>
            <a:r>
              <a:rPr lang="en-US" altLang="en-US" sz="2000">
                <a:ea typeface="ＭＳ Ｐゴシック" charset="-128"/>
              </a:rPr>
              <a:t> denominator degrees of freedom</a:t>
            </a:r>
          </a:p>
          <a:p>
            <a:r>
              <a:rPr lang="en-US" altLang="en-US" sz="2400" i="1">
                <a:ea typeface="ＭＳ Ｐゴシック" charset="-128"/>
              </a:rPr>
              <a:t>p</a:t>
            </a:r>
            <a:r>
              <a:rPr lang="en-US" altLang="en-US" sz="2400">
                <a:ea typeface="ＭＳ Ｐゴシック" charset="-128"/>
              </a:rPr>
              <a:t>-value:</a:t>
            </a:r>
          </a:p>
          <a:p>
            <a:pPr lvl="1"/>
            <a:r>
              <a:rPr lang="en-US" altLang="en-US" sz="2000">
                <a:ea typeface="ＭＳ Ｐゴシック" charset="-128"/>
              </a:rPr>
              <a:t>1 – pf(</a:t>
            </a:r>
            <a:r>
              <a:rPr lang="en-US" altLang="en-US" sz="2000" i="1">
                <a:ea typeface="ＭＳ Ｐゴシック" charset="-128"/>
              </a:rPr>
              <a:t>F</a:t>
            </a:r>
            <a:r>
              <a:rPr lang="en-US" altLang="en-US" sz="2000">
                <a:ea typeface="ＭＳ Ｐゴシック" charset="-128"/>
              </a:rPr>
              <a:t>, (</a:t>
            </a:r>
            <a:r>
              <a:rPr lang="en-US" altLang="en-US" sz="2000" i="1">
                <a:ea typeface="ＭＳ Ｐゴシック" charset="-128"/>
              </a:rPr>
              <a:t>df</a:t>
            </a:r>
            <a:r>
              <a:rPr lang="en-US" altLang="en-US" sz="2000" i="1" baseline="-25000">
                <a:ea typeface="ＭＳ Ｐゴシック" charset="-128"/>
              </a:rPr>
              <a:t>LR</a:t>
            </a:r>
            <a:r>
              <a:rPr lang="en-US" altLang="en-US" sz="2000" i="1">
                <a:ea typeface="ＭＳ Ｐゴシック" charset="-128"/>
              </a:rPr>
              <a:t> – df</a:t>
            </a:r>
            <a:r>
              <a:rPr lang="en-US" altLang="en-US" sz="2000" i="1" baseline="-25000">
                <a:ea typeface="ＭＳ Ｐゴシック" charset="-128"/>
              </a:rPr>
              <a:t>SM</a:t>
            </a:r>
            <a:r>
              <a:rPr lang="en-US" altLang="en-US" sz="2000">
                <a:ea typeface="ＭＳ Ｐゴシック" charset="-128"/>
              </a:rPr>
              <a:t>), </a:t>
            </a:r>
            <a:r>
              <a:rPr lang="en-US" altLang="en-US" sz="2000" i="1">
                <a:ea typeface="ＭＳ Ｐゴシック" charset="-128"/>
              </a:rPr>
              <a:t>df</a:t>
            </a:r>
            <a:r>
              <a:rPr lang="en-US" altLang="en-US" sz="2000" i="1" baseline="-25000">
                <a:ea typeface="ＭＳ Ｐゴシック" charset="-128"/>
              </a:rPr>
              <a:t>SM</a:t>
            </a:r>
            <a:r>
              <a:rPr lang="en-US" altLang="en-US" sz="2000">
                <a:ea typeface="ＭＳ Ｐゴシック" charset="-128"/>
              </a:rPr>
              <a:t>)</a:t>
            </a:r>
          </a:p>
          <a:p>
            <a:r>
              <a:rPr lang="en-US" altLang="en-US" sz="2400">
                <a:ea typeface="ＭＳ Ｐゴシック" charset="-128"/>
              </a:rPr>
              <a:t>Reject </a:t>
            </a:r>
            <a:r>
              <a:rPr lang="en-US" altLang="en-US" sz="2400" i="1">
                <a:ea typeface="ＭＳ Ｐゴシック" charset="-128"/>
              </a:rPr>
              <a:t>H</a:t>
            </a:r>
            <a:r>
              <a:rPr lang="en-US" altLang="en-US" sz="2400" baseline="-25000">
                <a:ea typeface="ＭＳ Ｐゴシック" charset="-128"/>
              </a:rPr>
              <a:t>0</a:t>
            </a:r>
            <a:r>
              <a:rPr lang="en-US" altLang="en-US" sz="2400">
                <a:ea typeface="ＭＳ Ｐゴシック" charset="-128"/>
              </a:rPr>
              <a:t>: Linear model is adequate for </a:t>
            </a:r>
            <a:r>
              <a:rPr lang="en-US" altLang="en-US" sz="2400" i="1">
                <a:ea typeface="ＭＳ Ｐゴシック" charset="-128"/>
              </a:rPr>
              <a:t>large</a:t>
            </a:r>
            <a:r>
              <a:rPr lang="en-US" altLang="en-US" sz="2400">
                <a:ea typeface="ＭＳ Ｐゴシック" charset="-128"/>
              </a:rPr>
              <a:t> values of </a:t>
            </a:r>
            <a:r>
              <a:rPr lang="en-US" altLang="en-US" sz="2400" i="1">
                <a:ea typeface="ＭＳ Ｐゴシック" charset="-128"/>
              </a:rPr>
              <a:t>F</a:t>
            </a:r>
            <a:r>
              <a:rPr lang="en-US" altLang="en-US" sz="2400">
                <a:ea typeface="ＭＳ Ｐゴシック" charset="-128"/>
              </a:rPr>
              <a:t> (i.e. when the sum of squared residuals for the linear model are much larger than the sum of squared residuals for the separate means model)</a:t>
            </a:r>
          </a:p>
          <a:p>
            <a:pPr lvl="1"/>
            <a:r>
              <a:rPr lang="en-US" altLang="en-US" sz="2000">
                <a:ea typeface="ＭＳ Ｐゴシック" charset="-128"/>
              </a:rPr>
              <a:t>Reject </a:t>
            </a:r>
            <a:r>
              <a:rPr lang="en-US" altLang="en-US" sz="2000" i="1">
                <a:ea typeface="ＭＳ Ｐゴシック" charset="-128"/>
              </a:rPr>
              <a:t>H</a:t>
            </a:r>
            <a:r>
              <a:rPr lang="en-US" altLang="en-US" sz="2000" baseline="-25000">
                <a:ea typeface="ＭＳ Ｐゴシック" charset="-128"/>
              </a:rPr>
              <a:t>0</a:t>
            </a:r>
            <a:r>
              <a:rPr lang="en-US" altLang="en-US" sz="2000">
                <a:ea typeface="ＭＳ Ｐゴシック" charset="-128"/>
              </a:rPr>
              <a:t> if </a:t>
            </a:r>
            <a:r>
              <a:rPr lang="en-US" altLang="en-US" sz="2000" i="1">
                <a:ea typeface="ＭＳ Ｐゴシック" charset="-128"/>
              </a:rPr>
              <a:t>F</a:t>
            </a:r>
            <a:r>
              <a:rPr lang="en-US" altLang="en-US" sz="2000">
                <a:ea typeface="ＭＳ Ｐゴシック" charset="-128"/>
              </a:rPr>
              <a:t> &gt; qf(1 – α, (</a:t>
            </a:r>
            <a:r>
              <a:rPr lang="en-US" altLang="en-US" sz="2000" i="1">
                <a:ea typeface="ＭＳ Ｐゴシック" charset="-128"/>
              </a:rPr>
              <a:t>df</a:t>
            </a:r>
            <a:r>
              <a:rPr lang="en-US" altLang="en-US" sz="2000" i="1" baseline="-25000">
                <a:ea typeface="ＭＳ Ｐゴシック" charset="-128"/>
              </a:rPr>
              <a:t>LR</a:t>
            </a:r>
            <a:r>
              <a:rPr lang="en-US" altLang="en-US" sz="2000" i="1">
                <a:ea typeface="ＭＳ Ｐゴシック" charset="-128"/>
              </a:rPr>
              <a:t> – df</a:t>
            </a:r>
            <a:r>
              <a:rPr lang="en-US" altLang="en-US" sz="2000" i="1" baseline="-25000">
                <a:ea typeface="ＭＳ Ｐゴシック" charset="-128"/>
              </a:rPr>
              <a:t>SM</a:t>
            </a:r>
            <a:r>
              <a:rPr lang="en-US" altLang="en-US" sz="2000">
                <a:ea typeface="ＭＳ Ｐゴシック" charset="-128"/>
              </a:rPr>
              <a:t>), </a:t>
            </a:r>
            <a:r>
              <a:rPr lang="en-US" altLang="en-US" sz="2000" i="1">
                <a:ea typeface="ＭＳ Ｐゴシック" charset="-128"/>
              </a:rPr>
              <a:t>df</a:t>
            </a:r>
            <a:r>
              <a:rPr lang="en-US" altLang="en-US" sz="2000" i="1" baseline="-25000">
                <a:ea typeface="ＭＳ Ｐゴシック" charset="-128"/>
              </a:rPr>
              <a:t>SM</a:t>
            </a:r>
            <a:r>
              <a:rPr lang="en-US" altLang="en-US" sz="2000">
                <a:ea typeface="ＭＳ Ｐゴシック" charset="-128"/>
              </a:rPr>
              <a:t>)</a:t>
            </a:r>
          </a:p>
          <a:p>
            <a:pPr lvl="1">
              <a:buFont typeface="Arial" charset="0"/>
              <a:buNone/>
            </a:pPr>
            <a:endParaRPr lang="en-US" altLang="en-US" sz="2000">
              <a:ea typeface="ＭＳ Ｐゴシック" charset="-128"/>
            </a:endParaRPr>
          </a:p>
          <a:p>
            <a:pPr lvl="1">
              <a:buFont typeface="Arial" charset="0"/>
              <a:buNone/>
            </a:pPr>
            <a:endParaRPr lang="en-US" altLang="en-US" sz="2400">
              <a:ea typeface="ＭＳ Ｐゴシック" charset="-128"/>
            </a:endParaRPr>
          </a:p>
          <a:p>
            <a:pPr lvl="1"/>
            <a:endParaRPr lang="en-US" altLang="en-US" i="1">
              <a:ea typeface="ＭＳ Ｐゴシック" charset="-128"/>
            </a:endParaRPr>
          </a:p>
          <a:p>
            <a:pPr>
              <a:buFont typeface="Arial" charset="0"/>
              <a:buNone/>
            </a:pPr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3E0C66EA-6CE7-9341-913A-CCA6CC78D757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Assessment of Linear Fit using ANOVA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B73413AD-899F-6844-A568-8A5750D15F3D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0965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1827213"/>
            <a:ext cx="5207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Assessment of Linear Fit using ANOVA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AF01E1A9-E030-3C47-8AB8-0AEB094BBC4D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198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5" y="1879600"/>
            <a:ext cx="6731000" cy="398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Assessment of Linear Fit using ANOVA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DEE7FF77-80F7-DE47-97F7-A2F329335148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301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1714500"/>
            <a:ext cx="6446838" cy="321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2279650" y="5253038"/>
            <a:ext cx="4906963" cy="1341437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/>
              <a:t>If the simple linear regression model fits, it is preferred: Occam’s Razor</a:t>
            </a:r>
          </a:p>
          <a:p>
            <a:pPr algn="ctr" eaLnBrk="1" hangingPunct="1"/>
            <a:r>
              <a:rPr lang="en-US" altLang="en-US" sz="1800"/>
              <a:t>(easier interpretation, interpolation, more degrees of freedom for error estimation)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Final Notes on </a:t>
            </a:r>
            <a:br>
              <a:rPr lang="en-US" altLang="en-US">
                <a:ea typeface="ＭＳ Ｐゴシック" charset="-128"/>
              </a:rPr>
            </a:br>
            <a:r>
              <a:rPr lang="en-US" altLang="en-US">
                <a:ea typeface="ＭＳ Ｐゴシック" charset="-128"/>
              </a:rPr>
              <a:t>Simple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Interpolation vs. Extrapolation:</a:t>
            </a:r>
          </a:p>
          <a:p>
            <a:pPr lvl="1"/>
            <a:r>
              <a:rPr lang="en-US" altLang="en-US">
                <a:ea typeface="ＭＳ Ｐゴシック" charset="-128"/>
              </a:rPr>
              <a:t>It is risky and unsound to </a:t>
            </a:r>
            <a:r>
              <a:rPr lang="en-US" altLang="en-US" i="1">
                <a:ea typeface="ＭＳ Ｐゴシック" charset="-128"/>
              </a:rPr>
              <a:t>extrapolate</a:t>
            </a:r>
            <a:r>
              <a:rPr lang="en-US" altLang="en-US">
                <a:ea typeface="ＭＳ Ｐゴシック" charset="-128"/>
              </a:rPr>
              <a:t>: that is, to extend simple linear regression inference beyond the range of 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>
                <a:ea typeface="ＭＳ Ｐゴシック" charset="-128"/>
              </a:rPr>
              <a:t> values observed.</a:t>
            </a:r>
          </a:p>
          <a:p>
            <a:pPr lvl="2"/>
            <a:r>
              <a:rPr lang="en-US" altLang="en-US">
                <a:ea typeface="ＭＳ Ｐゴシック" charset="-128"/>
              </a:rPr>
              <a:t>For example, if we model height (</a:t>
            </a:r>
            <a:r>
              <a:rPr lang="en-US" altLang="en-US" i="1">
                <a:ea typeface="ＭＳ Ｐゴシック" charset="-128"/>
              </a:rPr>
              <a:t>Y</a:t>
            </a:r>
            <a:r>
              <a:rPr lang="en-US" altLang="en-US">
                <a:ea typeface="ＭＳ Ｐゴシック" charset="-128"/>
              </a:rPr>
              <a:t>) as a function of age (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>
                <a:ea typeface="ＭＳ Ｐゴシック" charset="-128"/>
              </a:rPr>
              <a:t>) for girls aged 2 – 13, we find </a:t>
            </a:r>
          </a:p>
          <a:p>
            <a:pPr lvl="2" algn="ctr">
              <a:buFont typeface="Arial" charset="0"/>
              <a:buNone/>
            </a:pPr>
            <a:r>
              <a:rPr lang="en-US" altLang="en-US" i="1">
                <a:ea typeface="ＭＳ Ｐゴシック" charset="-128"/>
              </a:rPr>
              <a:t>μ</a:t>
            </a:r>
            <a:r>
              <a:rPr lang="en-US" altLang="en-US">
                <a:ea typeface="ＭＳ Ｐゴシック" charset="-128"/>
              </a:rPr>
              <a:t>(</a:t>
            </a:r>
            <a:r>
              <a:rPr lang="en-US" altLang="en-US" i="1">
                <a:ea typeface="ＭＳ Ｐゴシック" charset="-128"/>
              </a:rPr>
              <a:t>Y</a:t>
            </a:r>
            <a:r>
              <a:rPr lang="en-US" altLang="en-US">
                <a:ea typeface="ＭＳ Ｐゴシック" charset="-128"/>
              </a:rPr>
              <a:t>| 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>
                <a:ea typeface="ＭＳ Ｐゴシック" charset="-128"/>
              </a:rPr>
              <a:t>) = 30</a:t>
            </a:r>
            <a:r>
              <a:rPr lang="en-US" altLang="en-US" baseline="-25000">
                <a:ea typeface="ＭＳ Ｐゴシック" charset="-128"/>
              </a:rPr>
              <a:t> </a:t>
            </a:r>
            <a:r>
              <a:rPr lang="en-US" altLang="en-US">
                <a:ea typeface="ＭＳ Ｐゴシック" charset="-128"/>
              </a:rPr>
              <a:t>+ 2.66*</a:t>
            </a:r>
            <a:r>
              <a:rPr lang="en-US" altLang="en-US" i="1">
                <a:ea typeface="ＭＳ Ｐゴシック" charset="-128"/>
              </a:rPr>
              <a:t>X</a:t>
            </a:r>
          </a:p>
          <a:p>
            <a:pPr lvl="2">
              <a:buFont typeface="Arial" charset="0"/>
              <a:buNone/>
            </a:pPr>
            <a:r>
              <a:rPr lang="en-US" altLang="en-US">
                <a:ea typeface="ＭＳ Ｐゴシック" charset="-128"/>
              </a:rPr>
              <a:t>but it would be incorrect to conclude that someone who is 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>
                <a:ea typeface="ＭＳ Ｐゴシック" charset="-128"/>
              </a:rPr>
              <a:t> = 40 yrs should be 30 + 2.66*40 = 136.4 inches tall (i.e. 11 feet 5 inches)</a:t>
            </a:r>
          </a:p>
          <a:p>
            <a:pPr lvl="2"/>
            <a:endParaRPr lang="en-US" altLang="en-US">
              <a:ea typeface="ＭＳ Ｐゴシック" charset="-128"/>
            </a:endParaRPr>
          </a:p>
          <a:p>
            <a:pPr lvl="2"/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March 13,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8CFB012A-56F3-7341-A828-0E4ED8AC6C7D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12273</TotalTime>
  <Words>2089</Words>
  <Application>Microsoft Macintosh PowerPoint</Application>
  <PresentationFormat>On-screen Show (4:3)</PresentationFormat>
  <Paragraphs>305</Paragraphs>
  <Slides>39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Office Theme</vt:lpstr>
      <vt:lpstr>Equation</vt:lpstr>
      <vt:lpstr>ST 411/511: Methods of Data Analysis Winter 2023</vt:lpstr>
      <vt:lpstr>Today’s Outline:</vt:lpstr>
      <vt:lpstr>Linear Regression Inference Assumptions</vt:lpstr>
      <vt:lpstr>Linear Regression Inference Assumptions</vt:lpstr>
      <vt:lpstr>Robustness to Violations of Assumptions</vt:lpstr>
      <vt:lpstr>Robustness to Violations of Assumptions</vt:lpstr>
      <vt:lpstr>Robustness to Violations of Assumptions</vt:lpstr>
      <vt:lpstr>Plots to Assess Regression Assumptions</vt:lpstr>
      <vt:lpstr>Plots to Assess Assumptions</vt:lpstr>
      <vt:lpstr>Plots to Assess Assumptions</vt:lpstr>
      <vt:lpstr>Plots to Assess Assumptions</vt:lpstr>
      <vt:lpstr>Simple Linear Regression  Assumptions and Transformations</vt:lpstr>
      <vt:lpstr>Simple Linear Regression  Assumptions and Transformations</vt:lpstr>
      <vt:lpstr>Simple Linear Regression  Assumptions and Transformations</vt:lpstr>
      <vt:lpstr>Simple Linear Regression  Assumptions and Transformations</vt:lpstr>
      <vt:lpstr>Simple Linear Regression  Assumptions and Transformations</vt:lpstr>
      <vt:lpstr>Simple Linear Regression  Assumptions and Transformations</vt:lpstr>
      <vt:lpstr>Simple Linear Regression  Assumptions and Transformations</vt:lpstr>
      <vt:lpstr>Simple Linear Regression  Assumptions and Transformations</vt:lpstr>
      <vt:lpstr>Simple Linear Regression  Assumptions and Transformations</vt:lpstr>
      <vt:lpstr>Simple Linear Regression  Assumptions and Transformations</vt:lpstr>
      <vt:lpstr>Simple Linear Regression  Assumptions and Transformations</vt:lpstr>
      <vt:lpstr>Simple Linear Regression: Interpretation after Log Transform</vt:lpstr>
      <vt:lpstr>Simple Linear Regression: Interpretation after Log Transform</vt:lpstr>
      <vt:lpstr>Simple Linear Regression: Interpretation after Log Transform</vt:lpstr>
      <vt:lpstr>Simple Linear Regression: Interpretation after Log Transform</vt:lpstr>
      <vt:lpstr>Simple Linear Regression: Interpretation after Log Transform</vt:lpstr>
      <vt:lpstr>Assessment of Linear Fit using ANOVA</vt:lpstr>
      <vt:lpstr>Assessment of Linear Fit using ANOVA</vt:lpstr>
      <vt:lpstr>Assessment of Linear Fit using ANOVA</vt:lpstr>
      <vt:lpstr>Assessment of Linear Fit using ANOVA</vt:lpstr>
      <vt:lpstr>Assessment of Linear Fit using ANOVA</vt:lpstr>
      <vt:lpstr>Assessment of Linear Fit using ANOVA</vt:lpstr>
      <vt:lpstr>Assessment of Linear Fit using ANOVA</vt:lpstr>
      <vt:lpstr>Assessment of Linear Fit using ANOVA</vt:lpstr>
      <vt:lpstr>Assessment of Linear Fit using ANOVA</vt:lpstr>
      <vt:lpstr>Assessment of Linear Fit using ANOVA</vt:lpstr>
      <vt:lpstr>Assessment of Linear Fit using ANOVA</vt:lpstr>
      <vt:lpstr>Final Notes on  Simple Linear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411/511: Methods of Data Analysis Winter 2015</dc:title>
  <dc:creator>Sarah Emerson</dc:creator>
  <cp:lastModifiedBy>Sarah Emerson</cp:lastModifiedBy>
  <cp:revision>386</cp:revision>
  <dcterms:created xsi:type="dcterms:W3CDTF">2015-01-23T05:37:49Z</dcterms:created>
  <dcterms:modified xsi:type="dcterms:W3CDTF">2023-03-13T16:44:26Z</dcterms:modified>
</cp:coreProperties>
</file>